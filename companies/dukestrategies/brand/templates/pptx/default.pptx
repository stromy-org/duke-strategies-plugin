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5301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62000" y="2031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 TITLE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62000" y="2327225"/>
            <a:ext cx="7772400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3200" dirty="0"/>
          </a:p>
          <a:p>
            <a:pPr algn="l" indent="0" marL="0">
              <a:lnSpc>
                <a:spcPts val="352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Template Library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62000" y="3322886"/>
            <a:ext cx="1524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2000" y="3535561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2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Duke Strategies · April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45772" y="4629150"/>
            <a:ext cx="8060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69950"/>
            <a:ext cx="3627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1565225"/>
            <a:ext cx="3627069" cy="93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Split Image</a:t>
            </a:r>
            <a:endParaRPr lang="en-US" sz="3200" dirty="0"/>
          </a:p>
          <a:p>
            <a:pPr algn="l" indent="0" marL="0">
              <a:lnSpc>
                <a:spcPts val="3680"/>
              </a:lnSpc>
              <a:spcBef>
                <a:spcPts val="12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Title Layout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62000" y="2601367"/>
            <a:ext cx="126995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814042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1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Duke Strategies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2000" y="307746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57775" y="0"/>
            <a:ext cx="0" cy="5143500"/>
          </a:xfrm>
          <a:prstGeom prst="line">
            <a:avLst/>
          </a:prstGeom>
          <a:noFill/>
          <a:ln w="57150">
            <a:solidFill>
              <a:srgbClr val="FF7F66"/>
            </a:solidFill>
            <a:prstDash val="solid"/>
          </a:ln>
        </p:spPr>
      </p:sp>
      <p:pic>
        <p:nvPicPr>
          <p:cNvPr id="8" name="Image 0" descr="/Users/williammasquelier/Repositories/stromy-org/brand-tokens/clients/dukestrategies/templates/pptx/_processed/Erasmusbrug_zwart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0"/>
            <a:ext cx="405765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351187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KEYNOTE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2595563"/>
            <a:ext cx="77724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spcBef>
                <a:spcPts val="80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Full-Bleed Image</a:t>
            </a:r>
            <a:endParaRPr lang="en-US" sz="3600" dirty="0"/>
          </a:p>
          <a:p>
            <a:pPr algn="l" indent="0" marL="0">
              <a:lnSpc>
                <a:spcPts val="4320"/>
              </a:lnSpc>
              <a:spcBef>
                <a:spcPts val="80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Title Slide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62000" y="3794224"/>
            <a:ext cx="126995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3956149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Maximum visual impact for keynotes and conferences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45772" y="4629150"/>
            <a:ext cx="8060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4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 of Contents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62000" y="1985516"/>
            <a:ext cx="7620000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1447502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96901" y="1542752"/>
            <a:ext cx="19654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96901" y="1758553"/>
            <a:ext cx="19654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Decision-makers, timing, political context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2000" y="2617143"/>
            <a:ext cx="7620000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079129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96901" y="2174379"/>
            <a:ext cx="15444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Map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96901" y="2390180"/>
            <a:ext cx="15444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Allies, blockers, movable middle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62000" y="3248769"/>
            <a:ext cx="7620000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2710755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96901" y="2806005"/>
            <a:ext cx="1974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Narrative &amp; Positioning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96901" y="3021806"/>
            <a:ext cx="19746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case we want decision-makers to hear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2000" y="3880396"/>
            <a:ext cx="7620000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3342382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96901" y="3437632"/>
            <a:ext cx="1949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Plan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96901" y="3653433"/>
            <a:ext cx="1949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Moments, meetings, and message carriers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62000" y="4512022"/>
            <a:ext cx="7620000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3974009"/>
            <a:ext cx="6475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96901" y="4069259"/>
            <a:ext cx="18810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 &amp; Contingency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96901" y="4285059"/>
            <a:ext cx="18810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watch for and how we respond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007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007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406426"/>
            <a:ext cx="3536900" cy="50750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74675" y="16603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74675" y="20318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4675" y="2273052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Decision-makers, timing, political context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1101" y="1396901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0626" y="1406426"/>
            <a:ext cx="3536900" cy="50750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33776" y="16603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33776" y="20318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33776" y="2273052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Allies, blockers, movable middle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2000" y="2870002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71525" y="2879527"/>
            <a:ext cx="3536900" cy="50750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4675" y="31334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74675" y="35049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Narrative &amp; Positioning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4675" y="3746153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case we want decision-makers to hear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21101" y="2870002"/>
            <a:ext cx="3555950" cy="126995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30626" y="2879527"/>
            <a:ext cx="3536900" cy="50750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733776" y="3133427"/>
            <a:ext cx="319321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733776" y="3504902"/>
            <a:ext cx="31932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Plan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33776" y="3746153"/>
            <a:ext cx="3193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Moments, meetings, and message carriers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69950"/>
            <a:ext cx="7772400" cy="63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500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62000" y="2006501"/>
            <a:ext cx="77724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Landscape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517577"/>
            <a:ext cx="1015901" cy="9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79502"/>
            <a:ext cx="7772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Decision-makers, timing, political context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269950"/>
            <a:ext cx="7772400" cy="635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5000" dirty="0">
                <a:solidFill>
                  <a:srgbClr val="FFFFFF">
                    <a:alpha val="25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62000" y="2006501"/>
            <a:ext cx="77724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517577"/>
            <a:ext cx="1015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79502"/>
            <a:ext cx="7772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Allies, blockers, movable middle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Column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80827"/>
            <a:ext cx="7772400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layout is ideal for narrative slides, executive summaries, and introductory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paragraphs. The full-width text area allows for clear, readable prose with generous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6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line spacing.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051149"/>
            <a:ext cx="7772400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content to a maximum of two paragraphs. If more content is needed, split across</a:t>
            </a:r>
            <a:endParaRPr lang="en-US" sz="1200" dirty="0"/>
          </a:p>
          <a:p>
            <a:pPr algn="l" indent="0" marL="0">
              <a:lnSpc>
                <a:spcPts val="204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multiple slides to maintain readability and visual impact.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886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886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 + Visual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30077"/>
            <a:ext cx="388620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the left column for narrative text with key findings, analysis, or strategic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recommendations. Keep paragraphs short and scannable.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80099" y="507950"/>
            <a:ext cx="3301901" cy="355595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42893" y="2214414"/>
            <a:ext cx="995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Visual / Chart Area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dukestrategies/templates/pptx/_processed/Nesciobrug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507950"/>
            <a:ext cx="3301901" cy="3555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44901" y="507950"/>
            <a:ext cx="42748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444901" y="752326"/>
            <a:ext cx="42748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 + Text Layout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444901" y="1168152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444901" y="1330077"/>
            <a:ext cx="427482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leads the eye on the left with narrative text on the right. Ideal for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case studies, product showcases, and visual-narrative pairings.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PERSPECTIVES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Dual Column Text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235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62000" y="1660327"/>
            <a:ext cx="3523539" cy="812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addressable market has grown 34% year-over-year, driven by digital transformation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initiatives across mid-market enterprises. Early movers are capturing disproportionate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value in emerging segments.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21101" y="1396901"/>
            <a:ext cx="9525" cy="1075432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5277" y="1396901"/>
            <a:ext cx="35235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35277" y="1660327"/>
            <a:ext cx="3523539" cy="812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differentiated approach combines deep domain expertise with proprietary methodology.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Key competitors lack integrated data capabilities, creating a sustainable advantage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in the current environment.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8000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80003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Three-Phase Approach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25426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5426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5426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interviews, data audit, and current-state assessment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27350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90776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90776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0776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Gap analysis, benchmarking, and opportunity identification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92701" y="1524000"/>
            <a:ext cx="2412950" cy="1590080"/>
          </a:xfrm>
          <a:prstGeom prst="roundRect">
            <a:avLst>
              <a:gd name="adj" fmla="val 3594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56127" y="1787426"/>
            <a:ext cx="19238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56127" y="2184202"/>
            <a:ext cx="19238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56127" y="2469952"/>
            <a:ext cx="1923821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roadmap, implementation plan, and change support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49224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492241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with Sidebar Callout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168152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30077"/>
            <a:ext cx="4922419" cy="670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primary content area occupies the left two-thirds of the slide. Use it for</a:t>
            </a:r>
            <a:endParaRPr lang="en-US" sz="1100" dirty="0"/>
          </a:p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narrative analysis, findings, or detailed explanations. The sidebar callout</a:t>
            </a:r>
            <a:endParaRPr lang="en-US" sz="1100" dirty="0"/>
          </a:p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highlights a key insight or metric.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2000" y="2127647"/>
            <a:ext cx="4922419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0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layout prevents important data from getting buried in body text.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69050" y="507950"/>
            <a:ext cx="2412950" cy="177105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88100" y="507950"/>
            <a:ext cx="0" cy="1771055"/>
          </a:xfrm>
          <a:prstGeom prst="line">
            <a:avLst/>
          </a:prstGeom>
          <a:noFill/>
          <a:ln w="38100">
            <a:solidFill>
              <a:srgbClr val="FF7F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1050" y="761851"/>
            <a:ext cx="19043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61050" y="1006227"/>
            <a:ext cx="190439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8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261050" y="1492002"/>
            <a:ext cx="1904390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executives cite data-driven decisions as their top strategic priority for the coming year.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85150" y="4943475"/>
            <a:ext cx="51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dukestrategies/templates/pptx/_processed/Erasmusbrug_zwart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793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2920901"/>
            <a:ext cx="7772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 Image + Content Layout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62000" y="3368576"/>
            <a:ext cx="3756559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 half features a full-width image. Bottom half provides space for heading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and two columns of body text.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698802" y="3368576"/>
            <a:ext cx="3756559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Ideal for site visits, product photos, event coverage, and any visual-led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content that needs supporting narrative.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Numbered List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2698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1601" y="1361777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69950" y="126980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Conduct stakeholder alignment workshop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9950" y="1457027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1-2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77775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1601" y="186972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69950" y="177775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data landscape audit and gap analysis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69950" y="1964978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3-4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2000" y="22857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1601" y="237767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69950" y="2285702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 strategic options and evaluate trade-offs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69950" y="2472928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5-6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279365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1601" y="288562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9950" y="2793653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 findings and obtain executive sign-off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69950" y="2980879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62000" y="33016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1601" y="339357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69950" y="3301603"/>
            <a:ext cx="725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Mobilize implementation teams by workstream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69950" y="3488829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8121" y="4943475"/>
            <a:ext cx="998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Bullet List with Icons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26980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71600" y="1269802"/>
            <a:ext cx="20980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71600" y="1466552"/>
            <a:ext cx="20980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Data-driven planning and market positioning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2000" y="190470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71600" y="1904702"/>
            <a:ext cx="20171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2101453"/>
            <a:ext cx="20171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insights from structured data analysis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2539603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1600" y="2539603"/>
            <a:ext cx="19749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736354"/>
            <a:ext cx="19749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models for sustainable expansion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3174504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1600" y="3174504"/>
            <a:ext cx="19362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371255"/>
            <a:ext cx="1936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 optimization and efficiency gains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3809405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71600" y="3809405"/>
            <a:ext cx="21865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71600" y="4006155"/>
            <a:ext cx="21865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capabilities through emerging technology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dukestrategies/templates/pptx/_processed/Erasmusbrug_zwart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253901"/>
            <a:ext cx="7772251" cy="2539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101" y="457051"/>
            <a:ext cx="4507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Magazine Multi-Zone Layout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251" y="253901"/>
            <a:ext cx="2793950" cy="2539901"/>
          </a:xfrm>
          <a:prstGeom prst="roundRect">
            <a:avLst>
              <a:gd name="adj" fmla="val 3000"/>
            </a:avLst>
          </a:prstGeom>
          <a:solidFill>
            <a:srgbClr val="2D2C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341269" y="1061889"/>
            <a:ext cx="1105442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7/10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341864" y="1842939"/>
            <a:ext cx="1104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Committee Coverage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7950" y="3098750"/>
            <a:ext cx="38342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Insight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7950" y="3292376"/>
            <a:ext cx="3834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transformation spending accelerated 34% this year, with</a:t>
            </a:r>
            <a:endParaRPr lang="en-US" sz="900" dirty="0"/>
          </a:p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mid-market enterprises driving the majority of new initiatives.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419451" y="3098750"/>
            <a:ext cx="38342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19451" y="3292376"/>
            <a:ext cx="38342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combine deep domain expertise with proprietary analytics to</a:t>
            </a:r>
            <a:endParaRPr lang="en-US" sz="900" dirty="0"/>
          </a:p>
          <a:p>
            <a:pPr algn="l" indent="0" marL="0">
              <a:lnSpc>
                <a:spcPts val="135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deliver measurable outcomes within 90-day engagement cycles.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306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3063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at a Glance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62000" y="1538288"/>
            <a:ext cx="1777901" cy="0"/>
          </a:xfrm>
          <a:prstGeom prst="line">
            <a:avLst/>
          </a:prstGeom>
          <a:noFill/>
          <a:ln w="28575">
            <a:solidFill>
              <a:srgbClr val="FF7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5150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65150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Stakeholders Mapped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5150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6 portfolios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692301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692301" y="1538288"/>
            <a:ext cx="1777901" cy="0"/>
          </a:xfrm>
          <a:prstGeom prst="line">
            <a:avLst/>
          </a:prstGeom>
          <a:noFill/>
          <a:ln w="28575">
            <a:solidFill>
              <a:srgbClr val="FF7F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95451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895451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 Engagements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95451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last 90d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22602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22602" y="1538288"/>
            <a:ext cx="1777901" cy="0"/>
          </a:xfrm>
          <a:prstGeom prst="line">
            <a:avLst/>
          </a:prstGeom>
          <a:noFill/>
          <a:ln w="28575">
            <a:solidFill>
              <a:srgbClr val="FF7F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752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25752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Submissions Lodged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5752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this cycle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52902" y="1524000"/>
            <a:ext cx="1777901" cy="1238101"/>
          </a:xfrm>
          <a:prstGeom prst="roundRect">
            <a:avLst>
              <a:gd name="adj" fmla="val 3077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552902" y="1538288"/>
            <a:ext cx="1777901" cy="0"/>
          </a:xfrm>
          <a:prstGeom prst="line">
            <a:avLst/>
          </a:prstGeom>
          <a:noFill/>
          <a:ln w="28575">
            <a:solidFill>
              <a:srgbClr val="FF7F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56053" y="1755725"/>
            <a:ext cx="139903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56053" y="2241500"/>
            <a:ext cx="1399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Committee Appearances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56053" y="2435126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YTD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34660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HIGHLIGHTS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346600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Performance Indicators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81050" y="1524000"/>
            <a:ext cx="0" cy="1615976"/>
          </a:xfrm>
          <a:prstGeom prst="line">
            <a:avLst/>
          </a:prstGeom>
          <a:noFill/>
          <a:ln w="38100">
            <a:solidFill>
              <a:srgbClr val="FF7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4900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04900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Decision-makers Mapped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04900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across 6 portfolios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52651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71701" y="1524000"/>
            <a:ext cx="0" cy="1615976"/>
          </a:xfrm>
          <a:prstGeom prst="line">
            <a:avLst/>
          </a:prstGeom>
          <a:noFill/>
          <a:ln w="38100">
            <a:solidFill>
              <a:srgbClr val="FF7F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5551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95551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 Engagements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95551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last 90 days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302" y="1524000"/>
            <a:ext cx="2387501" cy="16159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62352" y="1524000"/>
            <a:ext cx="0" cy="1615976"/>
          </a:xfrm>
          <a:prstGeom prst="line">
            <a:avLst/>
          </a:prstGeom>
          <a:noFill/>
          <a:ln w="38100">
            <a:solidFill>
              <a:srgbClr val="FF7F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86202" y="1828800"/>
            <a:ext cx="177459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86202" y="2454176"/>
            <a:ext cx="17745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Committees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86202" y="2692301"/>
            <a:ext cx="17745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000" b="1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covered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53901"/>
            <a:ext cx="21310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Dashboard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7950" y="88895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103973" y="1725513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Revenue Trend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03973" y="1909614"/>
            <a:ext cx="744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49701" y="88895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5723" y="1725513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Market Share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5723" y="1909614"/>
            <a:ext cx="744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7950" y="304800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959910" y="3884563"/>
            <a:ext cx="10330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Customer Satisfaction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959910" y="4068663"/>
            <a:ext cx="10330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49701" y="3048000"/>
            <a:ext cx="3936950" cy="198120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15059" y="3884563"/>
            <a:ext cx="8062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Pipeline Forecast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15059" y="4068663"/>
            <a:ext cx="8062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Chart Placeholder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7620000" cy="1748433"/>
          </a:xfrm>
          <a:prstGeom prst="roundRect">
            <a:avLst>
              <a:gd name="adj" fmla="val 2179"/>
            </a:avLst>
          </a:prstGeom>
          <a:noFill/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330077"/>
            <a:ext cx="7600950" cy="345877"/>
          </a:xfrm>
          <a:prstGeom prst="roundRect">
            <a:avLst>
              <a:gd name="adj" fmla="val 11015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431578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Initiative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63826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Timeline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33776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727" y="143157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1525" y="1675954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3925" y="1777454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Mapping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63826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Q2 2025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33776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03727" y="17774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$95K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1525" y="2021830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3925" y="2123331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Legislative Monitoring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63826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Q3 2025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33776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Ongoing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03727" y="212333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$60K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525" y="2367707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23925" y="2469207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Coalition Building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63826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Q4 2025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33776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Planned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03727" y="2469207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$120K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1525" y="2713583"/>
            <a:ext cx="7600950" cy="345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23925" y="2815084"/>
            <a:ext cx="25906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Strategy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63826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Q1 2026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33776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Scoping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03727" y="281508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$85K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2000" y="3145185"/>
            <a:ext cx="7772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00" i="1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Source: Internal planning data, March 2025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51" y="1724099"/>
            <a:ext cx="6476899" cy="8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of 10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1333551" y="2689250"/>
            <a:ext cx="647689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2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Committee Members Engaged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97050" y="3086026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33551" y="3247951"/>
            <a:ext cx="64768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 briefings across the committee membership over the current parliamentary session.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7516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75161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&amp; After Impact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605338" y="2336497"/>
            <a:ext cx="1105442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605338" y="3092098"/>
            <a:ext cx="11054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207892" y="2518961"/>
            <a:ext cx="46634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159495" y="2250772"/>
            <a:ext cx="138187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159495" y="3177823"/>
            <a:ext cx="1381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14827" y="4219575"/>
            <a:ext cx="29143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committee members engaged over 6 months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Scorecard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7620000" cy="1796058"/>
          </a:xfrm>
          <a:prstGeom prst="roundRect">
            <a:avLst>
              <a:gd name="adj" fmla="val 2121"/>
            </a:avLst>
          </a:prstGeom>
          <a:noFill/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1525" y="1330077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431578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3275" y="1436340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Stakeholder engagement 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97226" y="1441103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Track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13127" y="1441103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 mapped, 18 engaged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1525" y="1685479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3925" y="1786979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FF98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03275" y="1791742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monitoring dashboard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97226" y="1796504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Risk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13127" y="1796504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feed delayed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1525" y="2040880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3925" y="2142381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03275" y="2147143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Coalition partner outreach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97226" y="2151906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Track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13127" y="2151906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of 12 confirmed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1525" y="2396282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23925" y="2497782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F443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03275" y="2502545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Parliamentary submission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97226" y="2507307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433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Blocked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13127" y="2507307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Awaiting committee date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525" y="2751683"/>
            <a:ext cx="7600950" cy="3554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23925" y="2853184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4CAF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203275" y="2857946"/>
            <a:ext cx="28498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Narrative testing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97226" y="2862709"/>
            <a:ext cx="10362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CAF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 Track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13127" y="2862709"/>
            <a:ext cx="32710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Focus groups complete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4698950" cy="3555950"/>
          </a:xfrm>
          <a:prstGeom prst="roundRect">
            <a:avLst>
              <a:gd name="adj" fmla="val 1607"/>
            </a:avLst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00746" y="2214414"/>
            <a:ext cx="9314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Chart Placeholder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34149" y="507950"/>
            <a:ext cx="3367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34149" y="752326"/>
            <a:ext cx="336793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Chart + Narrative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334149" y="1149102"/>
            <a:ext cx="634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4149" y="1285577"/>
            <a:ext cx="336793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0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 from the data visualization. Lead with the takeaway.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1718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17188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63600" y="2076301"/>
            <a:ext cx="145733" cy="562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→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2000" y="1092101"/>
            <a:ext cx="3530501" cy="1777901"/>
          </a:xfrm>
          <a:prstGeom prst="rect">
            <a:avLst/>
          </a:prstGeom>
          <a:solidFill>
            <a:srgbClr val="FF7F66">
              <a:alpha val="8000"/>
            </a:srgbClr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925" y="1254026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WINS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2501" y="1092101"/>
            <a:ext cx="3530501" cy="1777901"/>
          </a:xfrm>
          <a:prstGeom prst="rect">
            <a:avLst/>
          </a:prstGeom>
          <a:solidFill>
            <a:srgbClr val="FF7F66">
              <a:alpha val="12000"/>
            </a:srgbClr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454426" y="1254026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BETS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2000" y="2870002"/>
            <a:ext cx="3530501" cy="1777901"/>
          </a:xfrm>
          <a:prstGeom prst="rect">
            <a:avLst/>
          </a:prstGeom>
          <a:solidFill>
            <a:srgbClr val="FFFFFF"/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23925" y="3031927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PRIORITY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2501" y="2870002"/>
            <a:ext cx="3530501" cy="1777901"/>
          </a:xfrm>
          <a:prstGeom prst="rect">
            <a:avLst/>
          </a:prstGeom>
          <a:solidFill>
            <a:srgbClr val="FF7F66">
              <a:alpha val="3000"/>
            </a:srgbClr>
          </a:solidFill>
          <a:ln w="9525">
            <a:solidFill>
              <a:srgbClr val="ECECE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54426" y="3031927"/>
            <a:ext cx="3270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MAJOR PROJECTS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950" y="4568875"/>
            <a:ext cx="5709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EFFORT →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92444" y="253901"/>
            <a:ext cx="175911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SWOT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34901" y="762000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602" y="939701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84502" y="762000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ECECEC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202" y="939701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4901" y="2806601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2984302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84502" y="2806601"/>
            <a:ext cx="3873401" cy="1968401"/>
          </a:xfrm>
          <a:prstGeom prst="roundRect">
            <a:avLst>
              <a:gd name="adj" fmla="val 2903"/>
            </a:avLst>
          </a:prstGeom>
          <a:solidFill>
            <a:srgbClr val="2D2C2E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62202" y="2984302"/>
            <a:ext cx="3588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Threats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0183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0183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Timeline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47800" y="2006501"/>
            <a:ext cx="5486400" cy="19050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461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F7F66"/>
          </a:solidFill>
          <a:ln w="28575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82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Landscape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82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1-2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82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Map stakeholders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9082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F7F66"/>
          </a:solidFill>
          <a:ln w="28575">
            <a:solidFill>
              <a:srgbClr val="FFA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103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103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3-4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103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 &amp; refine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4703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F7F66"/>
          </a:solidFill>
          <a:ln w="28575">
            <a:solidFill>
              <a:srgbClr val="FFA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8724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724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5-8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724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 briefings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324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F7F66"/>
          </a:solidFill>
          <a:ln w="28575">
            <a:solidFill>
              <a:srgbClr val="FFA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345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Amplify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345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9-10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345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&amp; allies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594550" y="19050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F7F66"/>
          </a:solidFill>
          <a:ln w="28575">
            <a:solidFill>
              <a:srgbClr val="FFA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96684" y="2235101"/>
            <a:ext cx="13990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1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6684" y="2422327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11-12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96684" y="2596902"/>
            <a:ext cx="13990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 &amp; adapt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Process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77801" y="1777752"/>
            <a:ext cx="19050" cy="253901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1320552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7050" y="147771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22350" y="1320552"/>
            <a:ext cx="25140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22350" y="1580852"/>
            <a:ext cx="25140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state analysis and stakeholder alignment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77801" y="2488853"/>
            <a:ext cx="19050" cy="253901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2031653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7050" y="218881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22350" y="2031653"/>
            <a:ext cx="24886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2350" y="2291953"/>
            <a:ext cx="24886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Solution architecture and roadmap development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77801" y="3199954"/>
            <a:ext cx="19050" cy="253901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2000" y="27427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27050" y="289991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22350" y="2742754"/>
            <a:ext cx="235555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2350" y="3003054"/>
            <a:ext cx="23555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Phased delivery with iterative feedback loops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2000" y="3453854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27050" y="361101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422350" y="3453854"/>
            <a:ext cx="29274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Optimize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22350" y="3714155"/>
            <a:ext cx="29274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measurement and continuous improvement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2021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20212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Pyramid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429000" y="1143000"/>
            <a:ext cx="2286000" cy="533400"/>
          </a:xfrm>
          <a:prstGeom prst="roundRect">
            <a:avLst>
              <a:gd name="adj" fmla="val 7143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69341" y="1323975"/>
            <a:ext cx="4053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67000" y="1727150"/>
            <a:ext cx="3810000" cy="533400"/>
          </a:xfrm>
          <a:prstGeom prst="roundRect">
            <a:avLst>
              <a:gd name="adj" fmla="val 7143"/>
            </a:avLst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12871" y="1908125"/>
            <a:ext cx="51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05000" y="2311301"/>
            <a:ext cx="5334000" cy="533400"/>
          </a:xfrm>
          <a:prstGeom prst="roundRect">
            <a:avLst>
              <a:gd name="adj" fmla="val 7143"/>
            </a:avLst>
          </a:prstGeom>
          <a:solidFill>
            <a:srgbClr val="FF7F6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56853" y="2492276"/>
            <a:ext cx="6302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2895451"/>
            <a:ext cx="6858000" cy="533400"/>
          </a:xfrm>
          <a:prstGeom prst="roundRect">
            <a:avLst>
              <a:gd name="adj" fmla="val 7143"/>
            </a:avLst>
          </a:prstGeom>
          <a:solidFill>
            <a:srgbClr val="FF7F66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30896" y="3076426"/>
            <a:ext cx="6820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68667" y="1269950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direction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68667" y="1774775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Goals &amp; priorities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68667" y="2279600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Programs &amp; projects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68667" y="2784425"/>
            <a:ext cx="857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8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Processes &amp; tools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1403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140343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Sales Funnel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62000" y="1066800"/>
            <a:ext cx="6603950" cy="482501"/>
          </a:xfrm>
          <a:prstGeom prst="roundRect">
            <a:avLst>
              <a:gd name="adj" fmla="val 7896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44577" y="1236613"/>
            <a:ext cx="1038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Awareness · 10,000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22499" y="1600051"/>
            <a:ext cx="5283101" cy="482501"/>
          </a:xfrm>
          <a:prstGeom prst="roundRect">
            <a:avLst>
              <a:gd name="adj" fmla="val 7896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655089" y="1769864"/>
            <a:ext cx="8177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Interest · 4,200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82850" y="2133302"/>
            <a:ext cx="3962400" cy="482501"/>
          </a:xfrm>
          <a:prstGeom prst="roundRect">
            <a:avLst>
              <a:gd name="adj" fmla="val 7896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7496" y="2303115"/>
            <a:ext cx="9931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· 1,800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2666554"/>
            <a:ext cx="2641550" cy="482501"/>
          </a:xfrm>
          <a:prstGeom prst="roundRect">
            <a:avLst>
              <a:gd name="adj" fmla="val 7896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84389" y="2836366"/>
            <a:ext cx="759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 · 620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38500" y="3199805"/>
            <a:ext cx="1650950" cy="482501"/>
          </a:xfrm>
          <a:prstGeom prst="roundRect">
            <a:avLst>
              <a:gd name="adj" fmla="val 7896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86474" y="3369618"/>
            <a:ext cx="9550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Closed Won · 310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49866" y="1320701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42%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449866" y="1774627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43%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49866" y="2228552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34%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449866" y="2682478"/>
            <a:ext cx="1899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600"/>
              </a:spcAft>
              <a:buNone/>
            </a:pPr>
            <a:r>
              <a:rPr lang="en-US" sz="8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50%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81000"/>
            <a:ext cx="22086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INTERSECTION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600075"/>
            <a:ext cx="220860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Alignment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413025" y="1143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FF7F66">
              <a:alpha val="9000"/>
            </a:srgbClr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444975" y="1143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FF7F66">
              <a:alpha val="9000"/>
            </a:srgbClr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28926" y="1905000"/>
            <a:ext cx="2286000" cy="2286000"/>
          </a:xfrm>
          <a:prstGeom prst="roundRect">
            <a:avLst>
              <a:gd name="adj" fmla="val 40000"/>
            </a:avLst>
          </a:prstGeom>
          <a:solidFill>
            <a:srgbClr val="FFAC9C">
              <a:alpha val="9000"/>
            </a:srgbClr>
          </a:solidFill>
          <a:ln w="19050">
            <a:solidFill>
              <a:srgbClr val="FFAC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39975" y="1777901"/>
            <a:ext cx="6286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44307" y="1777901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People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00426" y="3667125"/>
            <a:ext cx="4148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AC9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00426" y="2412950"/>
            <a:ext cx="343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3901"/>
            <a:ext cx="2281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472976"/>
            <a:ext cx="228132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 &amp; Spoke Model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1851" y="1523851"/>
            <a:ext cx="14288" cy="1524000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27302" y="1244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09777" y="1457176"/>
            <a:ext cx="3304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1851" y="2285851"/>
            <a:ext cx="1326967" cy="774373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47109" y="2006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04284" y="2219176"/>
            <a:ext cx="3820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64707" y="3047851"/>
            <a:ext cx="1326967" cy="774373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47109" y="3530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22578" y="3743176"/>
            <a:ext cx="5487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57564" y="3047851"/>
            <a:ext cx="14288" cy="1524000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127302" y="4292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20927" y="4505176"/>
            <a:ext cx="5115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44885" y="3035478"/>
            <a:ext cx="1326966" cy="774373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807494" y="3530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96369" y="3743176"/>
            <a:ext cx="3174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People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52029" y="2273478"/>
            <a:ext cx="1326966" cy="774373"/>
          </a:xfrm>
          <a:prstGeom prst="rect">
            <a:avLst/>
          </a:prstGeom>
          <a:solidFill>
            <a:srgbClr val="FFA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807494" y="2006501"/>
            <a:ext cx="888950" cy="558701"/>
          </a:xfrm>
          <a:prstGeom prst="roundRect">
            <a:avLst>
              <a:gd name="adj" fmla="val 50009"/>
            </a:avLst>
          </a:prstGeom>
          <a:solidFill>
            <a:srgbClr val="FFFFFF"/>
          </a:solidFill>
          <a:ln w="19050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070920" y="2219176"/>
            <a:ext cx="3691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5402" y="2641550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165402" y="2885926"/>
            <a:ext cx="8290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116336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2360712"/>
            <a:ext cx="7772400" cy="975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Bef>
                <a:spcPts val="8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 Complexity</a:t>
            </a:r>
            <a:endParaRPr lang="en-US" sz="3200" dirty="0"/>
          </a:p>
          <a:p>
            <a:pPr algn="l" indent="0" marL="0">
              <a:lnSpc>
                <a:spcPts val="3840"/>
              </a:lnSpc>
              <a:spcBef>
                <a:spcPts val="800"/>
              </a:spcBef>
              <a:buNone/>
            </a:pPr>
            <a:r>
              <a:rPr lang="en-US" sz="3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Into Clarity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62000" y="3437632"/>
            <a:ext cx="126995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3599557"/>
            <a:ext cx="5181549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Full-bleed image with bottom-anchored text. Gradient overlay ensures readability.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015901"/>
            <a:ext cx="41451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1260277"/>
            <a:ext cx="4145179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800"/>
              </a:spcBef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Left-Aligned Text</a:t>
            </a:r>
            <a:endParaRPr lang="en-US" sz="2800" dirty="0"/>
          </a:p>
          <a:p>
            <a:pPr algn="l" indent="0" marL="0">
              <a:lnSpc>
                <a:spcPts val="3360"/>
              </a:lnSpc>
              <a:spcBef>
                <a:spcPts val="800"/>
              </a:spcBef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 Image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214860"/>
            <a:ext cx="1015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376785"/>
            <a:ext cx="4145179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Gradient fades from left to right. Text occupies the left 45%, image shows through</a:t>
            </a:r>
            <a:endParaRPr lang="en-US" sz="1200" dirty="0"/>
          </a:p>
          <a:p>
            <a:pPr algn="l" indent="0" marL="0">
              <a:lnSpc>
                <a:spcPts val="192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on the right side.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lliammasquelier/Repositories/stromy-org/brand-tokens/clients/dukestrategies/templates/pptx/_processed/Erasmusbrug_zwart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1795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98950" y="762000"/>
            <a:ext cx="4015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698950" y="1006376"/>
            <a:ext cx="401568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Left, Text Right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698950" y="1443038"/>
            <a:ext cx="634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698950" y="1604963"/>
            <a:ext cx="401568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Pair a visual with narrative text. Image occupies the left half for visual impact.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762000"/>
            <a:ext cx="4015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50" y="1006376"/>
            <a:ext cx="401568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 Left, Image Right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1443038"/>
            <a:ext cx="634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604963"/>
            <a:ext cx="401568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Reversed split layout for visual variety within the same deck. Alternate with E3.</a:t>
            </a:r>
            <a:endParaRPr lang="en-US" sz="1100" dirty="0"/>
          </a:p>
        </p:txBody>
      </p:sp>
      <p:pic>
        <p:nvPicPr>
          <p:cNvPr id="6" name="Image 0" descr="/Users/williammasquelier/Repositories/stromy-org/brand-tokens/clients/dukestrategies/templates/pptx/_processed/Nesciobrug.bw-ac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6050" y="0"/>
            <a:ext cx="4317950" cy="5143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7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0188" y="1015901"/>
            <a:ext cx="0" cy="1547515"/>
          </a:xfrm>
          <a:prstGeom prst="line">
            <a:avLst/>
          </a:prstGeom>
          <a:noFill/>
          <a:ln w="2857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49276" y="1015901"/>
            <a:ext cx="6914096" cy="1172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“The partnership with Duke Strategies transformed how we approach</a:t>
            </a:r>
            <a:endParaRPr lang="en-US" sz="2200" dirty="0"/>
          </a:p>
          <a:p>
            <a:pPr algn="l" indent="0" marL="0">
              <a:lnSpc>
                <a:spcPts val="3080"/>
              </a:lnSpc>
              <a:buNone/>
            </a:pPr>
            <a:r>
              <a:rPr lang="en-US" sz="22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strategic planning. Their methodology brought clarity to complexity.”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9276" y="2391966"/>
            <a:ext cx="6914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Jane Smith, Chief Strategy Officer, Acme Corp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1809750"/>
            <a:ext cx="1524000" cy="1524000"/>
          </a:xfrm>
          <a:prstGeom prst="roundRect">
            <a:avLst>
              <a:gd name="adj" fmla="val 60000"/>
            </a:avLst>
          </a:prstGeom>
          <a:noFill/>
          <a:ln w="28575">
            <a:solidFill>
              <a:srgbClr val="FF7F6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5764" y="2338388"/>
            <a:ext cx="39180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939951" y="1814513"/>
            <a:ext cx="0" cy="1514326"/>
          </a:xfrm>
          <a:prstGeom prst="line">
            <a:avLst/>
          </a:prstGeom>
          <a:noFill/>
          <a:ln w="38100">
            <a:solidFill>
              <a:srgbClr val="FF7F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12902" y="1814513"/>
            <a:ext cx="5142839" cy="1066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“Working with Duke Strategies delivered measurable results within 90 days.</a:t>
            </a:r>
            <a:endParaRPr lang="en-US" sz="20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I recommend them without reservation.”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12902" y="3033564"/>
            <a:ext cx="5142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Jane Smith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12902" y="3195489"/>
            <a:ext cx="51428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Chief Strategy Officer, Acme Corp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114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1140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Leadership Team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2246" y="1855738"/>
            <a:ext cx="34550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91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Alex Johnson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91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MANAGING DIRECTOR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91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leadership, 15+ years enterprise consulting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05590" y="1855738"/>
            <a:ext cx="38027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299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Sarah Chen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299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HEAD OF STRATEGY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299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Former McKinsey, digital transformation specialist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44625" y="1855738"/>
            <a:ext cx="4838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920740" y="2692301"/>
            <a:ext cx="2331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3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Marcus Rivera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20740" y="2908102"/>
            <a:ext cx="23317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LEAD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20740" y="3117652"/>
            <a:ext cx="23317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 background, data architecture expertise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600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60071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Extended Team (2×2)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330668" y="1874788"/>
            <a:ext cx="3168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82421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Alex Johnson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82421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MANAGING DIRECTOR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97431" y="1874788"/>
            <a:ext cx="3485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65122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Sarah Chen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65122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HEAD OF STRATEGY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2616" y="1874788"/>
            <a:ext cx="44357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747823" y="2666851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Marcus Rivera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47823" y="2863602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LEAD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405475" y="3643015"/>
            <a:ext cx="33260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EP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5122" y="4435078"/>
            <a:ext cx="18134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Emily Park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65122" y="4631829"/>
            <a:ext cx="1813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 DIRECTOR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36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28035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28035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Deliver (2×3)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Data-driven planning and positioning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8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48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48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insights from structured analysis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34000" y="1549301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4000" y="2108002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34000" y="2330202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sustainable expansion models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62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 optimization and efficiency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48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048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48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Emerging technology capabilities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34000" y="2794992"/>
            <a:ext cx="457200" cy="457200"/>
          </a:xfrm>
          <a:prstGeom prst="roundRect">
            <a:avLst>
              <a:gd name="adj" fmla="val 12500"/>
            </a:avLst>
          </a:prstGeom>
          <a:solidFill>
            <a:srgbClr val="FF7F66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334000" y="3353693"/>
            <a:ext cx="20208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34000" y="3575893"/>
            <a:ext cx="2020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guidance for complex decisions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53901"/>
            <a:ext cx="2166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Capability Grid (3×3)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727150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07491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86051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66392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44952" y="8635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225293" y="1295251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27150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07491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86051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066392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44952" y="16411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25293" y="2072878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27150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07491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86051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66392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44952" y="241875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225293" y="2850505"/>
            <a:ext cx="1995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777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7772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 Actions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2055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1601" y="1412528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69950" y="1320552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Finalize stakeholder priority 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9950" y="1517303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8538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1601" y="1945779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69950" y="1853803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Brief top-5 target committee members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9950" y="2050554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2-4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2000" y="23870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1601" y="2479030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69950" y="2387054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Lodge formal submission to inquiry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9950" y="2583805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292030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1601" y="3012281"/>
            <a:ext cx="777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9950" y="2920305"/>
            <a:ext cx="7254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coalition amplification sequence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9950" y="3117056"/>
            <a:ext cx="72542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FF7F6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Week 6-8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7950" y="4859387"/>
            <a:ext cx="8127950" cy="4763"/>
          </a:xfrm>
          <a:prstGeom prst="rect">
            <a:avLst/>
          </a:prstGeom>
          <a:solidFill>
            <a:srgbClr val="ECEC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7950" y="4943475"/>
            <a:ext cx="6586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34400" y="4943475"/>
            <a:ext cx="1036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7950"/>
            <a:ext cx="18146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62000" y="752326"/>
            <a:ext cx="181467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&amp; After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2000" y="1396901"/>
            <a:ext cx="3555950" cy="1942951"/>
          </a:xfrm>
          <a:prstGeom prst="roundRect">
            <a:avLst>
              <a:gd name="adj" fmla="val 2941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62000" y="1411188"/>
            <a:ext cx="3555950" cy="0"/>
          </a:xfrm>
          <a:prstGeom prst="line">
            <a:avLst/>
          </a:prstGeom>
          <a:noFill/>
          <a:ln w="28575">
            <a:solidFill>
              <a:srgbClr val="CCCC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5150" y="1628626"/>
            <a:ext cx="32126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1851" y="1396901"/>
            <a:ext cx="3555950" cy="1942951"/>
          </a:xfrm>
          <a:prstGeom prst="roundRect">
            <a:avLst>
              <a:gd name="adj" fmla="val 2941"/>
            </a:avLst>
          </a:prstGeom>
          <a:solidFill>
            <a:srgbClr val="7A79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1851" y="1411188"/>
            <a:ext cx="3555950" cy="0"/>
          </a:xfrm>
          <a:prstGeom prst="line">
            <a:avLst/>
          </a:prstGeom>
          <a:noFill/>
          <a:ln w="28575">
            <a:solidFill>
              <a:srgbClr val="FF7F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5002" y="1628626"/>
            <a:ext cx="32126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FF7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STATE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7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5301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333551" y="2706514"/>
            <a:ext cx="6476899" cy="817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2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Let’s Build</a:t>
            </a:r>
            <a:endParaRPr lang="en-US" sz="2800" dirty="0"/>
          </a:p>
          <a:p>
            <a:pPr algn="ctr" indent="0" marL="0">
              <a:lnSpc>
                <a:spcPts val="322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Something Great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97050" y="3625676"/>
            <a:ext cx="1015901" cy="9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33551" y="3838352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Bridging Strategy and Impact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33551" y="4352702"/>
            <a:ext cx="64768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33551" y="4565377"/>
            <a:ext cx="6476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hello@dukestrategies.eu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5301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333551" y="2764482"/>
            <a:ext cx="6476899" cy="408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97050" y="3274814"/>
            <a:ext cx="1015901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33551" y="3487489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Bridging Strategy and Impact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33551" y="3950940"/>
            <a:ext cx="6476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0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33551" y="4144566"/>
            <a:ext cx="6476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B9B9B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hello@dukestrategies.eu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7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51" y="2076524"/>
            <a:ext cx="647689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397050" y="2644750"/>
            <a:ext cx="762000" cy="9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3551" y="2857426"/>
            <a:ext cx="647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hello@dukestrategies.eu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D2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416945"/>
            <a:ext cx="3627069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Duke Strategies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62000" y="3884116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4046041"/>
            <a:ext cx="3627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Bridging Strategy and Impact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26050" y="2048024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826050" y="2206675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hello@dukestrategies.eu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26050" y="2571750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826050" y="2730401"/>
            <a:ext cx="3627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FFAC9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dukestrategies.eu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33274" y="2120950"/>
            <a:ext cx="2477453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C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Appendix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357563" y="2689175"/>
            <a:ext cx="762000" cy="9525"/>
          </a:xfrm>
          <a:prstGeom prst="rect">
            <a:avLst/>
          </a:prstGeom>
          <a:solidFill>
            <a:srgbClr val="FF7F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33274" y="2851100"/>
            <a:ext cx="24774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buNone/>
            </a:pPr>
            <a:r>
              <a:rPr lang="en-US" sz="1200" dirty="0">
                <a:solidFill>
                  <a:srgbClr val="B9B9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Supporting data and reference materials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Duke Strategies Presentation Template — 50-Slide Layout Library</dc:subject>
  <dc:creator>Duke Strategies</dc:creator>
  <cp:lastModifiedBy>Duke Strategies</cp:lastModifiedBy>
  <cp:revision>1</cp:revision>
  <dcterms:created xsi:type="dcterms:W3CDTF">2026-04-07T17:51:13Z</dcterms:created>
  <dcterms:modified xsi:type="dcterms:W3CDTF">2026-04-07T17:51:13Z</dcterms:modified>
</cp:coreProperties>
</file>