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2.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3.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1</c:v>
                </c:pt>
              </c:strCache>
            </c:strRef>
          </c:tx>
          <c:spPr>
            <a:solidFill>
              <a:srgbClr val="FF7F6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45</c:v>
                </c:pt>
                <c:pt idx="1">
                  <c:v>62</c:v>
                </c:pt>
                <c:pt idx="2">
                  <c:v>78</c:v>
                </c:pt>
                <c:pt idx="3">
                  <c:v>95</c:v>
                </c:pt>
              </c:numCache>
            </c:numRef>
          </c:val>
        </c:ser>
        <c:ser>
          <c:idx val="1"/>
          <c:order val="1"/>
          <c:tx>
            <c:strRef>
              <c:f>Sheet1!$C$1</c:f>
              <c:strCache>
                <c:ptCount val="1"/>
                <c:pt idx="0">
                  <c:v>Series 2</c:v>
                </c:pt>
              </c:strCache>
            </c:strRef>
          </c:tx>
          <c:spPr>
            <a:solidFill>
              <a:srgbClr val="22222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Sheet1!$C$2:$C$5</c:f>
              <c:numCache>
                <c:formatCode>General</c:formatCode>
                <c:ptCount val="4"/>
                <c:pt idx="0">
                  <c:v>30</c:v>
                </c:pt>
                <c:pt idx="1">
                  <c:v>48</c:v>
                </c:pt>
                <c:pt idx="2">
                  <c:v>65</c:v>
                </c:pt>
                <c:pt idx="3">
                  <c:v>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07F83"/>
                </a:solidFill>
                <a:latin typeface="Montserra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07F83"/>
                </a:solidFill>
                <a:latin typeface="Space Mono"/>
              </a:defRPr>
            </a:pPr>
            <a:endParaRPr lang="en-US"/>
          </a:p>
        </c:txPr>
        <c:crossAx val="2094734554"/>
        <c:crosses val="autoZero"/>
        <c:crossBetween val="between"/>
      </c:valAx>
      <c:spPr>
        <a:noFill/>
        <a:ln>
          <a:noFill/>
        </a:ln>
        <a:effectLst/>
      </c:spPr>
    </c:plotArea>
    <c:legend>
      <c:legendPos val="b"/>
      <c:overlay val="0"/>
      <c:txPr>
        <a:bodyPr/>
        <a:lstStyle/>
        <a:p>
          <a:pPr>
            <a:defRPr sz="900">
              <a:latin typeface="Montserrat"/>
              <a:cs typeface="Montserra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Segments</c:v>
                </c:pt>
              </c:strCache>
            </c:strRef>
          </c:tx>
          <c:spPr>
            <a:solidFill>
              <a:schemeClr val="accent1"/>
            </a:solidFill>
            <a:ln w="9525" cap="flat">
              <a:solidFill>
                <a:srgbClr val="F9F9F9"/>
              </a:solidFill>
              <a:prstDash val="solid"/>
              <a:round/>
            </a:ln>
            <a:effectLst/>
          </c:spPr>
          <c:dPt>
            <c:idx val="0"/>
            <c:bubble3D val="0"/>
            <c:spPr>
              <a:solidFill>
                <a:srgbClr val="FF7F66"/>
              </a:solidFill>
              <a:effectLst/>
            </c:spPr>
          </c:dPt>
          <c:dPt>
            <c:idx val="1"/>
            <c:bubble3D val="0"/>
            <c:spPr>
              <a:solidFill>
                <a:srgbClr val="222222"/>
              </a:solidFill>
              <a:effectLst/>
            </c:spPr>
          </c:dPt>
          <c:dPt>
            <c:idx val="2"/>
            <c:bubble3D val="0"/>
            <c:spPr>
              <a:solidFill>
                <a:srgbClr val="807F83"/>
              </a:solidFill>
              <a:effectLst/>
            </c:spPr>
          </c:dPt>
          <c:dPt>
            <c:idx val="3"/>
            <c:bubble3D val="0"/>
            <c:spPr>
              <a:solidFill>
                <a:srgbClr val="DFDFE0"/>
              </a:solidFill>
              <a:effectLst/>
            </c:spPr>
          </c:dPt>
          <c:dPt>
            <c:idx val="4"/>
            <c:bubble3D val="0"/>
            <c:spPr>
              <a:solidFill>
                <a:srgbClr val="FFB8AA"/>
              </a:solidFill>
              <a:effectLst/>
            </c:spPr>
          </c:dPt>
          <c:dLbls>
            <c:dLbl>
              <c:idx val="0"/>
              <c:numFmt formatCode="0%" sourceLinked="0"/>
              <c:spPr/>
              <c:txPr>
                <a:bodyPr/>
                <a:lstStyle/>
                <a:p>
                  <a:pPr>
                    <a:defRPr sz="900" b="0" i="0" u="none" strike="noStrike">
                      <a:solidFill>
                        <a:srgbClr val="FFFFFF"/>
                      </a:solidFill>
                      <a:latin typeface="Space Mono"/>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Space Mono"/>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Space Mono"/>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Space Mono"/>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Space Mono"/>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Digital</c:v>
                </c:pt>
                <c:pt idx="1">
                  <c:v>Traditional</c:v>
                </c:pt>
                <c:pt idx="2">
                  <c:v>Events</c:v>
                </c:pt>
                <c:pt idx="3">
                  <c:v>PR</c:v>
                </c:pt>
                <c:pt idx="4">
                  <c:v>Other</c:v>
                </c:pt>
              </c:strCache>
            </c:strRef>
          </c:cat>
          <c:val>
            <c:numRef>
              <c:f>Sheet1!$B$2:$B$6</c:f>
              <c:numCache>
                <c:ptCount val="5"/>
                <c:pt idx="0">
                  <c:v>35</c:v>
                </c:pt>
                <c:pt idx="1">
                  <c:v>25</c:v>
                </c:pt>
                <c:pt idx="2">
                  <c:v>18</c:v>
                </c:pt>
                <c:pt idx="3">
                  <c:v>15</c:v>
                </c:pt>
                <c:pt idx="4">
                  <c:v>7</c:v>
                </c:pt>
              </c:numCache>
            </c:numRef>
          </c:val>
        </c:ser>
        <c:firstSliceAng val="0"/>
      </c:pieChart>
      <c:spPr>
        <a:noFill/>
        <a:ln>
          <a:noFill/>
        </a:ln>
        <a:effectLst/>
      </c:spPr>
    </c:plotArea>
    <c:legend>
      <c:legendPos val="r"/>
      <c:overlay val="0"/>
      <c:txPr>
        <a:bodyPr/>
        <a:lstStyle/>
        <a:p>
          <a:pPr>
            <a:defRPr sz="1000">
              <a:latin typeface="Montserrat"/>
              <a:cs typeface="Montserra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Awareness</c:v>
                </c:pt>
              </c:strCache>
            </c:strRef>
          </c:tx>
          <c:spPr>
            <a:solidFill>
              <a:srgbClr val="FF7F66"/>
            </a:solidFill>
            <a:ln w="31750" cap="flat">
              <a:solidFill>
                <a:srgbClr val="FF7F6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F7F66"/>
              </a:solidFill>
              <a:ln w="9525" cap="flat">
                <a:solidFill>
                  <a:srgbClr val="FF7F66"/>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Sheet1!$B$2:$B$7</c:f>
              <c:numCache>
                <c:formatCode>General</c:formatCode>
                <c:ptCount val="6"/>
                <c:pt idx="0">
                  <c:v>20</c:v>
                </c:pt>
                <c:pt idx="1">
                  <c:v>28</c:v>
                </c:pt>
                <c:pt idx="2">
                  <c:v>35</c:v>
                </c:pt>
                <c:pt idx="3">
                  <c:v>42</c:v>
                </c:pt>
                <c:pt idx="4">
                  <c:v>50</c:v>
                </c:pt>
                <c:pt idx="5">
                  <c:v>58</c:v>
                </c:pt>
              </c:numCache>
            </c:numRef>
          </c:val>
          <c:smooth val="1"/>
        </c:ser>
        <c:ser>
          <c:idx val="1"/>
          <c:order val="1"/>
          <c:tx>
            <c:strRef>
              <c:f>Sheet1!$C$1</c:f>
              <c:strCache>
                <c:ptCount val="1"/>
                <c:pt idx="0">
                  <c:v>Engagement</c:v>
                </c:pt>
              </c:strCache>
            </c:strRef>
          </c:tx>
          <c:spPr>
            <a:solidFill>
              <a:srgbClr val="222222"/>
            </a:solidFill>
            <a:ln w="31750" cap="flat">
              <a:solidFill>
                <a:srgbClr val="22222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22222"/>
              </a:solidFill>
              <a:ln w="9525" cap="flat">
                <a:solidFill>
                  <a:srgbClr val="222222"/>
                </a:solidFill>
                <a:prstDash val="solid"/>
                <a:round/>
              </a:ln>
              <a:effectLst/>
            </c:spPr>
          </c:marker>
          <c:cat>
            <c:multiLvlStrRef>
              <c:f>Sheet1!$A$2:$A$7</c:f>
              <c:multiLvlStrCache>
                <c:ptCount val="6"/>
                <c:lvl>
                  <c:pt idx="0">
                    <c:v>Jan</c:v>
                  </c:pt>
                  <c:pt idx="1">
                    <c:v>Feb</c:v>
                  </c:pt>
                  <c:pt idx="2">
                    <c:v>Mar</c:v>
                  </c:pt>
                  <c:pt idx="3">
                    <c:v>Apr</c:v>
                  </c:pt>
                  <c:pt idx="4">
                    <c:v>May</c:v>
                  </c:pt>
                  <c:pt idx="5">
                    <c:v>Jun</c:v>
                  </c:pt>
                </c:lvl>
              </c:multiLvlStrCache>
            </c:multiLvlStrRef>
          </c:cat>
          <c:val>
            <c:numRef>
              <c:f>Sheet1!$C$2:$C$7</c:f>
              <c:numCache>
                <c:formatCode>General</c:formatCode>
                <c:ptCount val="6"/>
                <c:pt idx="0">
                  <c:v>10</c:v>
                </c:pt>
                <c:pt idx="1">
                  <c:v>15</c:v>
                </c:pt>
                <c:pt idx="2">
                  <c:v>22</c:v>
                </c:pt>
                <c:pt idx="3">
                  <c:v>30</c:v>
                </c:pt>
                <c:pt idx="4">
                  <c:v>38</c:v>
                </c:pt>
                <c:pt idx="5">
                  <c:v>45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07F83"/>
                </a:solidFill>
                <a:latin typeface="Montserra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07F83"/>
                </a:solidFill>
                <a:latin typeface="Space Mono"/>
              </a:defRPr>
            </a:pPr>
            <a:endParaRPr lang="en-US"/>
          </a:p>
        </c:txPr>
        <c:crossAx val="2094734554"/>
        <c:crosses val="autoZero"/>
        <c:crossBetween val="between"/>
      </c:valAx>
      <c:spPr>
        <a:noFill/>
        <a:ln>
          <a:noFill/>
        </a:ln>
        <a:effectLst/>
      </c:spPr>
    </c:plotArea>
    <c:legend>
      <c:legendPos val="b"/>
      <c:overlay val="0"/>
      <c:txPr>
        <a:bodyPr/>
        <a:lstStyle/>
        <a:p>
          <a:pPr>
            <a:defRPr sz="900">
              <a:latin typeface="Montserrat"/>
              <a:cs typeface="Montserra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3-1.png"/><Relationship Id="rId3" Type="http://schemas.openxmlformats.org/officeDocument/2006/relationships/image" Target="../media/image-23-2.sv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24-1.png"/><Relationship Id="rId3" Type="http://schemas.openxmlformats.org/officeDocument/2006/relationships/image" Target="../media/image-24-2.sv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25-1.png"/><Relationship Id="rId3" Type="http://schemas.openxmlformats.org/officeDocument/2006/relationships/image" Target="../media/image-25-2.sv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image" Target="../media/image-33-2.png"/><Relationship Id="rId3" Type="http://schemas.openxmlformats.org/officeDocument/2006/relationships/image" Target="../media/image-33-3.sv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image" Target="../media/image-34-2.png"/><Relationship Id="rId3" Type="http://schemas.openxmlformats.org/officeDocument/2006/relationships/image" Target="../media/image-34-3.svg"/><Relationship Id="rId4" Type="http://schemas.openxmlformats.org/officeDocument/2006/relationships/slideLayout" Target="../slideLayouts/slideLayout1.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image" Target="../media/image-35-2.jp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image" Target="../media/image-36-2.jpg"/><Relationship Id="rId3" Type="http://schemas.openxmlformats.org/officeDocument/2006/relationships/image" Target="../media/image-36-3.jpg"/><Relationship Id="rId4" Type="http://schemas.openxmlformats.org/officeDocument/2006/relationships/image" Target="../media/image-36-4.jp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sv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jpe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sv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jpe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sv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sv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222"/>
        </a:solidFill>
      </p:bgPr>
    </p:bg>
    <p:spTree>
      <p:nvGrpSpPr>
        <p:cNvPr id="1" name=""/>
        <p:cNvGrpSpPr/>
        <p:nvPr/>
      </p:nvGrpSpPr>
      <p:grpSpPr>
        <a:xfrm>
          <a:off x="0" y="0"/>
          <a:ext cx="0" cy="0"/>
          <a:chOff x="0" y="0"/>
          <a:chExt cx="0" cy="0"/>
        </a:xfrm>
      </p:grpSpPr>
      <p:sp>
        <p:nvSpPr>
          <p:cNvPr id="2" name="Shape 0"/>
          <p:cNvSpPr/>
          <p:nvPr/>
        </p:nvSpPr>
        <p:spPr>
          <a:xfrm>
            <a:off x="548640" y="1920240"/>
            <a:ext cx="1097280" cy="45720"/>
          </a:xfrm>
          <a:prstGeom prst="rect">
            <a:avLst/>
          </a:prstGeom>
          <a:solidFill>
            <a:srgbClr val="FF7F66"/>
          </a:solidFill>
          <a:ln w="12700">
            <a:solidFill>
              <a:srgbClr val="333333"/>
            </a:solidFill>
            <a:prstDash val="solid"/>
          </a:ln>
        </p:spPr>
      </p:sp>
      <p:sp>
        <p:nvSpPr>
          <p:cNvPr id="3" name="Text 1"/>
          <p:cNvSpPr/>
          <p:nvPr/>
        </p:nvSpPr>
        <p:spPr>
          <a:xfrm>
            <a:off x="548640" y="1097280"/>
            <a:ext cx="8046720" cy="731520"/>
          </a:xfrm>
          <a:prstGeom prst="rect">
            <a:avLst/>
          </a:prstGeom>
          <a:noFill/>
          <a:ln/>
        </p:spPr>
        <p:txBody>
          <a:bodyPr wrap="square" rtlCol="0" anchor="ctr"/>
          <a:lstStyle/>
          <a:p>
            <a:pPr indent="0" marL="0">
              <a:buNone/>
            </a:pPr>
            <a:r>
              <a:rPr lang="en-US" sz="3600" b="1" dirty="0">
                <a:solidFill>
                  <a:srgbClr val="FFFFFF"/>
                </a:solidFill>
                <a:latin typeface="Montserrat" pitchFamily="34" charset="0"/>
                <a:ea typeface="Montserrat" pitchFamily="34" charset="-122"/>
                <a:cs typeface="Montserrat" pitchFamily="34" charset="-120"/>
              </a:rPr>
              <a:t>Presentation Title</a:t>
            </a:r>
            <a:endParaRPr lang="en-US" sz="3600" dirty="0"/>
          </a:p>
        </p:txBody>
      </p:sp>
      <p:sp>
        <p:nvSpPr>
          <p:cNvPr id="4" name="Text 2"/>
          <p:cNvSpPr/>
          <p:nvPr/>
        </p:nvSpPr>
        <p:spPr>
          <a:xfrm>
            <a:off x="548640" y="2103120"/>
            <a:ext cx="8046720" cy="457200"/>
          </a:xfrm>
          <a:prstGeom prst="rect">
            <a:avLst/>
          </a:prstGeom>
          <a:noFill/>
          <a:ln/>
        </p:spPr>
        <p:txBody>
          <a:bodyPr wrap="square" rtlCol="0" anchor="ctr"/>
          <a:lstStyle/>
          <a:p>
            <a:pPr indent="0" marL="0">
              <a:buNone/>
            </a:pPr>
            <a:r>
              <a:rPr lang="en-US" sz="1600" dirty="0">
                <a:solidFill>
                  <a:srgbClr val="FF7F66"/>
                </a:solidFill>
                <a:latin typeface="Montserrat" pitchFamily="34" charset="0"/>
                <a:ea typeface="Montserrat" pitchFamily="34" charset="-122"/>
                <a:cs typeface="Montserrat" pitchFamily="34" charset="-120"/>
              </a:rPr>
              <a:t>Subtitle or tagline goes here</a:t>
            </a:r>
            <a:endParaRPr lang="en-US" sz="1600" dirty="0"/>
          </a:p>
        </p:txBody>
      </p:sp>
      <p:sp>
        <p:nvSpPr>
          <p:cNvPr id="5" name="Text 3"/>
          <p:cNvSpPr/>
          <p:nvPr/>
        </p:nvSpPr>
        <p:spPr>
          <a:xfrm>
            <a:off x="548640" y="2926080"/>
            <a:ext cx="8046720" cy="320040"/>
          </a:xfrm>
          <a:prstGeom prst="rect">
            <a:avLst/>
          </a:prstGeom>
          <a:noFill/>
          <a:ln/>
        </p:spPr>
        <p:txBody>
          <a:bodyPr wrap="square" rtlCol="0" anchor="ctr"/>
          <a:lstStyle/>
          <a:p>
            <a:pPr indent="0" marL="0">
              <a:buNone/>
            </a:pPr>
            <a:r>
              <a:rPr lang="en-US" sz="1100" dirty="0">
                <a:solidFill>
                  <a:srgbClr val="807F83"/>
                </a:solidFill>
                <a:latin typeface="Montserrat" pitchFamily="34" charset="0"/>
                <a:ea typeface="Montserrat" pitchFamily="34" charset="-122"/>
                <a:cs typeface="Montserrat" pitchFamily="34" charset="-120"/>
              </a:rPr>
              <a:t>Date  |  Author Name</a:t>
            </a:r>
            <a:endParaRPr lang="en-US" sz="1100" dirty="0"/>
          </a:p>
        </p:txBody>
      </p:sp>
      <p:pic>
        <p:nvPicPr>
          <p:cNvPr id="6" name="Image 0" descr="/Users/williammasquelier/Repositories/stromy-org/Cowork/workspace/duke-strategies/brand/output/brand/logos/DukeStrategies_logo_white.png">    </p:cNvPr>
          <p:cNvPicPr>
            <a:picLocks noChangeAspect="1"/>
          </p:cNvPicPr>
          <p:nvPr/>
        </p:nvPicPr>
        <p:blipFill>
          <a:blip r:embed="rId1"/>
          <a:stretch>
            <a:fillRect/>
          </a:stretch>
        </p:blipFill>
        <p:spPr>
          <a:xfrm>
            <a:off x="548640" y="4549140"/>
            <a:ext cx="1280160" cy="320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22222">
              <a:alpha val="55000"/>
            </a:srgbClr>
          </a:solidFill>
          <a:ln w="12700">
            <a:solidFill>
              <a:srgbClr val="333333"/>
            </a:solidFill>
            <a:prstDash val="solid"/>
          </a:ln>
        </p:spPr>
      </p:sp>
      <p:sp>
        <p:nvSpPr>
          <p:cNvPr id="3" name="Shape 1"/>
          <p:cNvSpPr/>
          <p:nvPr/>
        </p:nvSpPr>
        <p:spPr>
          <a:xfrm>
            <a:off x="0" y="5033772"/>
            <a:ext cx="9144000" cy="109728"/>
          </a:xfrm>
          <a:prstGeom prst="rect">
            <a:avLst/>
          </a:prstGeom>
          <a:solidFill>
            <a:srgbClr val="FF7F66"/>
          </a:solidFill>
          <a:ln w="12700">
            <a:solidFill>
              <a:srgbClr val="333333"/>
            </a:solidFill>
            <a:prstDash val="solid"/>
          </a:ln>
        </p:spPr>
      </p:sp>
      <p:sp>
        <p:nvSpPr>
          <p:cNvPr id="4" name="Text 2"/>
          <p:cNvSpPr/>
          <p:nvPr/>
        </p:nvSpPr>
        <p:spPr>
          <a:xfrm>
            <a:off x="548640" y="1280160"/>
            <a:ext cx="8046720" cy="822960"/>
          </a:xfrm>
          <a:prstGeom prst="rect">
            <a:avLst/>
          </a:prstGeom>
          <a:noFill/>
          <a:ln/>
        </p:spPr>
        <p:txBody>
          <a:bodyPr wrap="square" rtlCol="0" anchor="ctr"/>
          <a:lstStyle/>
          <a:p>
            <a:pPr indent="0" marL="0">
              <a:buNone/>
            </a:pPr>
            <a:r>
              <a:rPr lang="en-US" sz="4000" b="1" dirty="0">
                <a:solidFill>
                  <a:srgbClr val="FFFFFF"/>
                </a:solidFill>
                <a:latin typeface="Montserrat" pitchFamily="34" charset="0"/>
                <a:ea typeface="Montserrat" pitchFamily="34" charset="-122"/>
                <a:cs typeface="Montserrat" pitchFamily="34" charset="-120"/>
              </a:rPr>
              <a:t>Bridge the Gap</a:t>
            </a:r>
            <a:endParaRPr lang="en-US" sz="4000" dirty="0"/>
          </a:p>
        </p:txBody>
      </p:sp>
      <p:sp>
        <p:nvSpPr>
          <p:cNvPr id="5" name="Text 3"/>
          <p:cNvSpPr/>
          <p:nvPr/>
        </p:nvSpPr>
        <p:spPr>
          <a:xfrm>
            <a:off x="548640" y="2194560"/>
            <a:ext cx="8046720" cy="457200"/>
          </a:xfrm>
          <a:prstGeom prst="rect">
            <a:avLst/>
          </a:prstGeom>
          <a:noFill/>
          <a:ln/>
        </p:spPr>
        <p:txBody>
          <a:bodyPr wrap="square" rtlCol="0" anchor="ctr"/>
          <a:lstStyle/>
          <a:p>
            <a:pPr indent="0" marL="0">
              <a:buNone/>
            </a:pPr>
            <a:r>
              <a:rPr lang="en-US" sz="1800" dirty="0">
                <a:solidFill>
                  <a:srgbClr val="DFDFE0"/>
                </a:solidFill>
                <a:latin typeface="Montserrat" pitchFamily="34" charset="0"/>
                <a:ea typeface="Montserrat" pitchFamily="34" charset="-122"/>
                <a:cs typeface="Montserrat" pitchFamily="34" charset="-120"/>
              </a:rPr>
              <a:t>Strategic Communications for a Connected World</a:t>
            </a:r>
            <a:endParaRPr lang="en-US" sz="1800" dirty="0"/>
          </a:p>
        </p:txBody>
      </p:sp>
      <p:pic>
        <p:nvPicPr>
          <p:cNvPr id="6" name="Image 0" descr="/Users/williammasquelier/Repositories/stromy-org/Cowork/workspace/duke-strategies/brand/output/brand/logos/DukeStrategies_logo_white.png">    </p:cNvPr>
          <p:cNvPicPr>
            <a:picLocks noChangeAspect="1"/>
          </p:cNvPicPr>
          <p:nvPr/>
        </p:nvPicPr>
        <p:blipFill>
          <a:blip r:embed="rId2"/>
          <a:stretch>
            <a:fillRect/>
          </a:stretch>
        </p:blipFill>
        <p:spPr>
          <a:xfrm>
            <a:off x="548640" y="4503420"/>
            <a:ext cx="1188720" cy="2926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371600"/>
            <a:ext cx="8229600" cy="2286000"/>
          </a:xfrm>
          <a:prstGeom prst="rect">
            <a:avLst/>
          </a:prstGeom>
          <a:noFill/>
          <a:ln/>
        </p:spPr>
        <p:txBody>
          <a:bodyPr wrap="square" rtlCol="0" anchor="ctr"/>
          <a:lstStyle/>
          <a:p>
            <a:pPr algn="ctr" indent="0" marL="0">
              <a:buNone/>
            </a:pPr>
            <a:r>
              <a:rPr lang="en-US" sz="4800" b="1" dirty="0">
                <a:solidFill>
                  <a:srgbClr val="222222"/>
                </a:solidFill>
                <a:latin typeface="Montserrat" pitchFamily="34" charset="0"/>
                <a:ea typeface="Montserrat" pitchFamily="34" charset="-122"/>
                <a:cs typeface="Montserrat" pitchFamily="34" charset="-120"/>
              </a:rPr>
              <a:t>Big Idea Title</a:t>
            </a:r>
            <a:endParaRPr lang="en-US" sz="4800" dirty="0"/>
          </a:p>
        </p:txBody>
      </p:sp>
      <p:sp>
        <p:nvSpPr>
          <p:cNvPr id="3" name="Shape 1"/>
          <p:cNvSpPr/>
          <p:nvPr/>
        </p:nvSpPr>
        <p:spPr>
          <a:xfrm>
            <a:off x="3657600" y="3749040"/>
            <a:ext cx="1828800" cy="45720"/>
          </a:xfrm>
          <a:prstGeom prst="rect">
            <a:avLst/>
          </a:prstGeom>
          <a:solidFill>
            <a:srgbClr val="FF7F66"/>
          </a:solidFill>
          <a:ln w="12700">
            <a:solidFill>
              <a:srgbClr val="333333"/>
            </a:solidFill>
            <a:prstDash val="solid"/>
          </a:ln>
        </p:spPr>
      </p:sp>
      <p:pic>
        <p:nvPicPr>
          <p:cNvPr id="4" name="Image 0" descr="/Users/williammasquelier/Repositories/stromy-org/Cowork/workspace/duke-strategies/brand/output/brand/logos/DukeStrategies_logo_gre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796028"/>
            <a:ext cx="822960" cy="2011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7F66"/>
        </a:solidFill>
      </p:bgPr>
    </p:bg>
    <p:spTree>
      <p:nvGrpSpPr>
        <p:cNvPr id="1" name=""/>
        <p:cNvGrpSpPr/>
        <p:nvPr/>
      </p:nvGrpSpPr>
      <p:grpSpPr>
        <a:xfrm>
          <a:off x="0" y="0"/>
          <a:ext cx="0" cy="0"/>
          <a:chOff x="0" y="0"/>
          <a:chExt cx="0" cy="0"/>
        </a:xfrm>
      </p:grpSpPr>
      <p:sp>
        <p:nvSpPr>
          <p:cNvPr id="2" name="Text 0"/>
          <p:cNvSpPr/>
          <p:nvPr/>
        </p:nvSpPr>
        <p:spPr>
          <a:xfrm>
            <a:off x="548640" y="1463040"/>
            <a:ext cx="8046720" cy="1097280"/>
          </a:xfrm>
          <a:prstGeom prst="rect">
            <a:avLst/>
          </a:prstGeom>
          <a:noFill/>
          <a:ln/>
        </p:spPr>
        <p:txBody>
          <a:bodyPr wrap="square" rtlCol="0" anchor="ctr"/>
          <a:lstStyle/>
          <a:p>
            <a:pPr indent="0" marL="0">
              <a:buNone/>
            </a:pPr>
            <a:r>
              <a:rPr lang="en-US" sz="3800" b="1" dirty="0">
                <a:solidFill>
                  <a:srgbClr val="FFFFFF"/>
                </a:solidFill>
                <a:latin typeface="Montserrat" pitchFamily="34" charset="0"/>
                <a:ea typeface="Montserrat" pitchFamily="34" charset="-122"/>
                <a:cs typeface="Montserrat" pitchFamily="34" charset="-120"/>
              </a:rPr>
              <a:t>Section Title</a:t>
            </a:r>
            <a:endParaRPr lang="en-US" sz="3800" dirty="0"/>
          </a:p>
        </p:txBody>
      </p:sp>
      <p:sp>
        <p:nvSpPr>
          <p:cNvPr id="3" name="Text 1"/>
          <p:cNvSpPr/>
          <p:nvPr/>
        </p:nvSpPr>
        <p:spPr>
          <a:xfrm>
            <a:off x="548640" y="2743200"/>
            <a:ext cx="5486400" cy="411480"/>
          </a:xfrm>
          <a:prstGeom prst="rect">
            <a:avLst/>
          </a:prstGeom>
          <a:noFill/>
          <a:ln/>
        </p:spPr>
        <p:txBody>
          <a:bodyPr wrap="square" rtlCol="0" anchor="ctr"/>
          <a:lstStyle/>
          <a:p>
            <a:pPr indent="0" marL="0">
              <a:buNone/>
            </a:pPr>
            <a:r>
              <a:rPr lang="en-US" sz="1400" dirty="0">
                <a:solidFill>
                  <a:srgbClr val="FFFFFF">
                    <a:alpha val="80000"/>
                  </a:srgbClr>
                </a:solidFill>
                <a:latin typeface="Montserrat" pitchFamily="34" charset="0"/>
                <a:ea typeface="Montserrat" pitchFamily="34" charset="-122"/>
                <a:cs typeface="Montserrat" pitchFamily="34" charset="-120"/>
              </a:rPr>
              <a:t>Brief description of the section</a:t>
            </a:r>
            <a:endParaRPr lang="en-US" sz="1400" dirty="0"/>
          </a:p>
        </p:txBody>
      </p:sp>
      <p:pic>
        <p:nvPicPr>
          <p:cNvPr id="4" name="Image 0" descr="/Users/williammasquelier/Repositories/stromy-org/Cowork/workspace/duke-strategies/brand/output/brand/logos/DukeStrategies_logo_white.png">    </p:cNvPr>
          <p:cNvPicPr>
            <a:picLocks noChangeAspect="1"/>
          </p:cNvPicPr>
          <p:nvPr/>
        </p:nvPicPr>
        <p:blipFill>
          <a:blip r:embed="rId1"/>
          <a:stretch>
            <a:fillRect/>
          </a:stretch>
        </p:blipFill>
        <p:spPr>
          <a:xfrm>
            <a:off x="7406640" y="4594860"/>
            <a:ext cx="1188720" cy="29260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22222">
              <a:alpha val="55000"/>
            </a:srgbClr>
          </a:solidFill>
          <a:ln w="12700">
            <a:solidFill>
              <a:srgbClr val="333333"/>
            </a:solidFill>
            <a:prstDash val="solid"/>
          </a:ln>
        </p:spPr>
      </p:sp>
      <p:sp>
        <p:nvSpPr>
          <p:cNvPr id="3" name="Shape 1"/>
          <p:cNvSpPr/>
          <p:nvPr/>
        </p:nvSpPr>
        <p:spPr>
          <a:xfrm>
            <a:off x="548640" y="1371600"/>
            <a:ext cx="731520" cy="54864"/>
          </a:xfrm>
          <a:prstGeom prst="rect">
            <a:avLst/>
          </a:prstGeom>
          <a:solidFill>
            <a:srgbClr val="FF7F66"/>
          </a:solidFill>
          <a:ln w="12700">
            <a:solidFill>
              <a:srgbClr val="333333"/>
            </a:solidFill>
            <a:prstDash val="solid"/>
          </a:ln>
        </p:spPr>
      </p:sp>
      <p:sp>
        <p:nvSpPr>
          <p:cNvPr id="4" name="Text 2"/>
          <p:cNvSpPr/>
          <p:nvPr/>
        </p:nvSpPr>
        <p:spPr>
          <a:xfrm>
            <a:off x="548640" y="914400"/>
            <a:ext cx="1371600" cy="457200"/>
          </a:xfrm>
          <a:prstGeom prst="rect">
            <a:avLst/>
          </a:prstGeom>
          <a:noFill/>
          <a:ln/>
        </p:spPr>
        <p:txBody>
          <a:bodyPr wrap="square" rtlCol="0" anchor="ctr"/>
          <a:lstStyle/>
          <a:p>
            <a:pPr indent="0" marL="0">
              <a:buNone/>
            </a:pPr>
            <a:r>
              <a:rPr lang="en-US" sz="1400" dirty="0">
                <a:solidFill>
                  <a:srgbClr val="FF7F66"/>
                </a:solidFill>
                <a:latin typeface="Space Mono" pitchFamily="34" charset="0"/>
                <a:ea typeface="Space Mono" pitchFamily="34" charset="-122"/>
                <a:cs typeface="Space Mono" pitchFamily="34" charset="-120"/>
              </a:rPr>
              <a:t>02</a:t>
            </a:r>
            <a:endParaRPr lang="en-US" sz="1400" dirty="0"/>
          </a:p>
        </p:txBody>
      </p:sp>
      <p:sp>
        <p:nvSpPr>
          <p:cNvPr id="5" name="Text 3"/>
          <p:cNvSpPr/>
          <p:nvPr/>
        </p:nvSpPr>
        <p:spPr>
          <a:xfrm>
            <a:off x="548640" y="1554480"/>
            <a:ext cx="8046720" cy="914400"/>
          </a:xfrm>
          <a:prstGeom prst="rect">
            <a:avLst/>
          </a:prstGeom>
          <a:noFill/>
          <a:ln/>
        </p:spPr>
        <p:txBody>
          <a:bodyPr wrap="square" rtlCol="0" anchor="ctr"/>
          <a:lstStyle/>
          <a:p>
            <a:pPr indent="0" marL="0">
              <a:buNone/>
            </a:pPr>
            <a:r>
              <a:rPr lang="en-US" sz="3600" b="1" dirty="0">
                <a:solidFill>
                  <a:srgbClr val="FFFFFF"/>
                </a:solidFill>
                <a:latin typeface="Montserrat" pitchFamily="34" charset="0"/>
                <a:ea typeface="Montserrat" pitchFamily="34" charset="-122"/>
                <a:cs typeface="Montserrat" pitchFamily="34" charset="-120"/>
              </a:rPr>
              <a:t>Section Title</a:t>
            </a:r>
            <a:endParaRPr 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22222"/>
        </a:solidFill>
      </p:bgPr>
    </p:bg>
    <p:spTree>
      <p:nvGrpSpPr>
        <p:cNvPr id="1" name=""/>
        <p:cNvGrpSpPr/>
        <p:nvPr/>
      </p:nvGrpSpPr>
      <p:grpSpPr>
        <a:xfrm>
          <a:off x="0" y="0"/>
          <a:ext cx="0" cy="0"/>
          <a:chOff x="0" y="0"/>
          <a:chExt cx="0" cy="0"/>
        </a:xfrm>
      </p:grpSpPr>
      <p:sp>
        <p:nvSpPr>
          <p:cNvPr id="2" name="Text 0"/>
          <p:cNvSpPr/>
          <p:nvPr/>
        </p:nvSpPr>
        <p:spPr>
          <a:xfrm>
            <a:off x="548640" y="731520"/>
            <a:ext cx="1828800" cy="1371600"/>
          </a:xfrm>
          <a:prstGeom prst="rect">
            <a:avLst/>
          </a:prstGeom>
          <a:noFill/>
          <a:ln/>
        </p:spPr>
        <p:txBody>
          <a:bodyPr wrap="square" rtlCol="0" anchor="ctr"/>
          <a:lstStyle/>
          <a:p>
            <a:pPr indent="0" marL="0">
              <a:buNone/>
            </a:pPr>
            <a:r>
              <a:rPr lang="en-US" sz="7200" b="1" dirty="0">
                <a:solidFill>
                  <a:srgbClr val="FF7F66"/>
                </a:solidFill>
                <a:latin typeface="Space Mono" pitchFamily="34" charset="0"/>
                <a:ea typeface="Space Mono" pitchFamily="34" charset="-122"/>
                <a:cs typeface="Space Mono" pitchFamily="34" charset="-120"/>
              </a:rPr>
              <a:t>01</a:t>
            </a:r>
            <a:endParaRPr lang="en-US" sz="7200" dirty="0"/>
          </a:p>
        </p:txBody>
      </p:sp>
      <p:sp>
        <p:nvSpPr>
          <p:cNvPr id="3" name="Shape 1"/>
          <p:cNvSpPr/>
          <p:nvPr/>
        </p:nvSpPr>
        <p:spPr>
          <a:xfrm>
            <a:off x="548640" y="2194560"/>
            <a:ext cx="548640" cy="36576"/>
          </a:xfrm>
          <a:prstGeom prst="rect">
            <a:avLst/>
          </a:prstGeom>
          <a:solidFill>
            <a:srgbClr val="FF7F66"/>
          </a:solidFill>
          <a:ln w="12700">
            <a:solidFill>
              <a:srgbClr val="333333"/>
            </a:solidFill>
            <a:prstDash val="solid"/>
          </a:ln>
        </p:spPr>
      </p:sp>
      <p:sp>
        <p:nvSpPr>
          <p:cNvPr id="4" name="Text 2"/>
          <p:cNvSpPr/>
          <p:nvPr/>
        </p:nvSpPr>
        <p:spPr>
          <a:xfrm>
            <a:off x="548640" y="2468880"/>
            <a:ext cx="8046720" cy="731520"/>
          </a:xfrm>
          <a:prstGeom prst="rect">
            <a:avLst/>
          </a:prstGeom>
          <a:noFill/>
          <a:ln/>
        </p:spPr>
        <p:txBody>
          <a:bodyPr wrap="square"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Chapter Title Goes Here</a:t>
            </a:r>
            <a:endParaRPr lang="en-US" sz="2800" dirty="0"/>
          </a:p>
        </p:txBody>
      </p:sp>
      <p:sp>
        <p:nvSpPr>
          <p:cNvPr id="5" name="Text 3"/>
          <p:cNvSpPr/>
          <p:nvPr/>
        </p:nvSpPr>
        <p:spPr>
          <a:xfrm>
            <a:off x="548640" y="3291840"/>
            <a:ext cx="5486400" cy="365760"/>
          </a:xfrm>
          <a:prstGeom prst="rect">
            <a:avLst/>
          </a:prstGeom>
          <a:noFill/>
          <a:ln/>
        </p:spPr>
        <p:txBody>
          <a:bodyPr wrap="square" rtlCol="0" anchor="ctr"/>
          <a:lstStyle/>
          <a:p>
            <a:pPr indent="0" marL="0">
              <a:buNone/>
            </a:pPr>
            <a:r>
              <a:rPr lang="en-US" sz="1300" dirty="0">
                <a:solidFill>
                  <a:srgbClr val="807F83"/>
                </a:solidFill>
                <a:latin typeface="Montserrat" pitchFamily="34" charset="0"/>
                <a:ea typeface="Montserrat" pitchFamily="34" charset="-122"/>
                <a:cs typeface="Montserrat" pitchFamily="34" charset="-120"/>
              </a:rPr>
              <a:t>A brief overview of what this chapter covers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046720" cy="548640"/>
          </a:xfrm>
          <a:prstGeom prst="rect">
            <a:avLst/>
          </a:prstGeom>
          <a:noFill/>
          <a:ln/>
        </p:spPr>
        <p:txBody>
          <a:bodyPr wrap="square" rtlCol="0" anchor="ctr"/>
          <a:lstStyle/>
          <a:p>
            <a:pPr indent="0" marL="0">
              <a:buNone/>
            </a:pPr>
            <a:r>
              <a:rPr lang="en-US" sz="2800" b="1" dirty="0">
                <a:solidFill>
                  <a:srgbClr val="222222"/>
                </a:solidFill>
                <a:latin typeface="Montserrat" pitchFamily="34" charset="0"/>
                <a:ea typeface="Montserrat" pitchFamily="34" charset="-122"/>
                <a:cs typeface="Montserrat" pitchFamily="34" charset="-120"/>
              </a:rPr>
              <a:t>Agenda</a:t>
            </a:r>
            <a:endParaRPr lang="en-US" sz="2800" dirty="0"/>
          </a:p>
        </p:txBody>
      </p:sp>
      <p:sp>
        <p:nvSpPr>
          <p:cNvPr id="3" name="Shape 1"/>
          <p:cNvSpPr/>
          <p:nvPr/>
        </p:nvSpPr>
        <p:spPr>
          <a:xfrm>
            <a:off x="548640" y="960120"/>
            <a:ext cx="914400" cy="36576"/>
          </a:xfrm>
          <a:prstGeom prst="rect">
            <a:avLst/>
          </a:prstGeom>
          <a:solidFill>
            <a:srgbClr val="FF7F66"/>
          </a:solidFill>
          <a:ln w="12700">
            <a:solidFill>
              <a:srgbClr val="333333"/>
            </a:solidFill>
            <a:prstDash val="solid"/>
          </a:ln>
        </p:spPr>
      </p:sp>
      <p:sp>
        <p:nvSpPr>
          <p:cNvPr id="4" name="Text 2"/>
          <p:cNvSpPr/>
          <p:nvPr/>
        </p:nvSpPr>
        <p:spPr>
          <a:xfrm>
            <a:off x="548640" y="1188720"/>
            <a:ext cx="8046720" cy="411480"/>
          </a:xfrm>
          <a:prstGeom prst="rect">
            <a:avLst/>
          </a:prstGeom>
          <a:noFill/>
          <a:ln/>
        </p:spPr>
        <p:txBody>
          <a:bodyPr wrap="square" rtlCol="0" anchor="ctr"/>
          <a:lstStyle/>
          <a:p>
            <a:pPr indent="0" marL="0">
              <a:buNone/>
            </a:pPr>
            <a:r>
              <a:rPr lang="en-US" sz="1400" dirty="0">
                <a:solidFill>
                  <a:srgbClr val="FF7F66"/>
                </a:solidFill>
                <a:latin typeface="Montserrat" pitchFamily="34" charset="0"/>
                <a:ea typeface="Montserrat" pitchFamily="34" charset="-122"/>
                <a:cs typeface="Montserrat" pitchFamily="34" charset="-120"/>
              </a:rPr>
              <a:t>01   Introduction &amp; Overview</a:t>
            </a:r>
            <a:endParaRPr lang="en-US" sz="1400" dirty="0"/>
          </a:p>
        </p:txBody>
      </p:sp>
      <p:sp>
        <p:nvSpPr>
          <p:cNvPr id="5" name="Text 3"/>
          <p:cNvSpPr/>
          <p:nvPr/>
        </p:nvSpPr>
        <p:spPr>
          <a:xfrm>
            <a:off x="548640" y="1691640"/>
            <a:ext cx="8046720" cy="411480"/>
          </a:xfrm>
          <a:prstGeom prst="rect">
            <a:avLst/>
          </a:prstGeom>
          <a:noFill/>
          <a:ln/>
        </p:spPr>
        <p:txBody>
          <a:bodyPr wrap="square" rtlCol="0" anchor="ctr"/>
          <a:lstStyle/>
          <a:p>
            <a:pPr indent="0" marL="0">
              <a:buNone/>
            </a:pPr>
            <a:r>
              <a:rPr lang="en-US" sz="1400" dirty="0">
                <a:solidFill>
                  <a:srgbClr val="222222"/>
                </a:solidFill>
                <a:latin typeface="Montserrat" pitchFamily="34" charset="0"/>
                <a:ea typeface="Montserrat" pitchFamily="34" charset="-122"/>
                <a:cs typeface="Montserrat" pitchFamily="34" charset="-120"/>
              </a:rPr>
              <a:t>02   Strategic Context</a:t>
            </a:r>
            <a:endParaRPr lang="en-US" sz="1400" dirty="0"/>
          </a:p>
        </p:txBody>
      </p:sp>
      <p:sp>
        <p:nvSpPr>
          <p:cNvPr id="6" name="Shape 4"/>
          <p:cNvSpPr/>
          <p:nvPr/>
        </p:nvSpPr>
        <p:spPr>
          <a:xfrm>
            <a:off x="548640" y="1691640"/>
            <a:ext cx="8046720" cy="0"/>
          </a:xfrm>
          <a:prstGeom prst="line">
            <a:avLst/>
          </a:prstGeom>
          <a:noFill/>
          <a:ln w="6350">
            <a:solidFill>
              <a:srgbClr val="DFDFE0"/>
            </a:solidFill>
            <a:prstDash val="solid"/>
          </a:ln>
        </p:spPr>
      </p:sp>
      <p:sp>
        <p:nvSpPr>
          <p:cNvPr id="7" name="Text 5"/>
          <p:cNvSpPr/>
          <p:nvPr/>
        </p:nvSpPr>
        <p:spPr>
          <a:xfrm>
            <a:off x="548640" y="2194560"/>
            <a:ext cx="8046720" cy="411480"/>
          </a:xfrm>
          <a:prstGeom prst="rect">
            <a:avLst/>
          </a:prstGeom>
          <a:noFill/>
          <a:ln/>
        </p:spPr>
        <p:txBody>
          <a:bodyPr wrap="square" rtlCol="0" anchor="ctr"/>
          <a:lstStyle/>
          <a:p>
            <a:pPr indent="0" marL="0">
              <a:buNone/>
            </a:pPr>
            <a:r>
              <a:rPr lang="en-US" sz="1400" dirty="0">
                <a:solidFill>
                  <a:srgbClr val="222222"/>
                </a:solidFill>
                <a:latin typeface="Montserrat" pitchFamily="34" charset="0"/>
                <a:ea typeface="Montserrat" pitchFamily="34" charset="-122"/>
                <a:cs typeface="Montserrat" pitchFamily="34" charset="-120"/>
              </a:rPr>
              <a:t>03   Key Findings</a:t>
            </a:r>
            <a:endParaRPr lang="en-US" sz="1400" dirty="0"/>
          </a:p>
        </p:txBody>
      </p:sp>
      <p:sp>
        <p:nvSpPr>
          <p:cNvPr id="8" name="Shape 6"/>
          <p:cNvSpPr/>
          <p:nvPr/>
        </p:nvSpPr>
        <p:spPr>
          <a:xfrm>
            <a:off x="548640" y="2194560"/>
            <a:ext cx="8046720" cy="0"/>
          </a:xfrm>
          <a:prstGeom prst="line">
            <a:avLst/>
          </a:prstGeom>
          <a:noFill/>
          <a:ln w="6350">
            <a:solidFill>
              <a:srgbClr val="DFDFE0"/>
            </a:solidFill>
            <a:prstDash val="solid"/>
          </a:ln>
        </p:spPr>
      </p:sp>
      <p:sp>
        <p:nvSpPr>
          <p:cNvPr id="9" name="Text 7"/>
          <p:cNvSpPr/>
          <p:nvPr/>
        </p:nvSpPr>
        <p:spPr>
          <a:xfrm>
            <a:off x="548640" y="2697480"/>
            <a:ext cx="8046720" cy="411480"/>
          </a:xfrm>
          <a:prstGeom prst="rect">
            <a:avLst/>
          </a:prstGeom>
          <a:noFill/>
          <a:ln/>
        </p:spPr>
        <p:txBody>
          <a:bodyPr wrap="square" rtlCol="0" anchor="ctr"/>
          <a:lstStyle/>
          <a:p>
            <a:pPr indent="0" marL="0">
              <a:buNone/>
            </a:pPr>
            <a:r>
              <a:rPr lang="en-US" sz="1400" dirty="0">
                <a:solidFill>
                  <a:srgbClr val="222222"/>
                </a:solidFill>
                <a:latin typeface="Montserrat" pitchFamily="34" charset="0"/>
                <a:ea typeface="Montserrat" pitchFamily="34" charset="-122"/>
                <a:cs typeface="Montserrat" pitchFamily="34" charset="-120"/>
              </a:rPr>
              <a:t>04   Recommendations</a:t>
            </a:r>
            <a:endParaRPr lang="en-US" sz="1400" dirty="0"/>
          </a:p>
        </p:txBody>
      </p:sp>
      <p:sp>
        <p:nvSpPr>
          <p:cNvPr id="10" name="Shape 8"/>
          <p:cNvSpPr/>
          <p:nvPr/>
        </p:nvSpPr>
        <p:spPr>
          <a:xfrm>
            <a:off x="548640" y="2697480"/>
            <a:ext cx="8046720" cy="0"/>
          </a:xfrm>
          <a:prstGeom prst="line">
            <a:avLst/>
          </a:prstGeom>
          <a:noFill/>
          <a:ln w="6350">
            <a:solidFill>
              <a:srgbClr val="DFDFE0"/>
            </a:solidFill>
            <a:prstDash val="solid"/>
          </a:ln>
        </p:spPr>
      </p:sp>
      <p:sp>
        <p:nvSpPr>
          <p:cNvPr id="11" name="Text 9"/>
          <p:cNvSpPr/>
          <p:nvPr/>
        </p:nvSpPr>
        <p:spPr>
          <a:xfrm>
            <a:off x="548640" y="3200400"/>
            <a:ext cx="8046720" cy="411480"/>
          </a:xfrm>
          <a:prstGeom prst="rect">
            <a:avLst/>
          </a:prstGeom>
          <a:noFill/>
          <a:ln/>
        </p:spPr>
        <p:txBody>
          <a:bodyPr wrap="square" rtlCol="0" anchor="ctr"/>
          <a:lstStyle/>
          <a:p>
            <a:pPr indent="0" marL="0">
              <a:buNone/>
            </a:pPr>
            <a:r>
              <a:rPr lang="en-US" sz="1400" dirty="0">
                <a:solidFill>
                  <a:srgbClr val="222222"/>
                </a:solidFill>
                <a:latin typeface="Montserrat" pitchFamily="34" charset="0"/>
                <a:ea typeface="Montserrat" pitchFamily="34" charset="-122"/>
                <a:cs typeface="Montserrat" pitchFamily="34" charset="-120"/>
              </a:rPr>
              <a:t>05   Next Steps &amp; Timeline</a:t>
            </a:r>
            <a:endParaRPr lang="en-US" sz="1400" dirty="0"/>
          </a:p>
        </p:txBody>
      </p:sp>
      <p:sp>
        <p:nvSpPr>
          <p:cNvPr id="12" name="Shape 10"/>
          <p:cNvSpPr/>
          <p:nvPr/>
        </p:nvSpPr>
        <p:spPr>
          <a:xfrm>
            <a:off x="548640" y="3200400"/>
            <a:ext cx="8046720" cy="0"/>
          </a:xfrm>
          <a:prstGeom prst="line">
            <a:avLst/>
          </a:prstGeom>
          <a:noFill/>
          <a:ln w="6350">
            <a:solidFill>
              <a:srgbClr val="DFDFE0"/>
            </a:solidFill>
            <a:prstDash val="solid"/>
          </a:ln>
        </p:spPr>
      </p:sp>
      <p:sp>
        <p:nvSpPr>
          <p:cNvPr id="13" name="Text 11"/>
          <p:cNvSpPr/>
          <p:nvPr/>
        </p:nvSpPr>
        <p:spPr>
          <a:xfrm>
            <a:off x="548640" y="3703320"/>
            <a:ext cx="8046720" cy="411480"/>
          </a:xfrm>
          <a:prstGeom prst="rect">
            <a:avLst/>
          </a:prstGeom>
          <a:noFill/>
          <a:ln/>
        </p:spPr>
        <p:txBody>
          <a:bodyPr wrap="square" rtlCol="0" anchor="ctr"/>
          <a:lstStyle/>
          <a:p>
            <a:pPr indent="0" marL="0">
              <a:buNone/>
            </a:pPr>
            <a:r>
              <a:rPr lang="en-US" sz="1400" dirty="0">
                <a:solidFill>
                  <a:srgbClr val="222222"/>
                </a:solidFill>
                <a:latin typeface="Montserrat" pitchFamily="34" charset="0"/>
                <a:ea typeface="Montserrat" pitchFamily="34" charset="-122"/>
                <a:cs typeface="Montserrat" pitchFamily="34" charset="-120"/>
              </a:rPr>
              <a:t>06   Q&amp;A</a:t>
            </a:r>
            <a:endParaRPr lang="en-US" sz="1400" dirty="0"/>
          </a:p>
        </p:txBody>
      </p:sp>
      <p:sp>
        <p:nvSpPr>
          <p:cNvPr id="14" name="Shape 12"/>
          <p:cNvSpPr/>
          <p:nvPr/>
        </p:nvSpPr>
        <p:spPr>
          <a:xfrm>
            <a:off x="548640" y="3703320"/>
            <a:ext cx="8046720" cy="0"/>
          </a:xfrm>
          <a:prstGeom prst="line">
            <a:avLst/>
          </a:prstGeom>
          <a:noFill/>
          <a:ln w="6350">
            <a:solidFill>
              <a:srgbClr val="DFDFE0"/>
            </a:solidFill>
            <a:prstDash val="solid"/>
          </a:ln>
        </p:spPr>
      </p:sp>
      <p:pic>
        <p:nvPicPr>
          <p:cNvPr id="15" name="Image 0" descr="/Users/williammasquelier/Repositories/stromy-org/Cowork/workspace/duke-strategies/brand/output/brand/logos/DukeStrategies_logo_gre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796028"/>
            <a:ext cx="822960" cy="2011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FF7F66"/>
          </a:solidFill>
          <a:ln w="12700">
            <a:solidFill>
              <a:srgbClr val="333333"/>
            </a:solidFill>
            <a:prstDash val="solid"/>
          </a:ln>
        </p:spPr>
      </p:sp>
      <p:sp>
        <p:nvSpPr>
          <p:cNvPr id="3" name="Text 1"/>
          <p:cNvSpPr/>
          <p:nvPr/>
        </p:nvSpPr>
        <p:spPr>
          <a:xfrm>
            <a:off x="731520" y="731520"/>
            <a:ext cx="3657600" cy="640080"/>
          </a:xfrm>
          <a:prstGeom prst="rect">
            <a:avLst/>
          </a:prstGeom>
          <a:noFill/>
          <a:ln/>
        </p:spPr>
        <p:txBody>
          <a:bodyPr wrap="square" rtlCol="0" anchor="ctr"/>
          <a:lstStyle/>
          <a:p>
            <a:pPr indent="0" marL="0">
              <a:buNone/>
            </a:pPr>
            <a:r>
              <a:rPr lang="en-US" sz="3200" b="1" dirty="0">
                <a:solidFill>
                  <a:srgbClr val="222222"/>
                </a:solidFill>
                <a:latin typeface="Montserrat" pitchFamily="34" charset="0"/>
                <a:ea typeface="Montserrat" pitchFamily="34" charset="-122"/>
                <a:cs typeface="Montserrat" pitchFamily="34" charset="-120"/>
              </a:rPr>
              <a:t>Welcome</a:t>
            </a:r>
            <a:endParaRPr lang="en-US" sz="3200" dirty="0"/>
          </a:p>
        </p:txBody>
      </p:sp>
      <p:sp>
        <p:nvSpPr>
          <p:cNvPr id="4" name="Text 2"/>
          <p:cNvSpPr/>
          <p:nvPr/>
        </p:nvSpPr>
        <p:spPr>
          <a:xfrm>
            <a:off x="731520" y="1554480"/>
            <a:ext cx="4572000" cy="1371600"/>
          </a:xfrm>
          <a:prstGeom prst="rect">
            <a:avLst/>
          </a:prstGeom>
          <a:noFill/>
          <a:ln/>
        </p:spPr>
        <p:txBody>
          <a:bodyPr wrap="square" rtlCol="0" anchor="ctr"/>
          <a:lstStyle/>
          <a:p>
            <a:pPr indent="0" marL="0">
              <a:lnSpc>
                <a:spcPct val="150000"/>
              </a:lnSpc>
              <a:buNone/>
            </a:pPr>
            <a:r>
              <a:rPr lang="en-US" sz="1300" dirty="0">
                <a:solidFill>
                  <a:srgbClr val="807F83"/>
                </a:solidFill>
                <a:latin typeface="Montserrat" pitchFamily="34" charset="0"/>
                <a:ea typeface="Montserrat" pitchFamily="34" charset="-122"/>
                <a:cs typeface="Montserrat" pitchFamily="34" charset="-120"/>
              </a:rPr>
              <a:t>Thank you for joining us today. This presentation outlines our strategic approach and key recommendations for the path forward.</a:t>
            </a:r>
            <a:endParaRPr lang="en-US" sz="1300" dirty="0"/>
          </a:p>
        </p:txBody>
      </p:sp>
      <p:sp>
        <p:nvSpPr>
          <p:cNvPr id="5" name="Text 3"/>
          <p:cNvSpPr/>
          <p:nvPr/>
        </p:nvSpPr>
        <p:spPr>
          <a:xfrm>
            <a:off x="731520" y="3291840"/>
            <a:ext cx="3657600" cy="914400"/>
          </a:xfrm>
          <a:prstGeom prst="rect">
            <a:avLst/>
          </a:prstGeom>
          <a:noFill/>
          <a:ln/>
        </p:spPr>
        <p:txBody>
          <a:bodyPr wrap="square" rtlCol="0" anchor="ctr"/>
          <a:lstStyle/>
          <a:p>
            <a:pPr indent="0" marL="0">
              <a:lnSpc>
                <a:spcPct val="140000"/>
              </a:lnSpc>
              <a:buNone/>
            </a:pPr>
            <a:r>
              <a:rPr lang="en-US" sz="1100" dirty="0">
                <a:solidFill>
                  <a:srgbClr val="222222"/>
                </a:solidFill>
                <a:latin typeface="Montserrat" pitchFamily="34" charset="0"/>
                <a:ea typeface="Montserrat" pitchFamily="34" charset="-122"/>
                <a:cs typeface="Montserrat" pitchFamily="34" charset="-120"/>
              </a:rPr>
              <a:t>Presented by</a:t>
            </a:r>
            <a:endParaRPr lang="en-US" sz="1100" dirty="0"/>
          </a:p>
          <a:p>
            <a:pPr indent="0" marL="0">
              <a:lnSpc>
                <a:spcPct val="140000"/>
              </a:lnSpc>
              <a:buNone/>
            </a:pPr>
            <a:r>
              <a:rPr lang="en-US" sz="1100" dirty="0">
                <a:solidFill>
                  <a:srgbClr val="222222"/>
                </a:solidFill>
                <a:latin typeface="Montserrat" pitchFamily="34" charset="0"/>
                <a:ea typeface="Montserrat" pitchFamily="34" charset="-122"/>
                <a:cs typeface="Montserrat" pitchFamily="34" charset="-120"/>
              </a:rPr>
              <a:t>Your Name</a:t>
            </a:r>
            <a:endParaRPr lang="en-US" sz="1100" dirty="0"/>
          </a:p>
          <a:p>
            <a:pPr indent="0" marL="0">
              <a:lnSpc>
                <a:spcPct val="140000"/>
              </a:lnSpc>
              <a:buNone/>
            </a:pPr>
            <a:r>
              <a:rPr lang="en-US" sz="1100" dirty="0">
                <a:solidFill>
                  <a:srgbClr val="222222"/>
                </a:solidFill>
                <a:latin typeface="Montserrat" pitchFamily="34" charset="0"/>
                <a:ea typeface="Montserrat" pitchFamily="34" charset="-122"/>
                <a:cs typeface="Montserrat" pitchFamily="34" charset="-120"/>
              </a:rPr>
              <a:t>Senior Consultant</a:t>
            </a:r>
            <a:endParaRPr lang="en-US" sz="1100" dirty="0"/>
          </a:p>
        </p:txBody>
      </p:sp>
      <p:pic>
        <p:nvPicPr>
          <p:cNvPr id="6" name="Image 0" descr="/Users/williammasquelier/Repositories/stromy-org/Cowork/workspace/duke-strategies/brand/output/brand/assets/images/slides/brooklyn-bridge-bw-16x9.jpg">    </p:cNvPr>
          <p:cNvPicPr>
            <a:picLocks noChangeAspect="1"/>
          </p:cNvPicPr>
          <p:nvPr/>
        </p:nvPicPr>
        <p:blipFill>
          <a:blip r:embed="rId1"/>
          <a:stretch>
            <a:fillRect/>
          </a:stretch>
        </p:blipFill>
        <p:spPr>
          <a:xfrm>
            <a:off x="5029200" y="0"/>
            <a:ext cx="4114800" cy="5143500"/>
          </a:xfrm>
          <a:prstGeom prst="rect">
            <a:avLst/>
          </a:prstGeom>
        </p:spPr>
      </p:pic>
      <p:sp>
        <p:nvSpPr>
          <p:cNvPr id="7" name="Shape 4"/>
          <p:cNvSpPr/>
          <p:nvPr/>
        </p:nvSpPr>
        <p:spPr>
          <a:xfrm>
            <a:off x="5029200" y="0"/>
            <a:ext cx="4114800" cy="5143500"/>
          </a:xfrm>
          <a:prstGeom prst="rect">
            <a:avLst/>
          </a:prstGeom>
          <a:solidFill>
            <a:srgbClr val="FF7F66">
              <a:alpha val="45000"/>
            </a:srgbClr>
          </a:solidFill>
          <a:ln w="12700">
            <a:solidFill>
              <a:srgbClr val="333333"/>
            </a:solidFill>
            <a:prstDash val="solid"/>
          </a:ln>
        </p:spPr>
      </p:sp>
      <p:pic>
        <p:nvPicPr>
          <p:cNvPr id="8" name="Image 1" descr="/Users/williammasquelier/Repositories/stromy-org/Cowork/workspace/duke-strategies/brand/output/brand/logos/DukeStrategies_logo_grey.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8640" y="4796028"/>
            <a:ext cx="822960" cy="20116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731520" cy="36576"/>
          </a:xfrm>
          <a:prstGeom prst="rect">
            <a:avLst/>
          </a:prstGeom>
          <a:solidFill>
            <a:srgbClr val="FF7F66"/>
          </a:solidFill>
          <a:ln w="12700">
            <a:solidFill>
              <a:srgbClr val="333333"/>
            </a:solidFill>
            <a:prstDash val="solid"/>
          </a:ln>
        </p:spPr>
      </p:sp>
      <p:sp>
        <p:nvSpPr>
          <p:cNvPr id="3" name="Text 1"/>
          <p:cNvSpPr/>
          <p:nvPr/>
        </p:nvSpPr>
        <p:spPr>
          <a:xfrm>
            <a:off x="548640" y="502920"/>
            <a:ext cx="8046720" cy="548640"/>
          </a:xfrm>
          <a:prstGeom prst="rect">
            <a:avLst/>
          </a:prstGeom>
          <a:noFill/>
          <a:ln/>
        </p:spPr>
        <p:txBody>
          <a:bodyPr wrap="square" rtlCol="0" anchor="ctr"/>
          <a:lstStyle/>
          <a:p>
            <a:pPr indent="0" marL="0">
              <a:buNone/>
            </a:pPr>
            <a:r>
              <a:rPr lang="en-US" sz="2400" b="1" dirty="0">
                <a:solidFill>
                  <a:srgbClr val="222222"/>
                </a:solidFill>
                <a:latin typeface="Montserrat" pitchFamily="34" charset="0"/>
                <a:ea typeface="Montserrat" pitchFamily="34" charset="-122"/>
                <a:cs typeface="Montserrat" pitchFamily="34" charset="-120"/>
              </a:rPr>
              <a:t>Content Heading</a:t>
            </a:r>
            <a:endParaRPr lang="en-US" sz="2400" dirty="0"/>
          </a:p>
        </p:txBody>
      </p:sp>
      <p:sp>
        <p:nvSpPr>
          <p:cNvPr id="4" name="Text 2"/>
          <p:cNvSpPr/>
          <p:nvPr/>
        </p:nvSpPr>
        <p:spPr>
          <a:xfrm>
            <a:off x="548640" y="1188720"/>
            <a:ext cx="8046720" cy="2926080"/>
          </a:xfrm>
          <a:prstGeom prst="rect">
            <a:avLst/>
          </a:prstGeom>
          <a:noFill/>
          <a:ln/>
        </p:spPr>
        <p:txBody>
          <a:bodyPr wrap="square" rtlCol="0" anchor="t"/>
          <a:lstStyle/>
          <a:p>
            <a:pPr indent="0" marL="0">
              <a:lnSpc>
                <a:spcPct val="150000"/>
              </a:lnSpc>
              <a:buNone/>
            </a:pPr>
            <a:r>
              <a:rPr lang="en-US" sz="1200" dirty="0">
                <a:solidFill>
                  <a:srgbClr val="807F83"/>
                </a:solidFill>
                <a:latin typeface="Montserrat" pitchFamily="34" charset="0"/>
                <a:ea typeface="Montserrat" pitchFamily="34" charset="-122"/>
                <a:cs typeface="Montserrat" pitchFamily="34" charset="-120"/>
              </a:rPr>
              <a:t>Lorem ipsum dolor sit amet, consectetur adipiscing elit. Sed do eiusmod tempor incididunt ut labore et dolore magna aliqua. Ut enim ad minim veniam, quis nostrud exercitation ullamco laboris.</a:t>
            </a:r>
            <a:endParaRPr lang="en-US" sz="1200" dirty="0"/>
          </a:p>
          <a:p>
            <a:pPr indent="0" marL="0">
              <a:lnSpc>
                <a:spcPct val="150000"/>
              </a:lnSpc>
              <a:buNone/>
            </a:pPr>
            <a:endParaRPr lang="en-US" sz="1200" dirty="0"/>
          </a:p>
          <a:p>
            <a:pPr indent="0" marL="0">
              <a:lnSpc>
                <a:spcPct val="150000"/>
              </a:lnSpc>
              <a:buNone/>
            </a:pPr>
            <a:r>
              <a:rPr lang="en-US" sz="1200" dirty="0">
                <a:solidFill>
                  <a:srgbClr val="807F83"/>
                </a:solidFill>
                <a:latin typeface="Montserrat" pitchFamily="34" charset="0"/>
                <a:ea typeface="Montserrat" pitchFamily="34" charset="-122"/>
                <a:cs typeface="Montserrat" pitchFamily="34" charset="-120"/>
              </a:rPr>
              <a:t>Duis aute irure dolor in reprehenderit in voluptate velit esse cillum dolore eu fugiat nulla pariatur. Excepteur sint occaecat cupidatat non proident.</a:t>
            </a:r>
            <a:endParaRPr lang="en-US" sz="1200" dirty="0"/>
          </a:p>
        </p:txBody>
      </p:sp>
      <p:pic>
        <p:nvPicPr>
          <p:cNvPr id="5" name="Image 0" descr="/Users/williammasquelier/Repositories/stromy-org/Cowork/workspace/duke-strategies/brand/output/brand/logos/DukeStrategies_logo_gre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796028"/>
            <a:ext cx="822960" cy="201168"/>
          </a:xfrm>
          <a:prstGeom prst="rect">
            <a:avLst/>
          </a:prstGeom>
        </p:spPr>
      </p:pic>
      <p:sp>
        <p:nvSpPr>
          <p:cNvPr id="6" name="Text 3"/>
          <p:cNvSpPr/>
          <p:nvPr/>
        </p:nvSpPr>
        <p:spPr>
          <a:xfrm>
            <a:off x="8229600" y="4823460"/>
            <a:ext cx="548640" cy="228600"/>
          </a:xfrm>
          <a:prstGeom prst="rect">
            <a:avLst/>
          </a:prstGeom>
          <a:noFill/>
          <a:ln/>
        </p:spPr>
        <p:txBody>
          <a:bodyPr wrap="square" rtlCol="0"/>
          <a:lstStyle/>
          <a:p>
            <a:pPr algn="r" indent="0" marL="0">
              <a:buNone/>
            </a:pPr>
            <a:r>
              <a:rPr lang="en-US" sz="800" dirty="0">
                <a:solidFill>
                  <a:srgbClr val="807F83"/>
                </a:solidFill>
                <a:latin typeface="Space Mono" pitchFamily="34" charset="0"/>
                <a:ea typeface="Space Mono" pitchFamily="34" charset="-122"/>
                <a:cs typeface="Space Mono" pitchFamily="34" charset="-120"/>
              </a:rPr>
              <a:t>slideNumber</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731520" cy="36576"/>
          </a:xfrm>
          <a:prstGeom prst="rect">
            <a:avLst/>
          </a:prstGeom>
          <a:solidFill>
            <a:srgbClr val="FF7F66"/>
          </a:solidFill>
          <a:ln w="12700">
            <a:solidFill>
              <a:srgbClr val="333333"/>
            </a:solidFill>
            <a:prstDash val="solid"/>
          </a:ln>
        </p:spPr>
      </p:sp>
      <p:sp>
        <p:nvSpPr>
          <p:cNvPr id="3" name="Text 1"/>
          <p:cNvSpPr/>
          <p:nvPr/>
        </p:nvSpPr>
        <p:spPr>
          <a:xfrm>
            <a:off x="548640" y="502920"/>
            <a:ext cx="8046720" cy="548640"/>
          </a:xfrm>
          <a:prstGeom prst="rect">
            <a:avLst/>
          </a:prstGeom>
          <a:noFill/>
          <a:ln/>
        </p:spPr>
        <p:txBody>
          <a:bodyPr wrap="square" rtlCol="0" anchor="ctr"/>
          <a:lstStyle/>
          <a:p>
            <a:pPr indent="0" marL="0">
              <a:buNone/>
            </a:pPr>
            <a:r>
              <a:rPr lang="en-US" sz="2400" b="1" dirty="0">
                <a:solidFill>
                  <a:srgbClr val="222222"/>
                </a:solidFill>
                <a:latin typeface="Montserrat" pitchFamily="34" charset="0"/>
                <a:ea typeface="Montserrat" pitchFamily="34" charset="-122"/>
                <a:cs typeface="Montserrat" pitchFamily="34" charset="-120"/>
              </a:rPr>
              <a:t>Two-Column Layout</a:t>
            </a:r>
            <a:endParaRPr lang="en-US" sz="2400" dirty="0"/>
          </a:p>
        </p:txBody>
      </p:sp>
      <p:sp>
        <p:nvSpPr>
          <p:cNvPr id="4" name="Text 2"/>
          <p:cNvSpPr/>
          <p:nvPr/>
        </p:nvSpPr>
        <p:spPr>
          <a:xfrm>
            <a:off x="548640" y="1280160"/>
            <a:ext cx="3840480" cy="2743200"/>
          </a:xfrm>
          <a:prstGeom prst="rect">
            <a:avLst/>
          </a:prstGeom>
          <a:noFill/>
          <a:ln/>
        </p:spPr>
        <p:txBody>
          <a:bodyPr wrap="square" rtlCol="0" anchor="t"/>
          <a:lstStyle/>
          <a:p>
            <a:pPr indent="0" marL="0">
              <a:lnSpc>
                <a:spcPct val="150000"/>
              </a:lnSpc>
              <a:buNone/>
            </a:pPr>
            <a:r>
              <a:rPr lang="en-US" sz="1100" dirty="0">
                <a:solidFill>
                  <a:srgbClr val="807F83"/>
                </a:solidFill>
                <a:latin typeface="Montserrat" pitchFamily="34" charset="0"/>
                <a:ea typeface="Montserrat" pitchFamily="34" charset="-122"/>
                <a:cs typeface="Montserrat" pitchFamily="34" charset="-120"/>
              </a:rPr>
              <a:t>Left column content goes here. This is useful for comparing two topics or presenting related information side by side.</a:t>
            </a:r>
            <a:endParaRPr lang="en-US" sz="1100" dirty="0"/>
          </a:p>
        </p:txBody>
      </p:sp>
      <p:sp>
        <p:nvSpPr>
          <p:cNvPr id="5" name="Text 3"/>
          <p:cNvSpPr/>
          <p:nvPr/>
        </p:nvSpPr>
        <p:spPr>
          <a:xfrm>
            <a:off x="4754880" y="1280160"/>
            <a:ext cx="3840480" cy="2743200"/>
          </a:xfrm>
          <a:prstGeom prst="rect">
            <a:avLst/>
          </a:prstGeom>
          <a:noFill/>
          <a:ln/>
        </p:spPr>
        <p:txBody>
          <a:bodyPr wrap="square" rtlCol="0" anchor="t"/>
          <a:lstStyle/>
          <a:p>
            <a:pPr indent="0" marL="0">
              <a:lnSpc>
                <a:spcPct val="150000"/>
              </a:lnSpc>
              <a:buNone/>
            </a:pPr>
            <a:r>
              <a:rPr lang="en-US" sz="1100" dirty="0">
                <a:solidFill>
                  <a:srgbClr val="807F83"/>
                </a:solidFill>
                <a:latin typeface="Montserrat" pitchFamily="34" charset="0"/>
                <a:ea typeface="Montserrat" pitchFamily="34" charset="-122"/>
                <a:cs typeface="Montserrat" pitchFamily="34" charset="-120"/>
              </a:rPr>
              <a:t>Right column content goes here. Balance the text across both columns for a clean, professional appearance.</a:t>
            </a:r>
            <a:endParaRPr lang="en-US" sz="1100" dirty="0"/>
          </a:p>
        </p:txBody>
      </p:sp>
      <p:sp>
        <p:nvSpPr>
          <p:cNvPr id="6" name="Shape 4"/>
          <p:cNvSpPr/>
          <p:nvPr/>
        </p:nvSpPr>
        <p:spPr>
          <a:xfrm>
            <a:off x="4572000" y="1280160"/>
            <a:ext cx="0" cy="2286000"/>
          </a:xfrm>
          <a:prstGeom prst="line">
            <a:avLst/>
          </a:prstGeom>
          <a:noFill/>
          <a:ln w="10160">
            <a:solidFill>
              <a:srgbClr val="DFDFE0"/>
            </a:solidFill>
            <a:prstDash val="solid"/>
          </a:ln>
        </p:spPr>
      </p:sp>
      <p:pic>
        <p:nvPicPr>
          <p:cNvPr id="7" name="Image 0" descr="/Users/williammasquelier/Repositories/stromy-org/Cowork/workspace/duke-strategies/brand/output/brand/logos/DukeStrategies_logo_gre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796028"/>
            <a:ext cx="822960" cy="201168"/>
          </a:xfrm>
          <a:prstGeom prst="rect">
            <a:avLst/>
          </a:prstGeom>
        </p:spPr>
      </p:pic>
      <p:sp>
        <p:nvSpPr>
          <p:cNvPr id="8" name="Text 5"/>
          <p:cNvSpPr/>
          <p:nvPr/>
        </p:nvSpPr>
        <p:spPr>
          <a:xfrm>
            <a:off x="8229600" y="4823460"/>
            <a:ext cx="548640" cy="228600"/>
          </a:xfrm>
          <a:prstGeom prst="rect">
            <a:avLst/>
          </a:prstGeom>
          <a:noFill/>
          <a:ln/>
        </p:spPr>
        <p:txBody>
          <a:bodyPr wrap="square" rtlCol="0"/>
          <a:lstStyle/>
          <a:p>
            <a:pPr algn="r" indent="0" marL="0">
              <a:buNone/>
            </a:pPr>
            <a:r>
              <a:rPr lang="en-US" sz="800" dirty="0">
                <a:solidFill>
                  <a:srgbClr val="807F83"/>
                </a:solidFill>
                <a:latin typeface="Space Mono" pitchFamily="34" charset="0"/>
                <a:ea typeface="Space Mono" pitchFamily="34" charset="-122"/>
                <a:cs typeface="Space Mono" pitchFamily="34" charset="-120"/>
              </a:rPr>
              <a:t>slideNumber</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731520" cy="36576"/>
          </a:xfrm>
          <a:prstGeom prst="rect">
            <a:avLst/>
          </a:prstGeom>
          <a:solidFill>
            <a:srgbClr val="FF7F66"/>
          </a:solidFill>
          <a:ln w="12700">
            <a:solidFill>
              <a:srgbClr val="333333"/>
            </a:solidFill>
            <a:prstDash val="solid"/>
          </a:ln>
        </p:spPr>
      </p:sp>
      <p:sp>
        <p:nvSpPr>
          <p:cNvPr id="3" name="Text 1"/>
          <p:cNvSpPr/>
          <p:nvPr/>
        </p:nvSpPr>
        <p:spPr>
          <a:xfrm>
            <a:off x="548640" y="502920"/>
            <a:ext cx="8046720" cy="548640"/>
          </a:xfrm>
          <a:prstGeom prst="rect">
            <a:avLst/>
          </a:prstGeom>
          <a:noFill/>
          <a:ln/>
        </p:spPr>
        <p:txBody>
          <a:bodyPr wrap="square" rtlCol="0" anchor="ctr"/>
          <a:lstStyle/>
          <a:p>
            <a:pPr indent="0" marL="0">
              <a:buNone/>
            </a:pPr>
            <a:r>
              <a:rPr lang="en-US" sz="2400" b="1" dirty="0">
                <a:solidFill>
                  <a:srgbClr val="222222"/>
                </a:solidFill>
                <a:latin typeface="Montserrat" pitchFamily="34" charset="0"/>
                <a:ea typeface="Montserrat" pitchFamily="34" charset="-122"/>
                <a:cs typeface="Montserrat" pitchFamily="34" charset="-120"/>
              </a:rPr>
              <a:t>Three Columns</a:t>
            </a:r>
            <a:endParaRPr lang="en-US" sz="2400" dirty="0"/>
          </a:p>
        </p:txBody>
      </p:sp>
      <p:sp>
        <p:nvSpPr>
          <p:cNvPr id="4" name="Shape 2"/>
          <p:cNvSpPr/>
          <p:nvPr/>
        </p:nvSpPr>
        <p:spPr>
          <a:xfrm>
            <a:off x="548640" y="1234440"/>
            <a:ext cx="457200" cy="36576"/>
          </a:xfrm>
          <a:prstGeom prst="rect">
            <a:avLst/>
          </a:prstGeom>
          <a:solidFill>
            <a:srgbClr val="FF7F66"/>
          </a:solidFill>
          <a:ln w="12700">
            <a:solidFill>
              <a:srgbClr val="333333"/>
            </a:solidFill>
            <a:prstDash val="solid"/>
          </a:ln>
        </p:spPr>
      </p:sp>
      <p:sp>
        <p:nvSpPr>
          <p:cNvPr id="5" name="Text 3"/>
          <p:cNvSpPr/>
          <p:nvPr/>
        </p:nvSpPr>
        <p:spPr>
          <a:xfrm>
            <a:off x="548640" y="1371600"/>
            <a:ext cx="2499360" cy="365760"/>
          </a:xfrm>
          <a:prstGeom prst="rect">
            <a:avLst/>
          </a:prstGeom>
          <a:noFill/>
          <a:ln/>
        </p:spPr>
        <p:txBody>
          <a:bodyPr wrap="square" rtlCol="0" anchor="ctr"/>
          <a:lstStyle/>
          <a:p>
            <a:pPr indent="0" marL="0">
              <a:buNone/>
            </a:pPr>
            <a:r>
              <a:rPr lang="en-US" sz="1400" b="1" dirty="0">
                <a:solidFill>
                  <a:srgbClr val="222222"/>
                </a:solidFill>
                <a:latin typeface="Montserrat" pitchFamily="34" charset="0"/>
                <a:ea typeface="Montserrat" pitchFamily="34" charset="-122"/>
                <a:cs typeface="Montserrat" pitchFamily="34" charset="-120"/>
              </a:rPr>
              <a:t>Column One</a:t>
            </a:r>
            <a:endParaRPr lang="en-US" sz="1400" dirty="0"/>
          </a:p>
        </p:txBody>
      </p:sp>
      <p:sp>
        <p:nvSpPr>
          <p:cNvPr id="6" name="Text 4"/>
          <p:cNvSpPr/>
          <p:nvPr/>
        </p:nvSpPr>
        <p:spPr>
          <a:xfrm>
            <a:off x="548640" y="1828800"/>
            <a:ext cx="2499360" cy="2011680"/>
          </a:xfrm>
          <a:prstGeom prst="rect">
            <a:avLst/>
          </a:prstGeom>
          <a:noFill/>
          <a:ln/>
        </p:spPr>
        <p:txBody>
          <a:bodyPr wrap="square" rtlCol="0" anchor="t"/>
          <a:lstStyle/>
          <a:p>
            <a:pPr indent="0" marL="0">
              <a:lnSpc>
                <a:spcPct val="150000"/>
              </a:lnSpc>
              <a:buNone/>
            </a:pPr>
            <a:r>
              <a:rPr lang="en-US" sz="1000" dirty="0">
                <a:solidFill>
                  <a:srgbClr val="807F83"/>
                </a:solidFill>
                <a:latin typeface="Montserrat" pitchFamily="34" charset="0"/>
                <a:ea typeface="Montserrat" pitchFamily="34" charset="-122"/>
                <a:cs typeface="Montserrat" pitchFamily="34" charset="-120"/>
              </a:rPr>
              <a:t>Supporting text for this column. Add detail and context here for the reader.</a:t>
            </a:r>
            <a:endParaRPr lang="en-US" sz="1000" dirty="0"/>
          </a:p>
        </p:txBody>
      </p:sp>
      <p:sp>
        <p:nvSpPr>
          <p:cNvPr id="7" name="Shape 5"/>
          <p:cNvSpPr/>
          <p:nvPr/>
        </p:nvSpPr>
        <p:spPr>
          <a:xfrm>
            <a:off x="3322320" y="1234440"/>
            <a:ext cx="457200" cy="36576"/>
          </a:xfrm>
          <a:prstGeom prst="rect">
            <a:avLst/>
          </a:prstGeom>
          <a:solidFill>
            <a:srgbClr val="FF7F66"/>
          </a:solidFill>
          <a:ln w="12700">
            <a:solidFill>
              <a:srgbClr val="333333"/>
            </a:solidFill>
            <a:prstDash val="solid"/>
          </a:ln>
        </p:spPr>
      </p:sp>
      <p:sp>
        <p:nvSpPr>
          <p:cNvPr id="8" name="Text 6"/>
          <p:cNvSpPr/>
          <p:nvPr/>
        </p:nvSpPr>
        <p:spPr>
          <a:xfrm>
            <a:off x="3322320" y="1371600"/>
            <a:ext cx="2499360" cy="365760"/>
          </a:xfrm>
          <a:prstGeom prst="rect">
            <a:avLst/>
          </a:prstGeom>
          <a:noFill/>
          <a:ln/>
        </p:spPr>
        <p:txBody>
          <a:bodyPr wrap="square" rtlCol="0" anchor="ctr"/>
          <a:lstStyle/>
          <a:p>
            <a:pPr indent="0" marL="0">
              <a:buNone/>
            </a:pPr>
            <a:r>
              <a:rPr lang="en-US" sz="1400" b="1" dirty="0">
                <a:solidFill>
                  <a:srgbClr val="222222"/>
                </a:solidFill>
                <a:latin typeface="Montserrat" pitchFamily="34" charset="0"/>
                <a:ea typeface="Montserrat" pitchFamily="34" charset="-122"/>
                <a:cs typeface="Montserrat" pitchFamily="34" charset="-120"/>
              </a:rPr>
              <a:t>Column Two</a:t>
            </a:r>
            <a:endParaRPr lang="en-US" sz="1400" dirty="0"/>
          </a:p>
        </p:txBody>
      </p:sp>
      <p:sp>
        <p:nvSpPr>
          <p:cNvPr id="9" name="Text 7"/>
          <p:cNvSpPr/>
          <p:nvPr/>
        </p:nvSpPr>
        <p:spPr>
          <a:xfrm>
            <a:off x="3322320" y="1828800"/>
            <a:ext cx="2499360" cy="2011680"/>
          </a:xfrm>
          <a:prstGeom prst="rect">
            <a:avLst/>
          </a:prstGeom>
          <a:noFill/>
          <a:ln/>
        </p:spPr>
        <p:txBody>
          <a:bodyPr wrap="square" rtlCol="0" anchor="t"/>
          <a:lstStyle/>
          <a:p>
            <a:pPr indent="0" marL="0">
              <a:lnSpc>
                <a:spcPct val="150000"/>
              </a:lnSpc>
              <a:buNone/>
            </a:pPr>
            <a:r>
              <a:rPr lang="en-US" sz="1000" dirty="0">
                <a:solidFill>
                  <a:srgbClr val="807F83"/>
                </a:solidFill>
                <a:latin typeface="Montserrat" pitchFamily="34" charset="0"/>
                <a:ea typeface="Montserrat" pitchFamily="34" charset="-122"/>
                <a:cs typeface="Montserrat" pitchFamily="34" charset="-120"/>
              </a:rPr>
              <a:t>Supporting text for this column. Add detail and context here for the reader.</a:t>
            </a:r>
            <a:endParaRPr lang="en-US" sz="1000" dirty="0"/>
          </a:p>
        </p:txBody>
      </p:sp>
      <p:sp>
        <p:nvSpPr>
          <p:cNvPr id="10" name="Shape 8"/>
          <p:cNvSpPr/>
          <p:nvPr/>
        </p:nvSpPr>
        <p:spPr>
          <a:xfrm>
            <a:off x="6096000" y="1234440"/>
            <a:ext cx="457200" cy="36576"/>
          </a:xfrm>
          <a:prstGeom prst="rect">
            <a:avLst/>
          </a:prstGeom>
          <a:solidFill>
            <a:srgbClr val="FF7F66"/>
          </a:solidFill>
          <a:ln w="12700">
            <a:solidFill>
              <a:srgbClr val="333333"/>
            </a:solidFill>
            <a:prstDash val="solid"/>
          </a:ln>
        </p:spPr>
      </p:sp>
      <p:sp>
        <p:nvSpPr>
          <p:cNvPr id="11" name="Text 9"/>
          <p:cNvSpPr/>
          <p:nvPr/>
        </p:nvSpPr>
        <p:spPr>
          <a:xfrm>
            <a:off x="6096000" y="1371600"/>
            <a:ext cx="2499360" cy="365760"/>
          </a:xfrm>
          <a:prstGeom prst="rect">
            <a:avLst/>
          </a:prstGeom>
          <a:noFill/>
          <a:ln/>
        </p:spPr>
        <p:txBody>
          <a:bodyPr wrap="square" rtlCol="0" anchor="ctr"/>
          <a:lstStyle/>
          <a:p>
            <a:pPr indent="0" marL="0">
              <a:buNone/>
            </a:pPr>
            <a:r>
              <a:rPr lang="en-US" sz="1400" b="1" dirty="0">
                <a:solidFill>
                  <a:srgbClr val="222222"/>
                </a:solidFill>
                <a:latin typeface="Montserrat" pitchFamily="34" charset="0"/>
                <a:ea typeface="Montserrat" pitchFamily="34" charset="-122"/>
                <a:cs typeface="Montserrat" pitchFamily="34" charset="-120"/>
              </a:rPr>
              <a:t>Column Three</a:t>
            </a:r>
            <a:endParaRPr lang="en-US" sz="1400" dirty="0"/>
          </a:p>
        </p:txBody>
      </p:sp>
      <p:sp>
        <p:nvSpPr>
          <p:cNvPr id="12" name="Text 10"/>
          <p:cNvSpPr/>
          <p:nvPr/>
        </p:nvSpPr>
        <p:spPr>
          <a:xfrm>
            <a:off x="6096000" y="1828800"/>
            <a:ext cx="2499360" cy="2011680"/>
          </a:xfrm>
          <a:prstGeom prst="rect">
            <a:avLst/>
          </a:prstGeom>
          <a:noFill/>
          <a:ln/>
        </p:spPr>
        <p:txBody>
          <a:bodyPr wrap="square" rtlCol="0" anchor="t"/>
          <a:lstStyle/>
          <a:p>
            <a:pPr indent="0" marL="0">
              <a:lnSpc>
                <a:spcPct val="150000"/>
              </a:lnSpc>
              <a:buNone/>
            </a:pPr>
            <a:r>
              <a:rPr lang="en-US" sz="1000" dirty="0">
                <a:solidFill>
                  <a:srgbClr val="807F83"/>
                </a:solidFill>
                <a:latin typeface="Montserrat" pitchFamily="34" charset="0"/>
                <a:ea typeface="Montserrat" pitchFamily="34" charset="-122"/>
                <a:cs typeface="Montserrat" pitchFamily="34" charset="-120"/>
              </a:rPr>
              <a:t>Supporting text for this column. Add detail and context here for the reader.</a:t>
            </a:r>
            <a:endParaRPr lang="en-US" sz="1000" dirty="0"/>
          </a:p>
        </p:txBody>
      </p:sp>
      <p:pic>
        <p:nvPicPr>
          <p:cNvPr id="13" name="Image 0" descr="/Users/williammasquelier/Repositories/stromy-org/Cowork/workspace/duke-strategies/brand/output/brand/logos/DukeStrategies_logo_gre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796028"/>
            <a:ext cx="822960" cy="201168"/>
          </a:xfrm>
          <a:prstGeom prst="rect">
            <a:avLst/>
          </a:prstGeom>
        </p:spPr>
      </p:pic>
      <p:sp>
        <p:nvSpPr>
          <p:cNvPr id="14" name="Text 11"/>
          <p:cNvSpPr/>
          <p:nvPr/>
        </p:nvSpPr>
        <p:spPr>
          <a:xfrm>
            <a:off x="8229600" y="4823460"/>
            <a:ext cx="548640" cy="228600"/>
          </a:xfrm>
          <a:prstGeom prst="rect">
            <a:avLst/>
          </a:prstGeom>
          <a:noFill/>
          <a:ln/>
        </p:spPr>
        <p:txBody>
          <a:bodyPr wrap="square" rtlCol="0"/>
          <a:lstStyle/>
          <a:p>
            <a:pPr algn="r" indent="0" marL="0">
              <a:buNone/>
            </a:pPr>
            <a:r>
              <a:rPr lang="en-US" sz="800" dirty="0">
                <a:solidFill>
                  <a:srgbClr val="807F83"/>
                </a:solidFill>
                <a:latin typeface="Space Mono" pitchFamily="34" charset="0"/>
                <a:ea typeface="Space Mono" pitchFamily="34" charset="-122"/>
                <a:cs typeface="Space Mono" pitchFamily="34" charset="-120"/>
              </a:rPr>
              <a:t>slideNumber</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731520" cy="36576"/>
          </a:xfrm>
          <a:prstGeom prst="rect">
            <a:avLst/>
          </a:prstGeom>
          <a:solidFill>
            <a:srgbClr val="FF7F66"/>
          </a:solidFill>
          <a:ln w="12700">
            <a:solidFill>
              <a:srgbClr val="333333"/>
            </a:solidFill>
            <a:prstDash val="solid"/>
          </a:ln>
        </p:spPr>
      </p:sp>
      <p:sp>
        <p:nvSpPr>
          <p:cNvPr id="3" name="Text 1"/>
          <p:cNvSpPr/>
          <p:nvPr/>
        </p:nvSpPr>
        <p:spPr>
          <a:xfrm>
            <a:off x="548640" y="502920"/>
            <a:ext cx="8046720" cy="548640"/>
          </a:xfrm>
          <a:prstGeom prst="rect">
            <a:avLst/>
          </a:prstGeom>
          <a:noFill/>
          <a:ln/>
        </p:spPr>
        <p:txBody>
          <a:bodyPr wrap="square" rtlCol="0" anchor="ctr"/>
          <a:lstStyle/>
          <a:p>
            <a:pPr indent="0" marL="0">
              <a:buNone/>
            </a:pPr>
            <a:r>
              <a:rPr lang="en-US" sz="2400" b="1" dirty="0">
                <a:solidFill>
                  <a:srgbClr val="222222"/>
                </a:solidFill>
                <a:latin typeface="Montserrat" pitchFamily="34" charset="0"/>
                <a:ea typeface="Montserrat" pitchFamily="34" charset="-122"/>
                <a:cs typeface="Montserrat" pitchFamily="34" charset="-120"/>
              </a:rPr>
              <a:t>Key Points</a:t>
            </a:r>
            <a:endParaRPr lang="en-US" sz="2400" dirty="0"/>
          </a:p>
        </p:txBody>
      </p:sp>
      <p:sp>
        <p:nvSpPr>
          <p:cNvPr id="4" name="Text 2"/>
          <p:cNvSpPr/>
          <p:nvPr/>
        </p:nvSpPr>
        <p:spPr>
          <a:xfrm>
            <a:off x="548640" y="1188720"/>
            <a:ext cx="8046720" cy="3200400"/>
          </a:xfrm>
          <a:prstGeom prst="rect">
            <a:avLst/>
          </a:prstGeom>
          <a:noFill/>
          <a:ln/>
        </p:spPr>
        <p:txBody>
          <a:bodyPr wrap="square" rtlCol="0" anchor="t"/>
          <a:lstStyle/>
          <a:p>
            <a:pPr marL="342900" indent="-342900">
              <a:lnSpc>
                <a:spcPct val="160000"/>
              </a:lnSpc>
              <a:buSzPct val="100000"/>
              <a:buChar char="•"/>
            </a:pPr>
            <a:r>
              <a:rPr lang="en-US" sz="1200" dirty="0">
                <a:solidFill>
                  <a:srgbClr val="807F83"/>
                </a:solidFill>
                <a:latin typeface="Montserrat" pitchFamily="34" charset="0"/>
                <a:ea typeface="Montserrat" pitchFamily="34" charset="-122"/>
                <a:cs typeface="Montserrat" pitchFamily="34" charset="-120"/>
              </a:rPr>
              <a:t>First key point with supporting detail</a:t>
            </a:r>
            <a:endParaRPr lang="en-US" sz="1200" dirty="0"/>
          </a:p>
          <a:p>
            <a:pPr marL="342900" indent="-342900">
              <a:lnSpc>
                <a:spcPct val="160000"/>
              </a:lnSpc>
              <a:buSzPct val="100000"/>
              <a:buChar char="•"/>
            </a:pPr>
            <a:r>
              <a:rPr lang="en-US" sz="1200" dirty="0">
                <a:solidFill>
                  <a:srgbClr val="807F83"/>
                </a:solidFill>
                <a:latin typeface="Montserrat" pitchFamily="34" charset="0"/>
                <a:ea typeface="Montserrat" pitchFamily="34" charset="-122"/>
                <a:cs typeface="Montserrat" pitchFamily="34" charset="-120"/>
              </a:rPr>
              <a:t>Second key point explaining the approach</a:t>
            </a:r>
            <a:endParaRPr lang="en-US" sz="1200" dirty="0"/>
          </a:p>
          <a:p>
            <a:pPr lvl="1" marL="685800" indent="-342900">
              <a:lnSpc>
                <a:spcPct val="160000"/>
              </a:lnSpc>
              <a:buSzPct val="100000"/>
              <a:buChar char="•"/>
            </a:pPr>
            <a:r>
              <a:rPr lang="en-US" sz="1200" dirty="0">
                <a:solidFill>
                  <a:srgbClr val="807F83"/>
                </a:solidFill>
                <a:latin typeface="Montserrat" pitchFamily="34" charset="0"/>
                <a:ea typeface="Montserrat" pitchFamily="34" charset="-122"/>
                <a:cs typeface="Montserrat" pitchFamily="34" charset="-120"/>
              </a:rPr>
              <a:t>Sub-point providing additional context</a:t>
            </a:r>
            <a:endParaRPr lang="en-US" sz="1200" dirty="0"/>
          </a:p>
          <a:p>
            <a:pPr marL="342900" indent="-342900">
              <a:lnSpc>
                <a:spcPct val="160000"/>
              </a:lnSpc>
              <a:buSzPct val="100000"/>
              <a:buChar char="•"/>
            </a:pPr>
            <a:r>
              <a:rPr lang="en-US" sz="1200" dirty="0">
                <a:solidFill>
                  <a:srgbClr val="807F83"/>
                </a:solidFill>
                <a:latin typeface="Montserrat" pitchFamily="34" charset="0"/>
                <a:ea typeface="Montserrat" pitchFamily="34" charset="-122"/>
                <a:cs typeface="Montserrat" pitchFamily="34" charset="-120"/>
              </a:rPr>
              <a:t>Third key point about outcomes</a:t>
            </a:r>
            <a:endParaRPr lang="en-US" sz="1200" dirty="0"/>
          </a:p>
          <a:p>
            <a:pPr marL="342900" indent="-342900">
              <a:lnSpc>
                <a:spcPct val="160000"/>
              </a:lnSpc>
              <a:buSzPct val="100000"/>
              <a:buChar char="•"/>
            </a:pPr>
            <a:r>
              <a:rPr lang="en-US" sz="1200" dirty="0">
                <a:solidFill>
                  <a:srgbClr val="807F83"/>
                </a:solidFill>
                <a:latin typeface="Montserrat" pitchFamily="34" charset="0"/>
                <a:ea typeface="Montserrat" pitchFamily="34" charset="-122"/>
                <a:cs typeface="Montserrat" pitchFamily="34" charset="-120"/>
              </a:rPr>
              <a:t>Fourth key point with metrics</a:t>
            </a:r>
            <a:endParaRPr lang="en-US" sz="1200" dirty="0"/>
          </a:p>
          <a:p>
            <a:pPr lvl="1" marL="685800" indent="-342900">
              <a:lnSpc>
                <a:spcPct val="160000"/>
              </a:lnSpc>
              <a:buSzPct val="100000"/>
              <a:buChar char="•"/>
            </a:pPr>
            <a:r>
              <a:rPr lang="en-US" sz="1200" dirty="0">
                <a:solidFill>
                  <a:srgbClr val="807F83"/>
                </a:solidFill>
                <a:latin typeface="Montserrat" pitchFamily="34" charset="0"/>
                <a:ea typeface="Montserrat" pitchFamily="34" charset="-122"/>
                <a:cs typeface="Montserrat" pitchFamily="34" charset="-120"/>
              </a:rPr>
              <a:t>Sub-point with specific data</a:t>
            </a:r>
            <a:endParaRPr lang="en-US" sz="1200" dirty="0"/>
          </a:p>
        </p:txBody>
      </p:sp>
      <p:pic>
        <p:nvPicPr>
          <p:cNvPr id="5" name="Image 0" descr="/Users/williammasquelier/Repositories/stromy-org/Cowork/workspace/duke-strategies/brand/output/brand/logos/DukeStrategies_logo_gre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796028"/>
            <a:ext cx="822960" cy="201168"/>
          </a:xfrm>
          <a:prstGeom prst="rect">
            <a:avLst/>
          </a:prstGeom>
        </p:spPr>
      </p:pic>
      <p:sp>
        <p:nvSpPr>
          <p:cNvPr id="6" name="Text 3"/>
          <p:cNvSpPr/>
          <p:nvPr/>
        </p:nvSpPr>
        <p:spPr>
          <a:xfrm>
            <a:off x="8229600" y="4823460"/>
            <a:ext cx="548640" cy="228600"/>
          </a:xfrm>
          <a:prstGeom prst="rect">
            <a:avLst/>
          </a:prstGeom>
          <a:noFill/>
          <a:ln/>
        </p:spPr>
        <p:txBody>
          <a:bodyPr wrap="square" rtlCol="0"/>
          <a:lstStyle/>
          <a:p>
            <a:pPr algn="r" indent="0" marL="0">
              <a:buNone/>
            </a:pPr>
            <a:r>
              <a:rPr lang="en-US" sz="800" dirty="0">
                <a:solidFill>
                  <a:srgbClr val="807F83"/>
                </a:solidFill>
                <a:latin typeface="Space Mono" pitchFamily="34" charset="0"/>
                <a:ea typeface="Space Mono" pitchFamily="34" charset="-122"/>
                <a:cs typeface="Space Mono" pitchFamily="34" charset="-120"/>
              </a:rPr>
              <a:t>slideNumber</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731520" cy="36576"/>
          </a:xfrm>
          <a:prstGeom prst="rect">
            <a:avLst/>
          </a:prstGeom>
          <a:solidFill>
            <a:srgbClr val="FF7F66"/>
          </a:solidFill>
          <a:ln w="12700">
            <a:solidFill>
              <a:srgbClr val="333333"/>
            </a:solidFill>
            <a:prstDash val="solid"/>
          </a:ln>
        </p:spPr>
      </p:sp>
      <p:sp>
        <p:nvSpPr>
          <p:cNvPr id="3" name="Text 1"/>
          <p:cNvSpPr/>
          <p:nvPr/>
        </p:nvSpPr>
        <p:spPr>
          <a:xfrm>
            <a:off x="548640" y="502920"/>
            <a:ext cx="8046720" cy="548640"/>
          </a:xfrm>
          <a:prstGeom prst="rect">
            <a:avLst/>
          </a:prstGeom>
          <a:noFill/>
          <a:ln/>
        </p:spPr>
        <p:txBody>
          <a:bodyPr wrap="square" rtlCol="0" anchor="ctr"/>
          <a:lstStyle/>
          <a:p>
            <a:pPr indent="0" marL="0">
              <a:buNone/>
            </a:pPr>
            <a:r>
              <a:rPr lang="en-US" sz="2400" b="1" dirty="0">
                <a:solidFill>
                  <a:srgbClr val="222222"/>
                </a:solidFill>
                <a:latin typeface="Montserrat" pitchFamily="34" charset="0"/>
                <a:ea typeface="Montserrat" pitchFamily="34" charset="-122"/>
                <a:cs typeface="Montserrat" pitchFamily="34" charset="-120"/>
              </a:rPr>
              <a:t>Highlighted Points</a:t>
            </a:r>
            <a:endParaRPr lang="en-US" sz="2400" dirty="0"/>
          </a:p>
        </p:txBody>
      </p:sp>
      <p:sp>
        <p:nvSpPr>
          <p:cNvPr id="4" name="Shape 2"/>
          <p:cNvSpPr/>
          <p:nvPr/>
        </p:nvSpPr>
        <p:spPr>
          <a:xfrm>
            <a:off x="548640" y="1261872"/>
            <a:ext cx="201168" cy="201168"/>
          </a:xfrm>
          <a:prstGeom prst="ellipse">
            <a:avLst/>
          </a:prstGeom>
          <a:solidFill>
            <a:srgbClr val="FF7F66"/>
          </a:solidFill>
          <a:ln w="12700">
            <a:solidFill>
              <a:srgbClr val="333333"/>
            </a:solidFill>
            <a:prstDash val="solid"/>
          </a:ln>
        </p:spPr>
      </p:sp>
      <p:sp>
        <p:nvSpPr>
          <p:cNvPr id="5" name="Text 3"/>
          <p:cNvSpPr/>
          <p:nvPr/>
        </p:nvSpPr>
        <p:spPr>
          <a:xfrm>
            <a:off x="914400" y="1188720"/>
            <a:ext cx="7680960" cy="274320"/>
          </a:xfrm>
          <a:prstGeom prst="rect">
            <a:avLst/>
          </a:prstGeom>
          <a:noFill/>
          <a:ln/>
        </p:spPr>
        <p:txBody>
          <a:bodyPr wrap="square" rtlCol="0" anchor="ctr"/>
          <a:lstStyle/>
          <a:p>
            <a:pPr indent="0" marL="0">
              <a:buNone/>
            </a:pPr>
            <a:r>
              <a:rPr lang="en-US" sz="1300" b="1" dirty="0">
                <a:solidFill>
                  <a:srgbClr val="222222"/>
                </a:solidFill>
                <a:latin typeface="Montserrat" pitchFamily="34" charset="0"/>
                <a:ea typeface="Montserrat" pitchFamily="34" charset="-122"/>
                <a:cs typeface="Montserrat" pitchFamily="34" charset="-120"/>
              </a:rPr>
              <a:t>Strategic Alignment</a:t>
            </a:r>
            <a:endParaRPr lang="en-US" sz="1300" dirty="0"/>
          </a:p>
        </p:txBody>
      </p:sp>
      <p:sp>
        <p:nvSpPr>
          <p:cNvPr id="6" name="Text 4"/>
          <p:cNvSpPr/>
          <p:nvPr/>
        </p:nvSpPr>
        <p:spPr>
          <a:xfrm>
            <a:off x="914400" y="1481328"/>
            <a:ext cx="7680960" cy="274320"/>
          </a:xfrm>
          <a:prstGeom prst="rect">
            <a:avLst/>
          </a:prstGeom>
          <a:noFill/>
          <a:ln/>
        </p:spPr>
        <p:txBody>
          <a:bodyPr wrap="square" rtlCol="0" anchor="ctr"/>
          <a:lstStyle/>
          <a:p>
            <a:pPr indent="0" marL="0">
              <a:buNone/>
            </a:pPr>
            <a:r>
              <a:rPr lang="en-US" sz="1100" dirty="0">
                <a:solidFill>
                  <a:srgbClr val="807F83"/>
                </a:solidFill>
                <a:latin typeface="Montserrat" pitchFamily="34" charset="0"/>
                <a:ea typeface="Montserrat" pitchFamily="34" charset="-122"/>
                <a:cs typeface="Montserrat" pitchFamily="34" charset="-120"/>
              </a:rPr>
              <a:t>Ensure all initiatives support the core mission</a:t>
            </a:r>
            <a:endParaRPr lang="en-US" sz="1100" dirty="0"/>
          </a:p>
        </p:txBody>
      </p:sp>
      <p:sp>
        <p:nvSpPr>
          <p:cNvPr id="7" name="Shape 5"/>
          <p:cNvSpPr/>
          <p:nvPr/>
        </p:nvSpPr>
        <p:spPr>
          <a:xfrm>
            <a:off x="548640" y="2039112"/>
            <a:ext cx="201168" cy="201168"/>
          </a:xfrm>
          <a:prstGeom prst="ellipse">
            <a:avLst/>
          </a:prstGeom>
          <a:solidFill>
            <a:srgbClr val="FF7F66"/>
          </a:solidFill>
          <a:ln w="12700">
            <a:solidFill>
              <a:srgbClr val="333333"/>
            </a:solidFill>
            <a:prstDash val="solid"/>
          </a:ln>
        </p:spPr>
      </p:sp>
      <p:sp>
        <p:nvSpPr>
          <p:cNvPr id="8" name="Text 6"/>
          <p:cNvSpPr/>
          <p:nvPr/>
        </p:nvSpPr>
        <p:spPr>
          <a:xfrm>
            <a:off x="914400" y="1965960"/>
            <a:ext cx="7680960" cy="274320"/>
          </a:xfrm>
          <a:prstGeom prst="rect">
            <a:avLst/>
          </a:prstGeom>
          <a:noFill/>
          <a:ln/>
        </p:spPr>
        <p:txBody>
          <a:bodyPr wrap="square" rtlCol="0" anchor="ctr"/>
          <a:lstStyle/>
          <a:p>
            <a:pPr indent="0" marL="0">
              <a:buNone/>
            </a:pPr>
            <a:r>
              <a:rPr lang="en-US" sz="1300" b="1" dirty="0">
                <a:solidFill>
                  <a:srgbClr val="222222"/>
                </a:solidFill>
                <a:latin typeface="Montserrat" pitchFamily="34" charset="0"/>
                <a:ea typeface="Montserrat" pitchFamily="34" charset="-122"/>
                <a:cs typeface="Montserrat" pitchFamily="34" charset="-120"/>
              </a:rPr>
              <a:t>Stakeholder Engagement</a:t>
            </a:r>
            <a:endParaRPr lang="en-US" sz="1300" dirty="0"/>
          </a:p>
        </p:txBody>
      </p:sp>
      <p:sp>
        <p:nvSpPr>
          <p:cNvPr id="9" name="Text 7"/>
          <p:cNvSpPr/>
          <p:nvPr/>
        </p:nvSpPr>
        <p:spPr>
          <a:xfrm>
            <a:off x="914400" y="2258568"/>
            <a:ext cx="7680960" cy="274320"/>
          </a:xfrm>
          <a:prstGeom prst="rect">
            <a:avLst/>
          </a:prstGeom>
          <a:noFill/>
          <a:ln/>
        </p:spPr>
        <p:txBody>
          <a:bodyPr wrap="square" rtlCol="0" anchor="ctr"/>
          <a:lstStyle/>
          <a:p>
            <a:pPr indent="0" marL="0">
              <a:buNone/>
            </a:pPr>
            <a:r>
              <a:rPr lang="en-US" sz="1100" dirty="0">
                <a:solidFill>
                  <a:srgbClr val="807F83"/>
                </a:solidFill>
                <a:latin typeface="Montserrat" pitchFamily="34" charset="0"/>
                <a:ea typeface="Montserrat" pitchFamily="34" charset="-122"/>
                <a:cs typeface="Montserrat" pitchFamily="34" charset="-120"/>
              </a:rPr>
              <a:t>Build relationships across all levels of the organization</a:t>
            </a:r>
            <a:endParaRPr lang="en-US" sz="1100" dirty="0"/>
          </a:p>
        </p:txBody>
      </p:sp>
      <p:sp>
        <p:nvSpPr>
          <p:cNvPr id="10" name="Shape 8"/>
          <p:cNvSpPr/>
          <p:nvPr/>
        </p:nvSpPr>
        <p:spPr>
          <a:xfrm>
            <a:off x="548640" y="2816352"/>
            <a:ext cx="201168" cy="201168"/>
          </a:xfrm>
          <a:prstGeom prst="ellipse">
            <a:avLst/>
          </a:prstGeom>
          <a:solidFill>
            <a:srgbClr val="FF7F66"/>
          </a:solidFill>
          <a:ln w="12700">
            <a:solidFill>
              <a:srgbClr val="333333"/>
            </a:solidFill>
            <a:prstDash val="solid"/>
          </a:ln>
        </p:spPr>
      </p:sp>
      <p:sp>
        <p:nvSpPr>
          <p:cNvPr id="11" name="Text 9"/>
          <p:cNvSpPr/>
          <p:nvPr/>
        </p:nvSpPr>
        <p:spPr>
          <a:xfrm>
            <a:off x="914400" y="2743200"/>
            <a:ext cx="7680960" cy="274320"/>
          </a:xfrm>
          <a:prstGeom prst="rect">
            <a:avLst/>
          </a:prstGeom>
          <a:noFill/>
          <a:ln/>
        </p:spPr>
        <p:txBody>
          <a:bodyPr wrap="square" rtlCol="0" anchor="ctr"/>
          <a:lstStyle/>
          <a:p>
            <a:pPr indent="0" marL="0">
              <a:buNone/>
            </a:pPr>
            <a:r>
              <a:rPr lang="en-US" sz="1300" b="1" dirty="0">
                <a:solidFill>
                  <a:srgbClr val="222222"/>
                </a:solidFill>
                <a:latin typeface="Montserrat" pitchFamily="34" charset="0"/>
                <a:ea typeface="Montserrat" pitchFamily="34" charset="-122"/>
                <a:cs typeface="Montserrat" pitchFamily="34" charset="-120"/>
              </a:rPr>
              <a:t>Measurable Outcomes</a:t>
            </a:r>
            <a:endParaRPr lang="en-US" sz="1300" dirty="0"/>
          </a:p>
        </p:txBody>
      </p:sp>
      <p:sp>
        <p:nvSpPr>
          <p:cNvPr id="12" name="Text 10"/>
          <p:cNvSpPr/>
          <p:nvPr/>
        </p:nvSpPr>
        <p:spPr>
          <a:xfrm>
            <a:off x="914400" y="3035808"/>
            <a:ext cx="7680960" cy="274320"/>
          </a:xfrm>
          <a:prstGeom prst="rect">
            <a:avLst/>
          </a:prstGeom>
          <a:noFill/>
          <a:ln/>
        </p:spPr>
        <p:txBody>
          <a:bodyPr wrap="square" rtlCol="0" anchor="ctr"/>
          <a:lstStyle/>
          <a:p>
            <a:pPr indent="0" marL="0">
              <a:buNone/>
            </a:pPr>
            <a:r>
              <a:rPr lang="en-US" sz="1100" dirty="0">
                <a:solidFill>
                  <a:srgbClr val="807F83"/>
                </a:solidFill>
                <a:latin typeface="Montserrat" pitchFamily="34" charset="0"/>
                <a:ea typeface="Montserrat" pitchFamily="34" charset="-122"/>
                <a:cs typeface="Montserrat" pitchFamily="34" charset="-120"/>
              </a:rPr>
              <a:t>Define KPIs and track progress consistently</a:t>
            </a:r>
            <a:endParaRPr lang="en-US" sz="1100" dirty="0"/>
          </a:p>
        </p:txBody>
      </p:sp>
      <p:sp>
        <p:nvSpPr>
          <p:cNvPr id="13" name="Shape 11"/>
          <p:cNvSpPr/>
          <p:nvPr/>
        </p:nvSpPr>
        <p:spPr>
          <a:xfrm>
            <a:off x="548640" y="3593592"/>
            <a:ext cx="201168" cy="201168"/>
          </a:xfrm>
          <a:prstGeom prst="ellipse">
            <a:avLst/>
          </a:prstGeom>
          <a:solidFill>
            <a:srgbClr val="FF7F66"/>
          </a:solidFill>
          <a:ln w="12700">
            <a:solidFill>
              <a:srgbClr val="333333"/>
            </a:solidFill>
            <a:prstDash val="solid"/>
          </a:ln>
        </p:spPr>
      </p:sp>
      <p:sp>
        <p:nvSpPr>
          <p:cNvPr id="14" name="Text 12"/>
          <p:cNvSpPr/>
          <p:nvPr/>
        </p:nvSpPr>
        <p:spPr>
          <a:xfrm>
            <a:off x="914400" y="3520440"/>
            <a:ext cx="7680960" cy="274320"/>
          </a:xfrm>
          <a:prstGeom prst="rect">
            <a:avLst/>
          </a:prstGeom>
          <a:noFill/>
          <a:ln/>
        </p:spPr>
        <p:txBody>
          <a:bodyPr wrap="square" rtlCol="0" anchor="ctr"/>
          <a:lstStyle/>
          <a:p>
            <a:pPr indent="0" marL="0">
              <a:buNone/>
            </a:pPr>
            <a:r>
              <a:rPr lang="en-US" sz="1300" b="1" dirty="0">
                <a:solidFill>
                  <a:srgbClr val="222222"/>
                </a:solidFill>
                <a:latin typeface="Montserrat" pitchFamily="34" charset="0"/>
                <a:ea typeface="Montserrat" pitchFamily="34" charset="-122"/>
                <a:cs typeface="Montserrat" pitchFamily="34" charset="-120"/>
              </a:rPr>
              <a:t>Adaptive Planning</a:t>
            </a:r>
            <a:endParaRPr lang="en-US" sz="1300" dirty="0"/>
          </a:p>
        </p:txBody>
      </p:sp>
      <p:sp>
        <p:nvSpPr>
          <p:cNvPr id="15" name="Text 13"/>
          <p:cNvSpPr/>
          <p:nvPr/>
        </p:nvSpPr>
        <p:spPr>
          <a:xfrm>
            <a:off x="914400" y="3813048"/>
            <a:ext cx="7680960" cy="274320"/>
          </a:xfrm>
          <a:prstGeom prst="rect">
            <a:avLst/>
          </a:prstGeom>
          <a:noFill/>
          <a:ln/>
        </p:spPr>
        <p:txBody>
          <a:bodyPr wrap="square" rtlCol="0" anchor="ctr"/>
          <a:lstStyle/>
          <a:p>
            <a:pPr indent="0" marL="0">
              <a:buNone/>
            </a:pPr>
            <a:r>
              <a:rPr lang="en-US" sz="1100" dirty="0">
                <a:solidFill>
                  <a:srgbClr val="807F83"/>
                </a:solidFill>
                <a:latin typeface="Montserrat" pitchFamily="34" charset="0"/>
                <a:ea typeface="Montserrat" pitchFamily="34" charset="-122"/>
                <a:cs typeface="Montserrat" pitchFamily="34" charset="-120"/>
              </a:rPr>
              <a:t>Remain flexible to respond to emerging opportunities</a:t>
            </a:r>
            <a:endParaRPr lang="en-US" sz="1100" dirty="0"/>
          </a:p>
        </p:txBody>
      </p:sp>
      <p:pic>
        <p:nvPicPr>
          <p:cNvPr id="16" name="Image 0" descr="/Users/williammasquelier/Repositories/stromy-org/Cowork/workspace/duke-strategies/brand/output/brand/logos/DukeStrategies_logo_gre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796028"/>
            <a:ext cx="822960" cy="201168"/>
          </a:xfrm>
          <a:prstGeom prst="rect">
            <a:avLst/>
          </a:prstGeom>
        </p:spPr>
      </p:pic>
      <p:sp>
        <p:nvSpPr>
          <p:cNvPr id="17" name="Text 14"/>
          <p:cNvSpPr/>
          <p:nvPr/>
        </p:nvSpPr>
        <p:spPr>
          <a:xfrm>
            <a:off x="8229600" y="4823460"/>
            <a:ext cx="548640" cy="228600"/>
          </a:xfrm>
          <a:prstGeom prst="rect">
            <a:avLst/>
          </a:prstGeom>
          <a:noFill/>
          <a:ln/>
        </p:spPr>
        <p:txBody>
          <a:bodyPr wrap="square" rtlCol="0"/>
          <a:lstStyle/>
          <a:p>
            <a:pPr algn="r" indent="0" marL="0">
              <a:buNone/>
            </a:pPr>
            <a:r>
              <a:rPr lang="en-US" sz="800" dirty="0">
                <a:solidFill>
                  <a:srgbClr val="807F83"/>
                </a:solidFill>
                <a:latin typeface="Space Mono" pitchFamily="34" charset="0"/>
                <a:ea typeface="Space Mono" pitchFamily="34" charset="-122"/>
                <a:cs typeface="Space Mono" pitchFamily="34" charset="-120"/>
              </a:rPr>
              <a:t>slideNumber</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731520" cy="36576"/>
          </a:xfrm>
          <a:prstGeom prst="rect">
            <a:avLst/>
          </a:prstGeom>
          <a:solidFill>
            <a:srgbClr val="FF7F66"/>
          </a:solidFill>
          <a:ln w="12700">
            <a:solidFill>
              <a:srgbClr val="333333"/>
            </a:solidFill>
            <a:prstDash val="solid"/>
          </a:ln>
        </p:spPr>
      </p:sp>
      <p:sp>
        <p:nvSpPr>
          <p:cNvPr id="3" name="Text 1"/>
          <p:cNvSpPr/>
          <p:nvPr/>
        </p:nvSpPr>
        <p:spPr>
          <a:xfrm>
            <a:off x="548640" y="502920"/>
            <a:ext cx="8046720" cy="548640"/>
          </a:xfrm>
          <a:prstGeom prst="rect">
            <a:avLst/>
          </a:prstGeom>
          <a:noFill/>
          <a:ln/>
        </p:spPr>
        <p:txBody>
          <a:bodyPr wrap="square" rtlCol="0" anchor="ctr"/>
          <a:lstStyle/>
          <a:p>
            <a:pPr indent="0" marL="0">
              <a:buNone/>
            </a:pPr>
            <a:r>
              <a:rPr lang="en-US" sz="2400" b="1" dirty="0">
                <a:solidFill>
                  <a:srgbClr val="222222"/>
                </a:solidFill>
                <a:latin typeface="Montserrat" pitchFamily="34" charset="0"/>
                <a:ea typeface="Montserrat" pitchFamily="34" charset="-122"/>
                <a:cs typeface="Montserrat" pitchFamily="34" charset="-120"/>
              </a:rPr>
              <a:t>Process Overview</a:t>
            </a:r>
            <a:endParaRPr lang="en-US" sz="2400" dirty="0"/>
          </a:p>
        </p:txBody>
      </p:sp>
      <p:sp>
        <p:nvSpPr>
          <p:cNvPr id="4" name="Text 2"/>
          <p:cNvSpPr/>
          <p:nvPr/>
        </p:nvSpPr>
        <p:spPr>
          <a:xfrm>
            <a:off x="548640" y="1234440"/>
            <a:ext cx="457200" cy="320040"/>
          </a:xfrm>
          <a:prstGeom prst="rect">
            <a:avLst/>
          </a:prstGeom>
          <a:noFill/>
          <a:ln/>
        </p:spPr>
        <p:txBody>
          <a:bodyPr wrap="square" rtlCol="0" anchor="ctr"/>
          <a:lstStyle/>
          <a:p>
            <a:pPr indent="0" marL="0">
              <a:buNone/>
            </a:pPr>
            <a:r>
              <a:rPr lang="en-US" sz="1600" b="1" dirty="0">
                <a:solidFill>
                  <a:srgbClr val="FF7F66"/>
                </a:solidFill>
                <a:latin typeface="Space Mono" pitchFamily="34" charset="0"/>
                <a:ea typeface="Space Mono" pitchFamily="34" charset="-122"/>
                <a:cs typeface="Space Mono" pitchFamily="34" charset="-120"/>
              </a:rPr>
              <a:t>01</a:t>
            </a:r>
            <a:endParaRPr lang="en-US" sz="1600" dirty="0"/>
          </a:p>
        </p:txBody>
      </p:sp>
      <p:sp>
        <p:nvSpPr>
          <p:cNvPr id="5" name="Text 3"/>
          <p:cNvSpPr/>
          <p:nvPr/>
        </p:nvSpPr>
        <p:spPr>
          <a:xfrm>
            <a:off x="1097280" y="1234440"/>
            <a:ext cx="7498080" cy="320040"/>
          </a:xfrm>
          <a:prstGeom prst="rect">
            <a:avLst/>
          </a:prstGeom>
          <a:noFill/>
          <a:ln/>
        </p:spPr>
        <p:txBody>
          <a:bodyPr wrap="square" rtlCol="0" anchor="ctr"/>
          <a:lstStyle/>
          <a:p>
            <a:pPr indent="0" marL="0">
              <a:buNone/>
            </a:pPr>
            <a:r>
              <a:rPr lang="en-US" sz="1300" dirty="0">
                <a:solidFill>
                  <a:srgbClr val="222222"/>
                </a:solidFill>
                <a:latin typeface="Montserrat" pitchFamily="34" charset="0"/>
                <a:ea typeface="Montserrat" pitchFamily="34" charset="-122"/>
                <a:cs typeface="Montserrat" pitchFamily="34" charset="-120"/>
              </a:rPr>
              <a:t>Discovery and stakeholder interviews</a:t>
            </a:r>
            <a:endParaRPr lang="en-US" sz="1300" dirty="0"/>
          </a:p>
        </p:txBody>
      </p:sp>
      <p:sp>
        <p:nvSpPr>
          <p:cNvPr id="6" name="Text 4"/>
          <p:cNvSpPr/>
          <p:nvPr/>
        </p:nvSpPr>
        <p:spPr>
          <a:xfrm>
            <a:off x="548640" y="1874520"/>
            <a:ext cx="457200" cy="320040"/>
          </a:xfrm>
          <a:prstGeom prst="rect">
            <a:avLst/>
          </a:prstGeom>
          <a:noFill/>
          <a:ln/>
        </p:spPr>
        <p:txBody>
          <a:bodyPr wrap="square" rtlCol="0" anchor="ctr"/>
          <a:lstStyle/>
          <a:p>
            <a:pPr indent="0" marL="0">
              <a:buNone/>
            </a:pPr>
            <a:r>
              <a:rPr lang="en-US" sz="1600" b="1" dirty="0">
                <a:solidFill>
                  <a:srgbClr val="FF7F66"/>
                </a:solidFill>
                <a:latin typeface="Space Mono" pitchFamily="34" charset="0"/>
                <a:ea typeface="Space Mono" pitchFamily="34" charset="-122"/>
                <a:cs typeface="Space Mono" pitchFamily="34" charset="-120"/>
              </a:rPr>
              <a:t>02</a:t>
            </a:r>
            <a:endParaRPr lang="en-US" sz="1600" dirty="0"/>
          </a:p>
        </p:txBody>
      </p:sp>
      <p:sp>
        <p:nvSpPr>
          <p:cNvPr id="7" name="Text 5"/>
          <p:cNvSpPr/>
          <p:nvPr/>
        </p:nvSpPr>
        <p:spPr>
          <a:xfrm>
            <a:off x="1097280" y="1874520"/>
            <a:ext cx="7498080" cy="320040"/>
          </a:xfrm>
          <a:prstGeom prst="rect">
            <a:avLst/>
          </a:prstGeom>
          <a:noFill/>
          <a:ln/>
        </p:spPr>
        <p:txBody>
          <a:bodyPr wrap="square" rtlCol="0" anchor="ctr"/>
          <a:lstStyle/>
          <a:p>
            <a:pPr indent="0" marL="0">
              <a:buNone/>
            </a:pPr>
            <a:r>
              <a:rPr lang="en-US" sz="1300" dirty="0">
                <a:solidFill>
                  <a:srgbClr val="222222"/>
                </a:solidFill>
                <a:latin typeface="Montserrat" pitchFamily="34" charset="0"/>
                <a:ea typeface="Montserrat" pitchFamily="34" charset="-122"/>
                <a:cs typeface="Montserrat" pitchFamily="34" charset="-120"/>
              </a:rPr>
              <a:t>Strategic analysis and landscape assessment</a:t>
            </a:r>
            <a:endParaRPr lang="en-US" sz="1300" dirty="0"/>
          </a:p>
        </p:txBody>
      </p:sp>
      <p:sp>
        <p:nvSpPr>
          <p:cNvPr id="8" name="Text 6"/>
          <p:cNvSpPr/>
          <p:nvPr/>
        </p:nvSpPr>
        <p:spPr>
          <a:xfrm>
            <a:off x="548640" y="2514600"/>
            <a:ext cx="457200" cy="320040"/>
          </a:xfrm>
          <a:prstGeom prst="rect">
            <a:avLst/>
          </a:prstGeom>
          <a:noFill/>
          <a:ln/>
        </p:spPr>
        <p:txBody>
          <a:bodyPr wrap="square" rtlCol="0" anchor="ctr"/>
          <a:lstStyle/>
          <a:p>
            <a:pPr indent="0" marL="0">
              <a:buNone/>
            </a:pPr>
            <a:r>
              <a:rPr lang="en-US" sz="1600" b="1" dirty="0">
                <a:solidFill>
                  <a:srgbClr val="FF7F66"/>
                </a:solidFill>
                <a:latin typeface="Space Mono" pitchFamily="34" charset="0"/>
                <a:ea typeface="Space Mono" pitchFamily="34" charset="-122"/>
                <a:cs typeface="Space Mono" pitchFamily="34" charset="-120"/>
              </a:rPr>
              <a:t>03</a:t>
            </a:r>
            <a:endParaRPr lang="en-US" sz="1600" dirty="0"/>
          </a:p>
        </p:txBody>
      </p:sp>
      <p:sp>
        <p:nvSpPr>
          <p:cNvPr id="9" name="Text 7"/>
          <p:cNvSpPr/>
          <p:nvPr/>
        </p:nvSpPr>
        <p:spPr>
          <a:xfrm>
            <a:off x="1097280" y="2514600"/>
            <a:ext cx="7498080" cy="320040"/>
          </a:xfrm>
          <a:prstGeom prst="rect">
            <a:avLst/>
          </a:prstGeom>
          <a:noFill/>
          <a:ln/>
        </p:spPr>
        <p:txBody>
          <a:bodyPr wrap="square" rtlCol="0" anchor="ctr"/>
          <a:lstStyle/>
          <a:p>
            <a:pPr indent="0" marL="0">
              <a:buNone/>
            </a:pPr>
            <a:r>
              <a:rPr lang="en-US" sz="1300" dirty="0">
                <a:solidFill>
                  <a:srgbClr val="222222"/>
                </a:solidFill>
                <a:latin typeface="Montserrat" pitchFamily="34" charset="0"/>
                <a:ea typeface="Montserrat" pitchFamily="34" charset="-122"/>
                <a:cs typeface="Montserrat" pitchFamily="34" charset="-120"/>
              </a:rPr>
              <a:t>Develop communications framework</a:t>
            </a:r>
            <a:endParaRPr lang="en-US" sz="1300" dirty="0"/>
          </a:p>
        </p:txBody>
      </p:sp>
      <p:sp>
        <p:nvSpPr>
          <p:cNvPr id="10" name="Text 8"/>
          <p:cNvSpPr/>
          <p:nvPr/>
        </p:nvSpPr>
        <p:spPr>
          <a:xfrm>
            <a:off x="548640" y="3154680"/>
            <a:ext cx="457200" cy="320040"/>
          </a:xfrm>
          <a:prstGeom prst="rect">
            <a:avLst/>
          </a:prstGeom>
          <a:noFill/>
          <a:ln/>
        </p:spPr>
        <p:txBody>
          <a:bodyPr wrap="square" rtlCol="0" anchor="ctr"/>
          <a:lstStyle/>
          <a:p>
            <a:pPr indent="0" marL="0">
              <a:buNone/>
            </a:pPr>
            <a:r>
              <a:rPr lang="en-US" sz="1600" b="1" dirty="0">
                <a:solidFill>
                  <a:srgbClr val="FF7F66"/>
                </a:solidFill>
                <a:latin typeface="Space Mono" pitchFamily="34" charset="0"/>
                <a:ea typeface="Space Mono" pitchFamily="34" charset="-122"/>
                <a:cs typeface="Space Mono" pitchFamily="34" charset="-120"/>
              </a:rPr>
              <a:t>04</a:t>
            </a:r>
            <a:endParaRPr lang="en-US" sz="1600" dirty="0"/>
          </a:p>
        </p:txBody>
      </p:sp>
      <p:sp>
        <p:nvSpPr>
          <p:cNvPr id="11" name="Text 9"/>
          <p:cNvSpPr/>
          <p:nvPr/>
        </p:nvSpPr>
        <p:spPr>
          <a:xfrm>
            <a:off x="1097280" y="3154680"/>
            <a:ext cx="7498080" cy="320040"/>
          </a:xfrm>
          <a:prstGeom prst="rect">
            <a:avLst/>
          </a:prstGeom>
          <a:noFill/>
          <a:ln/>
        </p:spPr>
        <p:txBody>
          <a:bodyPr wrap="square" rtlCol="0" anchor="ctr"/>
          <a:lstStyle/>
          <a:p>
            <a:pPr indent="0" marL="0">
              <a:buNone/>
            </a:pPr>
            <a:r>
              <a:rPr lang="en-US" sz="1300" dirty="0">
                <a:solidFill>
                  <a:srgbClr val="222222"/>
                </a:solidFill>
                <a:latin typeface="Montserrat" pitchFamily="34" charset="0"/>
                <a:ea typeface="Montserrat" pitchFamily="34" charset="-122"/>
                <a:cs typeface="Montserrat" pitchFamily="34" charset="-120"/>
              </a:rPr>
              <a:t>Implementation planning and resource allocation</a:t>
            </a:r>
            <a:endParaRPr lang="en-US" sz="1300" dirty="0"/>
          </a:p>
        </p:txBody>
      </p:sp>
      <p:sp>
        <p:nvSpPr>
          <p:cNvPr id="12" name="Text 10"/>
          <p:cNvSpPr/>
          <p:nvPr/>
        </p:nvSpPr>
        <p:spPr>
          <a:xfrm>
            <a:off x="548640" y="3794760"/>
            <a:ext cx="457200" cy="320040"/>
          </a:xfrm>
          <a:prstGeom prst="rect">
            <a:avLst/>
          </a:prstGeom>
          <a:noFill/>
          <a:ln/>
        </p:spPr>
        <p:txBody>
          <a:bodyPr wrap="square" rtlCol="0" anchor="ctr"/>
          <a:lstStyle/>
          <a:p>
            <a:pPr indent="0" marL="0">
              <a:buNone/>
            </a:pPr>
            <a:r>
              <a:rPr lang="en-US" sz="1600" b="1" dirty="0">
                <a:solidFill>
                  <a:srgbClr val="FF7F66"/>
                </a:solidFill>
                <a:latin typeface="Space Mono" pitchFamily="34" charset="0"/>
                <a:ea typeface="Space Mono" pitchFamily="34" charset="-122"/>
                <a:cs typeface="Space Mono" pitchFamily="34" charset="-120"/>
              </a:rPr>
              <a:t>05</a:t>
            </a:r>
            <a:endParaRPr lang="en-US" sz="1600" dirty="0"/>
          </a:p>
        </p:txBody>
      </p:sp>
      <p:sp>
        <p:nvSpPr>
          <p:cNvPr id="13" name="Text 11"/>
          <p:cNvSpPr/>
          <p:nvPr/>
        </p:nvSpPr>
        <p:spPr>
          <a:xfrm>
            <a:off x="1097280" y="3794760"/>
            <a:ext cx="7498080" cy="320040"/>
          </a:xfrm>
          <a:prstGeom prst="rect">
            <a:avLst/>
          </a:prstGeom>
          <a:noFill/>
          <a:ln/>
        </p:spPr>
        <p:txBody>
          <a:bodyPr wrap="square" rtlCol="0" anchor="ctr"/>
          <a:lstStyle/>
          <a:p>
            <a:pPr indent="0" marL="0">
              <a:buNone/>
            </a:pPr>
            <a:r>
              <a:rPr lang="en-US" sz="1300" dirty="0">
                <a:solidFill>
                  <a:srgbClr val="222222"/>
                </a:solidFill>
                <a:latin typeface="Montserrat" pitchFamily="34" charset="0"/>
                <a:ea typeface="Montserrat" pitchFamily="34" charset="-122"/>
                <a:cs typeface="Montserrat" pitchFamily="34" charset="-120"/>
              </a:rPr>
              <a:t>Launch, monitor, and optimize</a:t>
            </a:r>
            <a:endParaRPr lang="en-US" sz="1300" dirty="0"/>
          </a:p>
        </p:txBody>
      </p:sp>
      <p:pic>
        <p:nvPicPr>
          <p:cNvPr id="14" name="Image 0" descr="/Users/williammasquelier/Repositories/stromy-org/Cowork/workspace/duke-strategies/brand/output/brand/logos/DukeStrategies_logo_gre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796028"/>
            <a:ext cx="822960" cy="201168"/>
          </a:xfrm>
          <a:prstGeom prst="rect">
            <a:avLst/>
          </a:prstGeom>
        </p:spPr>
      </p:pic>
      <p:sp>
        <p:nvSpPr>
          <p:cNvPr id="15" name="Text 12"/>
          <p:cNvSpPr/>
          <p:nvPr/>
        </p:nvSpPr>
        <p:spPr>
          <a:xfrm>
            <a:off x="8229600" y="4823460"/>
            <a:ext cx="548640" cy="228600"/>
          </a:xfrm>
          <a:prstGeom prst="rect">
            <a:avLst/>
          </a:prstGeom>
          <a:noFill/>
          <a:ln/>
        </p:spPr>
        <p:txBody>
          <a:bodyPr wrap="square" rtlCol="0"/>
          <a:lstStyle/>
          <a:p>
            <a:pPr algn="r" indent="0" marL="0">
              <a:buNone/>
            </a:pPr>
            <a:r>
              <a:rPr lang="en-US" sz="800" dirty="0">
                <a:solidFill>
                  <a:srgbClr val="807F83"/>
                </a:solidFill>
                <a:latin typeface="Space Mono" pitchFamily="34" charset="0"/>
                <a:ea typeface="Space Mono" pitchFamily="34" charset="-122"/>
                <a:cs typeface="Space Mono" pitchFamily="34" charset="-120"/>
              </a:rPr>
              <a:t>slideNumber</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548640" y="548640"/>
            <a:ext cx="914400" cy="1097280"/>
          </a:xfrm>
          <a:prstGeom prst="rect">
            <a:avLst/>
          </a:prstGeom>
          <a:noFill/>
          <a:ln/>
        </p:spPr>
        <p:txBody>
          <a:bodyPr wrap="square" rtlCol="0" anchor="ctr"/>
          <a:lstStyle/>
          <a:p>
            <a:pPr indent="0" marL="0">
              <a:buNone/>
            </a:pPr>
            <a:r>
              <a:rPr lang="en-US" sz="8000" b="1" dirty="0">
                <a:solidFill>
                  <a:srgbClr val="FF7F66"/>
                </a:solidFill>
                <a:latin typeface="Montserrat" pitchFamily="34" charset="0"/>
                <a:ea typeface="Montserrat" pitchFamily="34" charset="-122"/>
                <a:cs typeface="Montserrat" pitchFamily="34" charset="-120"/>
              </a:rPr>
              <a:t>“</a:t>
            </a:r>
            <a:endParaRPr lang="en-US" sz="8000" dirty="0"/>
          </a:p>
        </p:txBody>
      </p:sp>
      <p:sp>
        <p:nvSpPr>
          <p:cNvPr id="3" name="Text 1"/>
          <p:cNvSpPr/>
          <p:nvPr/>
        </p:nvSpPr>
        <p:spPr>
          <a:xfrm>
            <a:off x="822960" y="1371600"/>
            <a:ext cx="7498080" cy="1645920"/>
          </a:xfrm>
          <a:prstGeom prst="rect">
            <a:avLst/>
          </a:prstGeom>
          <a:noFill/>
          <a:ln/>
        </p:spPr>
        <p:txBody>
          <a:bodyPr wrap="square" rtlCol="0" anchor="ctr"/>
          <a:lstStyle/>
          <a:p>
            <a:pPr indent="0" marL="0">
              <a:lnSpc>
                <a:spcPct val="140000"/>
              </a:lnSpc>
              <a:buNone/>
            </a:pPr>
            <a:r>
              <a:rPr lang="en-US" sz="2000" i="1" dirty="0">
                <a:solidFill>
                  <a:srgbClr val="222222"/>
                </a:solidFill>
                <a:latin typeface="Montserrat" pitchFamily="34" charset="0"/>
                <a:ea typeface="Montserrat" pitchFamily="34" charset="-122"/>
                <a:cs typeface="Montserrat" pitchFamily="34" charset="-120"/>
              </a:rPr>
              <a:t>Strategy without tactics is the slowest route to victory. Tactics without strategy is the noise before defeat.</a:t>
            </a:r>
            <a:endParaRPr lang="en-US" sz="2000" dirty="0"/>
          </a:p>
        </p:txBody>
      </p:sp>
      <p:sp>
        <p:nvSpPr>
          <p:cNvPr id="4" name="Shape 2"/>
          <p:cNvSpPr/>
          <p:nvPr/>
        </p:nvSpPr>
        <p:spPr>
          <a:xfrm>
            <a:off x="822960" y="3200400"/>
            <a:ext cx="731520" cy="36576"/>
          </a:xfrm>
          <a:prstGeom prst="rect">
            <a:avLst/>
          </a:prstGeom>
          <a:solidFill>
            <a:srgbClr val="FF7F66"/>
          </a:solidFill>
          <a:ln w="12700">
            <a:solidFill>
              <a:srgbClr val="333333"/>
            </a:solidFill>
            <a:prstDash val="solid"/>
          </a:ln>
        </p:spPr>
      </p:sp>
      <p:sp>
        <p:nvSpPr>
          <p:cNvPr id="5" name="Text 3"/>
          <p:cNvSpPr/>
          <p:nvPr/>
        </p:nvSpPr>
        <p:spPr>
          <a:xfrm>
            <a:off x="822960" y="3383280"/>
            <a:ext cx="7498080" cy="365760"/>
          </a:xfrm>
          <a:prstGeom prst="rect">
            <a:avLst/>
          </a:prstGeom>
          <a:noFill/>
          <a:ln/>
        </p:spPr>
        <p:txBody>
          <a:bodyPr wrap="square" rtlCol="0" anchor="ctr"/>
          <a:lstStyle/>
          <a:p>
            <a:pPr indent="0" marL="0">
              <a:buNone/>
            </a:pPr>
            <a:r>
              <a:rPr lang="en-US" sz="1200" dirty="0">
                <a:solidFill>
                  <a:srgbClr val="807F83"/>
                </a:solidFill>
                <a:latin typeface="Montserrat" pitchFamily="34" charset="0"/>
                <a:ea typeface="Montserrat" pitchFamily="34" charset="-122"/>
                <a:cs typeface="Montserrat" pitchFamily="34" charset="-120"/>
              </a:rPr>
              <a:t>Sun Tzu  —  The Art of War</a:t>
            </a:r>
            <a:endParaRPr lang="en-US" sz="1200" dirty="0"/>
          </a:p>
        </p:txBody>
      </p:sp>
      <p:pic>
        <p:nvPicPr>
          <p:cNvPr id="6" name="Image 0" descr="/Users/williammasquelier/Repositories/stromy-org/Cowork/workspace/duke-strategies/brand/output/brand/logos/DukeStrategies_logo_gre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796028"/>
            <a:ext cx="822960" cy="20116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22222"/>
        </a:solidFill>
      </p:bgPr>
    </p:bg>
    <p:spTree>
      <p:nvGrpSpPr>
        <p:cNvPr id="1" name=""/>
        <p:cNvGrpSpPr/>
        <p:nvPr/>
      </p:nvGrpSpPr>
      <p:grpSpPr>
        <a:xfrm>
          <a:off x="0" y="0"/>
          <a:ext cx="0" cy="0"/>
          <a:chOff x="0" y="0"/>
          <a:chExt cx="0" cy="0"/>
        </a:xfrm>
      </p:grpSpPr>
      <p:sp>
        <p:nvSpPr>
          <p:cNvPr id="2" name="Text 0"/>
          <p:cNvSpPr/>
          <p:nvPr/>
        </p:nvSpPr>
        <p:spPr>
          <a:xfrm>
            <a:off x="914400" y="914400"/>
            <a:ext cx="7315200" cy="2743200"/>
          </a:xfrm>
          <a:prstGeom prst="rect">
            <a:avLst/>
          </a:prstGeom>
          <a:noFill/>
          <a:ln/>
        </p:spPr>
        <p:txBody>
          <a:bodyPr wrap="square" rtlCol="0" anchor="ctr"/>
          <a:lstStyle/>
          <a:p>
            <a:pPr algn="ctr" indent="0" marL="0">
              <a:lnSpc>
                <a:spcPct val="130000"/>
              </a:lnSpc>
              <a:buNone/>
            </a:pPr>
            <a:r>
              <a:rPr lang="en-US" sz="3200" b="1" dirty="0">
                <a:solidFill>
                  <a:srgbClr val="FFFFFF"/>
                </a:solidFill>
                <a:latin typeface="Montserrat" pitchFamily="34" charset="0"/>
                <a:ea typeface="Montserrat" pitchFamily="34" charset="-122"/>
                <a:cs typeface="Montserrat" pitchFamily="34" charset="-120"/>
              </a:rPr>
              <a:t>The key insight</a:t>
            </a:r>
            <a:endParaRPr lang="en-US" sz="3200" dirty="0"/>
          </a:p>
          <a:p>
            <a:pPr algn="ctr" indent="0" marL="0">
              <a:lnSpc>
                <a:spcPct val="130000"/>
              </a:lnSpc>
              <a:buNone/>
            </a:pPr>
            <a:r>
              <a:rPr lang="en-US" sz="3200" b="1" dirty="0">
                <a:solidFill>
                  <a:srgbClr val="FFFFFF"/>
                </a:solidFill>
                <a:latin typeface="Montserrat" pitchFamily="34" charset="0"/>
                <a:ea typeface="Montserrat" pitchFamily="34" charset="-122"/>
                <a:cs typeface="Montserrat" pitchFamily="34" charset="-120"/>
              </a:rPr>
              <a:t>that changes everything</a:t>
            </a:r>
            <a:endParaRPr lang="en-US" sz="3200" dirty="0"/>
          </a:p>
        </p:txBody>
      </p:sp>
      <p:sp>
        <p:nvSpPr>
          <p:cNvPr id="3" name="Shape 1"/>
          <p:cNvSpPr/>
          <p:nvPr/>
        </p:nvSpPr>
        <p:spPr>
          <a:xfrm>
            <a:off x="3657600" y="3840480"/>
            <a:ext cx="1828800" cy="45720"/>
          </a:xfrm>
          <a:prstGeom prst="rect">
            <a:avLst/>
          </a:prstGeom>
          <a:solidFill>
            <a:srgbClr val="FF7F66"/>
          </a:solidFill>
          <a:ln w="12700">
            <a:solidFill>
              <a:srgbClr val="333333"/>
            </a:solidFill>
            <a:prstDash val="solid"/>
          </a:ln>
        </p:spPr>
      </p:sp>
      <p:sp>
        <p:nvSpPr>
          <p:cNvPr id="4" name="Text 2"/>
          <p:cNvSpPr/>
          <p:nvPr/>
        </p:nvSpPr>
        <p:spPr>
          <a:xfrm>
            <a:off x="914400" y="4023360"/>
            <a:ext cx="7315200" cy="457200"/>
          </a:xfrm>
          <a:prstGeom prst="rect">
            <a:avLst/>
          </a:prstGeom>
          <a:noFill/>
          <a:ln/>
        </p:spPr>
        <p:txBody>
          <a:bodyPr wrap="square" rtlCol="0" anchor="ctr"/>
          <a:lstStyle/>
          <a:p>
            <a:pPr algn="ctr" indent="0" marL="0">
              <a:buNone/>
            </a:pPr>
            <a:r>
              <a:rPr lang="en-US" sz="1300" dirty="0">
                <a:solidFill>
                  <a:srgbClr val="807F83"/>
                </a:solidFill>
                <a:latin typeface="Montserrat" pitchFamily="34" charset="0"/>
                <a:ea typeface="Montserrat" pitchFamily="34" charset="-122"/>
                <a:cs typeface="Montserrat" pitchFamily="34" charset="-120"/>
              </a:rPr>
              <a:t>Supporting context or call to action</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731520" cy="36576"/>
          </a:xfrm>
          <a:prstGeom prst="rect">
            <a:avLst/>
          </a:prstGeom>
          <a:solidFill>
            <a:srgbClr val="FF7F66"/>
          </a:solidFill>
          <a:ln w="12700">
            <a:solidFill>
              <a:srgbClr val="333333"/>
            </a:solidFill>
            <a:prstDash val="solid"/>
          </a:ln>
        </p:spPr>
      </p:sp>
      <p:sp>
        <p:nvSpPr>
          <p:cNvPr id="3" name="Text 1"/>
          <p:cNvSpPr/>
          <p:nvPr/>
        </p:nvSpPr>
        <p:spPr>
          <a:xfrm>
            <a:off x="548640" y="502920"/>
            <a:ext cx="8046720" cy="548640"/>
          </a:xfrm>
          <a:prstGeom prst="rect">
            <a:avLst/>
          </a:prstGeom>
          <a:noFill/>
          <a:ln/>
        </p:spPr>
        <p:txBody>
          <a:bodyPr wrap="square" rtlCol="0" anchor="ctr"/>
          <a:lstStyle/>
          <a:p>
            <a:pPr indent="0" marL="0">
              <a:buNone/>
            </a:pPr>
            <a:r>
              <a:rPr lang="en-US" sz="2400" b="1" dirty="0">
                <a:solidFill>
                  <a:srgbClr val="222222"/>
                </a:solidFill>
                <a:latin typeface="Montserrat" pitchFamily="34" charset="0"/>
                <a:ea typeface="Montserrat" pitchFamily="34" charset="-122"/>
                <a:cs typeface="Montserrat" pitchFamily="34" charset="-120"/>
              </a:rPr>
              <a:t>Comparison</a:t>
            </a:r>
            <a:endParaRPr lang="en-US" sz="2400" dirty="0"/>
          </a:p>
        </p:txBody>
      </p:sp>
      <p:sp>
        <p:nvSpPr>
          <p:cNvPr id="4" name="Shape 2"/>
          <p:cNvSpPr/>
          <p:nvPr/>
        </p:nvSpPr>
        <p:spPr>
          <a:xfrm>
            <a:off x="548640" y="1188720"/>
            <a:ext cx="3886200" cy="411480"/>
          </a:xfrm>
          <a:prstGeom prst="rect">
            <a:avLst/>
          </a:prstGeom>
          <a:solidFill>
            <a:srgbClr val="FF7F66"/>
          </a:solidFill>
          <a:ln w="12700">
            <a:solidFill>
              <a:srgbClr val="333333"/>
            </a:solidFill>
            <a:prstDash val="solid"/>
          </a:ln>
        </p:spPr>
      </p:sp>
      <p:sp>
        <p:nvSpPr>
          <p:cNvPr id="5" name="Text 3"/>
          <p:cNvSpPr/>
          <p:nvPr/>
        </p:nvSpPr>
        <p:spPr>
          <a:xfrm>
            <a:off x="548640" y="1188720"/>
            <a:ext cx="3886200" cy="411480"/>
          </a:xfrm>
          <a:prstGeom prst="rect">
            <a:avLst/>
          </a:prstGeom>
          <a:noFill/>
          <a:ln/>
        </p:spPr>
        <p:txBody>
          <a:bodyPr wrap="square"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Advantages</a:t>
            </a:r>
            <a:endParaRPr lang="en-US" sz="1400" dirty="0"/>
          </a:p>
        </p:txBody>
      </p:sp>
      <p:sp>
        <p:nvSpPr>
          <p:cNvPr id="6" name="Text 4"/>
          <p:cNvSpPr/>
          <p:nvPr/>
        </p:nvSpPr>
        <p:spPr>
          <a:xfrm>
            <a:off x="685800" y="1691640"/>
            <a:ext cx="3611880" cy="365760"/>
          </a:xfrm>
          <a:prstGeom prst="rect">
            <a:avLst/>
          </a:prstGeom>
          <a:noFill/>
          <a:ln/>
        </p:spPr>
        <p:txBody>
          <a:bodyPr wrap="square" rtlCol="0" anchor="ctr"/>
          <a:lstStyle/>
          <a:p>
            <a:pPr indent="0" marL="0">
              <a:buNone/>
            </a:pPr>
            <a:r>
              <a:rPr lang="en-US" sz="1100" dirty="0">
                <a:solidFill>
                  <a:srgbClr val="222222"/>
                </a:solidFill>
                <a:latin typeface="Montserrat" pitchFamily="34" charset="0"/>
                <a:ea typeface="Montserrat" pitchFamily="34" charset="-122"/>
                <a:cs typeface="Montserrat" pitchFamily="34" charset="-120"/>
              </a:rPr>
              <a:t>+  Strong market position</a:t>
            </a:r>
            <a:endParaRPr lang="en-US" sz="1100" dirty="0"/>
          </a:p>
        </p:txBody>
      </p:sp>
      <p:sp>
        <p:nvSpPr>
          <p:cNvPr id="7" name="Text 5"/>
          <p:cNvSpPr/>
          <p:nvPr/>
        </p:nvSpPr>
        <p:spPr>
          <a:xfrm>
            <a:off x="685800" y="2194560"/>
            <a:ext cx="3611880" cy="365760"/>
          </a:xfrm>
          <a:prstGeom prst="rect">
            <a:avLst/>
          </a:prstGeom>
          <a:noFill/>
          <a:ln/>
        </p:spPr>
        <p:txBody>
          <a:bodyPr wrap="square" rtlCol="0" anchor="ctr"/>
          <a:lstStyle/>
          <a:p>
            <a:pPr indent="0" marL="0">
              <a:buNone/>
            </a:pPr>
            <a:r>
              <a:rPr lang="en-US" sz="1100" dirty="0">
                <a:solidFill>
                  <a:srgbClr val="222222"/>
                </a:solidFill>
                <a:latin typeface="Montserrat" pitchFamily="34" charset="0"/>
                <a:ea typeface="Montserrat" pitchFamily="34" charset="-122"/>
                <a:cs typeface="Montserrat" pitchFamily="34" charset="-120"/>
              </a:rPr>
              <a:t>+  Experienced team</a:t>
            </a:r>
            <a:endParaRPr lang="en-US" sz="1100" dirty="0"/>
          </a:p>
        </p:txBody>
      </p:sp>
      <p:sp>
        <p:nvSpPr>
          <p:cNvPr id="8" name="Text 6"/>
          <p:cNvSpPr/>
          <p:nvPr/>
        </p:nvSpPr>
        <p:spPr>
          <a:xfrm>
            <a:off x="685800" y="2697480"/>
            <a:ext cx="3611880" cy="365760"/>
          </a:xfrm>
          <a:prstGeom prst="rect">
            <a:avLst/>
          </a:prstGeom>
          <a:noFill/>
          <a:ln/>
        </p:spPr>
        <p:txBody>
          <a:bodyPr wrap="square" rtlCol="0" anchor="ctr"/>
          <a:lstStyle/>
          <a:p>
            <a:pPr indent="0" marL="0">
              <a:buNone/>
            </a:pPr>
            <a:r>
              <a:rPr lang="en-US" sz="1100" dirty="0">
                <a:solidFill>
                  <a:srgbClr val="222222"/>
                </a:solidFill>
                <a:latin typeface="Montserrat" pitchFamily="34" charset="0"/>
                <a:ea typeface="Montserrat" pitchFamily="34" charset="-122"/>
                <a:cs typeface="Montserrat" pitchFamily="34" charset="-120"/>
              </a:rPr>
              <a:t>+  Scalable technology</a:t>
            </a:r>
            <a:endParaRPr lang="en-US" sz="1100" dirty="0"/>
          </a:p>
        </p:txBody>
      </p:sp>
      <p:sp>
        <p:nvSpPr>
          <p:cNvPr id="9" name="Text 7"/>
          <p:cNvSpPr/>
          <p:nvPr/>
        </p:nvSpPr>
        <p:spPr>
          <a:xfrm>
            <a:off x="685800" y="3200400"/>
            <a:ext cx="3611880" cy="365760"/>
          </a:xfrm>
          <a:prstGeom prst="rect">
            <a:avLst/>
          </a:prstGeom>
          <a:noFill/>
          <a:ln/>
        </p:spPr>
        <p:txBody>
          <a:bodyPr wrap="square" rtlCol="0" anchor="ctr"/>
          <a:lstStyle/>
          <a:p>
            <a:pPr indent="0" marL="0">
              <a:buNone/>
            </a:pPr>
            <a:r>
              <a:rPr lang="en-US" sz="1100" dirty="0">
                <a:solidFill>
                  <a:srgbClr val="222222"/>
                </a:solidFill>
                <a:latin typeface="Montserrat" pitchFamily="34" charset="0"/>
                <a:ea typeface="Montserrat" pitchFamily="34" charset="-122"/>
                <a:cs typeface="Montserrat" pitchFamily="34" charset="-120"/>
              </a:rPr>
              <a:t>+  Brand recognition</a:t>
            </a:r>
            <a:endParaRPr lang="en-US" sz="1100" dirty="0"/>
          </a:p>
        </p:txBody>
      </p:sp>
      <p:sp>
        <p:nvSpPr>
          <p:cNvPr id="10" name="Shape 8"/>
          <p:cNvSpPr/>
          <p:nvPr/>
        </p:nvSpPr>
        <p:spPr>
          <a:xfrm>
            <a:off x="4709160" y="1188720"/>
            <a:ext cx="3886200" cy="411480"/>
          </a:xfrm>
          <a:prstGeom prst="rect">
            <a:avLst/>
          </a:prstGeom>
          <a:solidFill>
            <a:srgbClr val="222222"/>
          </a:solidFill>
          <a:ln w="12700">
            <a:solidFill>
              <a:srgbClr val="333333"/>
            </a:solidFill>
            <a:prstDash val="solid"/>
          </a:ln>
        </p:spPr>
      </p:sp>
      <p:sp>
        <p:nvSpPr>
          <p:cNvPr id="11" name="Text 9"/>
          <p:cNvSpPr/>
          <p:nvPr/>
        </p:nvSpPr>
        <p:spPr>
          <a:xfrm>
            <a:off x="4709160" y="1188720"/>
            <a:ext cx="3886200" cy="411480"/>
          </a:xfrm>
          <a:prstGeom prst="rect">
            <a:avLst/>
          </a:prstGeom>
          <a:noFill/>
          <a:ln/>
        </p:spPr>
        <p:txBody>
          <a:bodyPr wrap="square"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Challenges</a:t>
            </a:r>
            <a:endParaRPr lang="en-US" sz="1400" dirty="0"/>
          </a:p>
        </p:txBody>
      </p:sp>
      <p:sp>
        <p:nvSpPr>
          <p:cNvPr id="12" name="Text 10"/>
          <p:cNvSpPr/>
          <p:nvPr/>
        </p:nvSpPr>
        <p:spPr>
          <a:xfrm>
            <a:off x="4846320" y="1691640"/>
            <a:ext cx="3611880" cy="365760"/>
          </a:xfrm>
          <a:prstGeom prst="rect">
            <a:avLst/>
          </a:prstGeom>
          <a:noFill/>
          <a:ln/>
        </p:spPr>
        <p:txBody>
          <a:bodyPr wrap="square" rtlCol="0" anchor="ctr"/>
          <a:lstStyle/>
          <a:p>
            <a:pPr indent="0" marL="0">
              <a:buNone/>
            </a:pPr>
            <a:r>
              <a:rPr lang="en-US" sz="1100" dirty="0">
                <a:solidFill>
                  <a:srgbClr val="222222"/>
                </a:solidFill>
                <a:latin typeface="Montserrat" pitchFamily="34" charset="0"/>
                <a:ea typeface="Montserrat" pitchFamily="34" charset="-122"/>
                <a:cs typeface="Montserrat" pitchFamily="34" charset="-120"/>
              </a:rPr>
              <a:t>−  Limited budget</a:t>
            </a:r>
            <a:endParaRPr lang="en-US" sz="1100" dirty="0"/>
          </a:p>
        </p:txBody>
      </p:sp>
      <p:sp>
        <p:nvSpPr>
          <p:cNvPr id="13" name="Text 11"/>
          <p:cNvSpPr/>
          <p:nvPr/>
        </p:nvSpPr>
        <p:spPr>
          <a:xfrm>
            <a:off x="4846320" y="2194560"/>
            <a:ext cx="3611880" cy="365760"/>
          </a:xfrm>
          <a:prstGeom prst="rect">
            <a:avLst/>
          </a:prstGeom>
          <a:noFill/>
          <a:ln/>
        </p:spPr>
        <p:txBody>
          <a:bodyPr wrap="square" rtlCol="0" anchor="ctr"/>
          <a:lstStyle/>
          <a:p>
            <a:pPr indent="0" marL="0">
              <a:buNone/>
            </a:pPr>
            <a:r>
              <a:rPr lang="en-US" sz="1100" dirty="0">
                <a:solidFill>
                  <a:srgbClr val="222222"/>
                </a:solidFill>
                <a:latin typeface="Montserrat" pitchFamily="34" charset="0"/>
                <a:ea typeface="Montserrat" pitchFamily="34" charset="-122"/>
                <a:cs typeface="Montserrat" pitchFamily="34" charset="-120"/>
              </a:rPr>
              <a:t>−  Timeline constraints</a:t>
            </a:r>
            <a:endParaRPr lang="en-US" sz="1100" dirty="0"/>
          </a:p>
        </p:txBody>
      </p:sp>
      <p:sp>
        <p:nvSpPr>
          <p:cNvPr id="14" name="Text 12"/>
          <p:cNvSpPr/>
          <p:nvPr/>
        </p:nvSpPr>
        <p:spPr>
          <a:xfrm>
            <a:off x="4846320" y="2697480"/>
            <a:ext cx="3611880" cy="365760"/>
          </a:xfrm>
          <a:prstGeom prst="rect">
            <a:avLst/>
          </a:prstGeom>
          <a:noFill/>
          <a:ln/>
        </p:spPr>
        <p:txBody>
          <a:bodyPr wrap="square" rtlCol="0" anchor="ctr"/>
          <a:lstStyle/>
          <a:p>
            <a:pPr indent="0" marL="0">
              <a:buNone/>
            </a:pPr>
            <a:r>
              <a:rPr lang="en-US" sz="1100" dirty="0">
                <a:solidFill>
                  <a:srgbClr val="222222"/>
                </a:solidFill>
                <a:latin typeface="Montserrat" pitchFamily="34" charset="0"/>
                <a:ea typeface="Montserrat" pitchFamily="34" charset="-122"/>
                <a:cs typeface="Montserrat" pitchFamily="34" charset="-120"/>
              </a:rPr>
              <a:t>−  Legacy systems</a:t>
            </a:r>
            <a:endParaRPr lang="en-US" sz="1100" dirty="0"/>
          </a:p>
        </p:txBody>
      </p:sp>
      <p:sp>
        <p:nvSpPr>
          <p:cNvPr id="15" name="Text 13"/>
          <p:cNvSpPr/>
          <p:nvPr/>
        </p:nvSpPr>
        <p:spPr>
          <a:xfrm>
            <a:off x="4846320" y="3200400"/>
            <a:ext cx="3611880" cy="365760"/>
          </a:xfrm>
          <a:prstGeom prst="rect">
            <a:avLst/>
          </a:prstGeom>
          <a:noFill/>
          <a:ln/>
        </p:spPr>
        <p:txBody>
          <a:bodyPr wrap="square" rtlCol="0" anchor="ctr"/>
          <a:lstStyle/>
          <a:p>
            <a:pPr indent="0" marL="0">
              <a:buNone/>
            </a:pPr>
            <a:r>
              <a:rPr lang="en-US" sz="1100" dirty="0">
                <a:solidFill>
                  <a:srgbClr val="222222"/>
                </a:solidFill>
                <a:latin typeface="Montserrat" pitchFamily="34" charset="0"/>
                <a:ea typeface="Montserrat" pitchFamily="34" charset="-122"/>
                <a:cs typeface="Montserrat" pitchFamily="34" charset="-120"/>
              </a:rPr>
              <a:t>−  Change resistance</a:t>
            </a:r>
            <a:endParaRPr lang="en-US" sz="1100" dirty="0"/>
          </a:p>
        </p:txBody>
      </p:sp>
      <p:pic>
        <p:nvPicPr>
          <p:cNvPr id="16" name="Image 0" descr="/Users/williammasquelier/Repositories/stromy-org/Cowork/workspace/duke-strategies/brand/output/brand/logos/DukeStrategies_logo_gre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796028"/>
            <a:ext cx="822960" cy="201168"/>
          </a:xfrm>
          <a:prstGeom prst="rect">
            <a:avLst/>
          </a:prstGeom>
        </p:spPr>
      </p:pic>
      <p:sp>
        <p:nvSpPr>
          <p:cNvPr id="17" name="Text 14"/>
          <p:cNvSpPr/>
          <p:nvPr/>
        </p:nvSpPr>
        <p:spPr>
          <a:xfrm>
            <a:off x="8229600" y="4823460"/>
            <a:ext cx="548640" cy="228600"/>
          </a:xfrm>
          <a:prstGeom prst="rect">
            <a:avLst/>
          </a:prstGeom>
          <a:noFill/>
          <a:ln/>
        </p:spPr>
        <p:txBody>
          <a:bodyPr wrap="square" rtlCol="0"/>
          <a:lstStyle/>
          <a:p>
            <a:pPr algn="r" indent="0" marL="0">
              <a:buNone/>
            </a:pPr>
            <a:r>
              <a:rPr lang="en-US" sz="800" dirty="0">
                <a:solidFill>
                  <a:srgbClr val="807F83"/>
                </a:solidFill>
                <a:latin typeface="Space Mono" pitchFamily="34" charset="0"/>
                <a:ea typeface="Space Mono" pitchFamily="34" charset="-122"/>
                <a:cs typeface="Space Mono" pitchFamily="34" charset="-120"/>
              </a:rPr>
              <a:t>slideNumber</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731520" cy="36576"/>
          </a:xfrm>
          <a:prstGeom prst="rect">
            <a:avLst/>
          </a:prstGeom>
          <a:solidFill>
            <a:srgbClr val="FF7F66"/>
          </a:solidFill>
          <a:ln w="12700">
            <a:solidFill>
              <a:srgbClr val="333333"/>
            </a:solidFill>
            <a:prstDash val="solid"/>
          </a:ln>
        </p:spPr>
      </p:sp>
      <p:sp>
        <p:nvSpPr>
          <p:cNvPr id="3" name="Text 1"/>
          <p:cNvSpPr/>
          <p:nvPr/>
        </p:nvSpPr>
        <p:spPr>
          <a:xfrm>
            <a:off x="548640" y="502920"/>
            <a:ext cx="8046720" cy="548640"/>
          </a:xfrm>
          <a:prstGeom prst="rect">
            <a:avLst/>
          </a:prstGeom>
          <a:noFill/>
          <a:ln/>
        </p:spPr>
        <p:txBody>
          <a:bodyPr wrap="square" rtlCol="0" anchor="ctr"/>
          <a:lstStyle/>
          <a:p>
            <a:pPr indent="0" marL="0">
              <a:buNone/>
            </a:pPr>
            <a:r>
              <a:rPr lang="en-US" sz="2400" b="1" dirty="0">
                <a:solidFill>
                  <a:srgbClr val="222222"/>
                </a:solidFill>
                <a:latin typeface="Montserrat" pitchFamily="34" charset="0"/>
                <a:ea typeface="Montserrat" pitchFamily="34" charset="-122"/>
                <a:cs typeface="Montserrat" pitchFamily="34" charset="-120"/>
              </a:rPr>
              <a:t>Project Timeline</a:t>
            </a:r>
            <a:endParaRPr lang="en-US" sz="2400" dirty="0"/>
          </a:p>
        </p:txBody>
      </p:sp>
      <p:sp>
        <p:nvSpPr>
          <p:cNvPr id="4" name="Shape 2"/>
          <p:cNvSpPr/>
          <p:nvPr/>
        </p:nvSpPr>
        <p:spPr>
          <a:xfrm>
            <a:off x="822960" y="2560320"/>
            <a:ext cx="7498080" cy="0"/>
          </a:xfrm>
          <a:prstGeom prst="line">
            <a:avLst/>
          </a:prstGeom>
          <a:noFill/>
          <a:ln w="25400">
            <a:solidFill>
              <a:srgbClr val="DFDFE0"/>
            </a:solidFill>
            <a:prstDash val="solid"/>
          </a:ln>
        </p:spPr>
      </p:sp>
      <p:sp>
        <p:nvSpPr>
          <p:cNvPr id="5" name="Shape 3"/>
          <p:cNvSpPr/>
          <p:nvPr/>
        </p:nvSpPr>
        <p:spPr>
          <a:xfrm>
            <a:off x="1463040" y="2450592"/>
            <a:ext cx="219456" cy="219456"/>
          </a:xfrm>
          <a:prstGeom prst="ellipse">
            <a:avLst/>
          </a:prstGeom>
          <a:solidFill>
            <a:srgbClr val="FF7F66"/>
          </a:solidFill>
          <a:ln w="12700">
            <a:solidFill>
              <a:srgbClr val="333333"/>
            </a:solidFill>
            <a:prstDash val="solid"/>
          </a:ln>
        </p:spPr>
      </p:sp>
      <p:sp>
        <p:nvSpPr>
          <p:cNvPr id="6" name="Text 4"/>
          <p:cNvSpPr/>
          <p:nvPr/>
        </p:nvSpPr>
        <p:spPr>
          <a:xfrm>
            <a:off x="932688" y="1874520"/>
            <a:ext cx="1280160" cy="365760"/>
          </a:xfrm>
          <a:prstGeom prst="rect">
            <a:avLst/>
          </a:prstGeom>
          <a:noFill/>
          <a:ln/>
        </p:spPr>
        <p:txBody>
          <a:bodyPr wrap="square" rtlCol="0" anchor="ctr"/>
          <a:lstStyle/>
          <a:p>
            <a:pPr algn="ctr" indent="0" marL="0">
              <a:buNone/>
            </a:pPr>
            <a:r>
              <a:rPr lang="en-US" sz="1100" b="1" dirty="0">
                <a:solidFill>
                  <a:srgbClr val="222222"/>
                </a:solidFill>
                <a:latin typeface="Montserrat" pitchFamily="34" charset="0"/>
                <a:ea typeface="Montserrat" pitchFamily="34" charset="-122"/>
                <a:cs typeface="Montserrat" pitchFamily="34" charset="-120"/>
              </a:rPr>
              <a:t>Discovery</a:t>
            </a:r>
            <a:endParaRPr lang="en-US" sz="1100" dirty="0"/>
          </a:p>
        </p:txBody>
      </p:sp>
      <p:sp>
        <p:nvSpPr>
          <p:cNvPr id="7" name="Text 5"/>
          <p:cNvSpPr/>
          <p:nvPr/>
        </p:nvSpPr>
        <p:spPr>
          <a:xfrm>
            <a:off x="932688" y="2788920"/>
            <a:ext cx="1280160" cy="274320"/>
          </a:xfrm>
          <a:prstGeom prst="rect">
            <a:avLst/>
          </a:prstGeom>
          <a:noFill/>
          <a:ln/>
        </p:spPr>
        <p:txBody>
          <a:bodyPr wrap="square" rtlCol="0" anchor="ctr"/>
          <a:lstStyle/>
          <a:p>
            <a:pPr algn="ctr" indent="0" marL="0">
              <a:buNone/>
            </a:pPr>
            <a:r>
              <a:rPr lang="en-US" sz="900" dirty="0">
                <a:solidFill>
                  <a:srgbClr val="807F83"/>
                </a:solidFill>
                <a:latin typeface="Space Mono" pitchFamily="34" charset="0"/>
                <a:ea typeface="Space Mono" pitchFamily="34" charset="-122"/>
                <a:cs typeface="Space Mono" pitchFamily="34" charset="-120"/>
              </a:rPr>
              <a:t>Wk 1–2</a:t>
            </a:r>
            <a:endParaRPr lang="en-US" sz="900" dirty="0"/>
          </a:p>
        </p:txBody>
      </p:sp>
      <p:sp>
        <p:nvSpPr>
          <p:cNvPr id="8" name="Shape 6"/>
          <p:cNvSpPr/>
          <p:nvPr/>
        </p:nvSpPr>
        <p:spPr>
          <a:xfrm>
            <a:off x="2962656" y="2450592"/>
            <a:ext cx="219456" cy="219456"/>
          </a:xfrm>
          <a:prstGeom prst="ellipse">
            <a:avLst/>
          </a:prstGeom>
          <a:solidFill>
            <a:srgbClr val="222222"/>
          </a:solidFill>
          <a:ln w="12700">
            <a:solidFill>
              <a:srgbClr val="333333"/>
            </a:solidFill>
            <a:prstDash val="solid"/>
          </a:ln>
        </p:spPr>
      </p:sp>
      <p:sp>
        <p:nvSpPr>
          <p:cNvPr id="9" name="Text 7"/>
          <p:cNvSpPr/>
          <p:nvPr/>
        </p:nvSpPr>
        <p:spPr>
          <a:xfrm>
            <a:off x="2432304" y="1874520"/>
            <a:ext cx="1280160" cy="365760"/>
          </a:xfrm>
          <a:prstGeom prst="rect">
            <a:avLst/>
          </a:prstGeom>
          <a:noFill/>
          <a:ln/>
        </p:spPr>
        <p:txBody>
          <a:bodyPr wrap="square" rtlCol="0" anchor="ctr"/>
          <a:lstStyle/>
          <a:p>
            <a:pPr algn="ctr" indent="0" marL="0">
              <a:buNone/>
            </a:pPr>
            <a:r>
              <a:rPr lang="en-US" sz="1100" b="1" dirty="0">
                <a:solidFill>
                  <a:srgbClr val="222222"/>
                </a:solidFill>
                <a:latin typeface="Montserrat" pitchFamily="34" charset="0"/>
                <a:ea typeface="Montserrat" pitchFamily="34" charset="-122"/>
                <a:cs typeface="Montserrat" pitchFamily="34" charset="-120"/>
              </a:rPr>
              <a:t>Analysis</a:t>
            </a:r>
            <a:endParaRPr lang="en-US" sz="1100" dirty="0"/>
          </a:p>
        </p:txBody>
      </p:sp>
      <p:sp>
        <p:nvSpPr>
          <p:cNvPr id="10" name="Text 8"/>
          <p:cNvSpPr/>
          <p:nvPr/>
        </p:nvSpPr>
        <p:spPr>
          <a:xfrm>
            <a:off x="2432304" y="2788920"/>
            <a:ext cx="1280160" cy="274320"/>
          </a:xfrm>
          <a:prstGeom prst="rect">
            <a:avLst/>
          </a:prstGeom>
          <a:noFill/>
          <a:ln/>
        </p:spPr>
        <p:txBody>
          <a:bodyPr wrap="square" rtlCol="0" anchor="ctr"/>
          <a:lstStyle/>
          <a:p>
            <a:pPr algn="ctr" indent="0" marL="0">
              <a:buNone/>
            </a:pPr>
            <a:r>
              <a:rPr lang="en-US" sz="900" dirty="0">
                <a:solidFill>
                  <a:srgbClr val="807F83"/>
                </a:solidFill>
                <a:latin typeface="Space Mono" pitchFamily="34" charset="0"/>
                <a:ea typeface="Space Mono" pitchFamily="34" charset="-122"/>
                <a:cs typeface="Space Mono" pitchFamily="34" charset="-120"/>
              </a:rPr>
              <a:t>Wk 3–4</a:t>
            </a:r>
            <a:endParaRPr lang="en-US" sz="900" dirty="0"/>
          </a:p>
        </p:txBody>
      </p:sp>
      <p:sp>
        <p:nvSpPr>
          <p:cNvPr id="11" name="Shape 9"/>
          <p:cNvSpPr/>
          <p:nvPr/>
        </p:nvSpPr>
        <p:spPr>
          <a:xfrm>
            <a:off x="4462272" y="2450592"/>
            <a:ext cx="219456" cy="219456"/>
          </a:xfrm>
          <a:prstGeom prst="ellipse">
            <a:avLst/>
          </a:prstGeom>
          <a:solidFill>
            <a:srgbClr val="222222"/>
          </a:solidFill>
          <a:ln w="12700">
            <a:solidFill>
              <a:srgbClr val="333333"/>
            </a:solidFill>
            <a:prstDash val="solid"/>
          </a:ln>
        </p:spPr>
      </p:sp>
      <p:sp>
        <p:nvSpPr>
          <p:cNvPr id="12" name="Text 10"/>
          <p:cNvSpPr/>
          <p:nvPr/>
        </p:nvSpPr>
        <p:spPr>
          <a:xfrm>
            <a:off x="3931920" y="1874520"/>
            <a:ext cx="1280160" cy="365760"/>
          </a:xfrm>
          <a:prstGeom prst="rect">
            <a:avLst/>
          </a:prstGeom>
          <a:noFill/>
          <a:ln/>
        </p:spPr>
        <p:txBody>
          <a:bodyPr wrap="square" rtlCol="0" anchor="ctr"/>
          <a:lstStyle/>
          <a:p>
            <a:pPr algn="ctr" indent="0" marL="0">
              <a:buNone/>
            </a:pPr>
            <a:r>
              <a:rPr lang="en-US" sz="1100" b="1" dirty="0">
                <a:solidFill>
                  <a:srgbClr val="222222"/>
                </a:solidFill>
                <a:latin typeface="Montserrat" pitchFamily="34" charset="0"/>
                <a:ea typeface="Montserrat" pitchFamily="34" charset="-122"/>
                <a:cs typeface="Montserrat" pitchFamily="34" charset="-120"/>
              </a:rPr>
              <a:t>Strategy</a:t>
            </a:r>
            <a:endParaRPr lang="en-US" sz="1100" dirty="0"/>
          </a:p>
        </p:txBody>
      </p:sp>
      <p:sp>
        <p:nvSpPr>
          <p:cNvPr id="13" name="Text 11"/>
          <p:cNvSpPr/>
          <p:nvPr/>
        </p:nvSpPr>
        <p:spPr>
          <a:xfrm>
            <a:off x="3931920" y="2788920"/>
            <a:ext cx="1280160" cy="274320"/>
          </a:xfrm>
          <a:prstGeom prst="rect">
            <a:avLst/>
          </a:prstGeom>
          <a:noFill/>
          <a:ln/>
        </p:spPr>
        <p:txBody>
          <a:bodyPr wrap="square" rtlCol="0" anchor="ctr"/>
          <a:lstStyle/>
          <a:p>
            <a:pPr algn="ctr" indent="0" marL="0">
              <a:buNone/>
            </a:pPr>
            <a:r>
              <a:rPr lang="en-US" sz="900" dirty="0">
                <a:solidFill>
                  <a:srgbClr val="807F83"/>
                </a:solidFill>
                <a:latin typeface="Space Mono" pitchFamily="34" charset="0"/>
                <a:ea typeface="Space Mono" pitchFamily="34" charset="-122"/>
                <a:cs typeface="Space Mono" pitchFamily="34" charset="-120"/>
              </a:rPr>
              <a:t>Wk 5–8</a:t>
            </a:r>
            <a:endParaRPr lang="en-US" sz="900" dirty="0"/>
          </a:p>
        </p:txBody>
      </p:sp>
      <p:sp>
        <p:nvSpPr>
          <p:cNvPr id="14" name="Shape 12"/>
          <p:cNvSpPr/>
          <p:nvPr/>
        </p:nvSpPr>
        <p:spPr>
          <a:xfrm>
            <a:off x="5961888" y="2450592"/>
            <a:ext cx="219456" cy="219456"/>
          </a:xfrm>
          <a:prstGeom prst="ellipse">
            <a:avLst/>
          </a:prstGeom>
          <a:solidFill>
            <a:srgbClr val="222222"/>
          </a:solidFill>
          <a:ln w="12700">
            <a:solidFill>
              <a:srgbClr val="333333"/>
            </a:solidFill>
            <a:prstDash val="solid"/>
          </a:ln>
        </p:spPr>
      </p:sp>
      <p:sp>
        <p:nvSpPr>
          <p:cNvPr id="15" name="Text 13"/>
          <p:cNvSpPr/>
          <p:nvPr/>
        </p:nvSpPr>
        <p:spPr>
          <a:xfrm>
            <a:off x="5431536" y="1874520"/>
            <a:ext cx="1280160" cy="365760"/>
          </a:xfrm>
          <a:prstGeom prst="rect">
            <a:avLst/>
          </a:prstGeom>
          <a:noFill/>
          <a:ln/>
        </p:spPr>
        <p:txBody>
          <a:bodyPr wrap="square" rtlCol="0" anchor="ctr"/>
          <a:lstStyle/>
          <a:p>
            <a:pPr algn="ctr" indent="0" marL="0">
              <a:buNone/>
            </a:pPr>
            <a:r>
              <a:rPr lang="en-US" sz="1100" b="1" dirty="0">
                <a:solidFill>
                  <a:srgbClr val="222222"/>
                </a:solidFill>
                <a:latin typeface="Montserrat" pitchFamily="34" charset="0"/>
                <a:ea typeface="Montserrat" pitchFamily="34" charset="-122"/>
                <a:cs typeface="Montserrat" pitchFamily="34" charset="-120"/>
              </a:rPr>
              <a:t>Launch</a:t>
            </a:r>
            <a:endParaRPr lang="en-US" sz="1100" dirty="0"/>
          </a:p>
        </p:txBody>
      </p:sp>
      <p:sp>
        <p:nvSpPr>
          <p:cNvPr id="16" name="Text 14"/>
          <p:cNvSpPr/>
          <p:nvPr/>
        </p:nvSpPr>
        <p:spPr>
          <a:xfrm>
            <a:off x="5431536" y="2788920"/>
            <a:ext cx="1280160" cy="274320"/>
          </a:xfrm>
          <a:prstGeom prst="rect">
            <a:avLst/>
          </a:prstGeom>
          <a:noFill/>
          <a:ln/>
        </p:spPr>
        <p:txBody>
          <a:bodyPr wrap="square" rtlCol="0" anchor="ctr"/>
          <a:lstStyle/>
          <a:p>
            <a:pPr algn="ctr" indent="0" marL="0">
              <a:buNone/>
            </a:pPr>
            <a:r>
              <a:rPr lang="en-US" sz="900" dirty="0">
                <a:solidFill>
                  <a:srgbClr val="807F83"/>
                </a:solidFill>
                <a:latin typeface="Space Mono" pitchFamily="34" charset="0"/>
                <a:ea typeface="Space Mono" pitchFamily="34" charset="-122"/>
                <a:cs typeface="Space Mono" pitchFamily="34" charset="-120"/>
              </a:rPr>
              <a:t>Wk 9–10</a:t>
            </a:r>
            <a:endParaRPr lang="en-US" sz="900" dirty="0"/>
          </a:p>
        </p:txBody>
      </p:sp>
      <p:sp>
        <p:nvSpPr>
          <p:cNvPr id="17" name="Shape 15"/>
          <p:cNvSpPr/>
          <p:nvPr/>
        </p:nvSpPr>
        <p:spPr>
          <a:xfrm>
            <a:off x="7461504" y="2450592"/>
            <a:ext cx="219456" cy="219456"/>
          </a:xfrm>
          <a:prstGeom prst="ellipse">
            <a:avLst/>
          </a:prstGeom>
          <a:solidFill>
            <a:srgbClr val="222222"/>
          </a:solidFill>
          <a:ln w="12700">
            <a:solidFill>
              <a:srgbClr val="333333"/>
            </a:solidFill>
            <a:prstDash val="solid"/>
          </a:ln>
        </p:spPr>
      </p:sp>
      <p:sp>
        <p:nvSpPr>
          <p:cNvPr id="18" name="Text 16"/>
          <p:cNvSpPr/>
          <p:nvPr/>
        </p:nvSpPr>
        <p:spPr>
          <a:xfrm>
            <a:off x="6931152" y="1874520"/>
            <a:ext cx="1280160" cy="365760"/>
          </a:xfrm>
          <a:prstGeom prst="rect">
            <a:avLst/>
          </a:prstGeom>
          <a:noFill/>
          <a:ln/>
        </p:spPr>
        <p:txBody>
          <a:bodyPr wrap="square" rtlCol="0" anchor="ctr"/>
          <a:lstStyle/>
          <a:p>
            <a:pPr algn="ctr" indent="0" marL="0">
              <a:buNone/>
            </a:pPr>
            <a:r>
              <a:rPr lang="en-US" sz="1100" b="1" dirty="0">
                <a:solidFill>
                  <a:srgbClr val="222222"/>
                </a:solidFill>
                <a:latin typeface="Montserrat" pitchFamily="34" charset="0"/>
                <a:ea typeface="Montserrat" pitchFamily="34" charset="-122"/>
                <a:cs typeface="Montserrat" pitchFamily="34" charset="-120"/>
              </a:rPr>
              <a:t>Review</a:t>
            </a:r>
            <a:endParaRPr lang="en-US" sz="1100" dirty="0"/>
          </a:p>
        </p:txBody>
      </p:sp>
      <p:sp>
        <p:nvSpPr>
          <p:cNvPr id="19" name="Text 17"/>
          <p:cNvSpPr/>
          <p:nvPr/>
        </p:nvSpPr>
        <p:spPr>
          <a:xfrm>
            <a:off x="6931152" y="2788920"/>
            <a:ext cx="1280160" cy="274320"/>
          </a:xfrm>
          <a:prstGeom prst="rect">
            <a:avLst/>
          </a:prstGeom>
          <a:noFill/>
          <a:ln/>
        </p:spPr>
        <p:txBody>
          <a:bodyPr wrap="square" rtlCol="0" anchor="ctr"/>
          <a:lstStyle/>
          <a:p>
            <a:pPr algn="ctr" indent="0" marL="0">
              <a:buNone/>
            </a:pPr>
            <a:r>
              <a:rPr lang="en-US" sz="900" dirty="0">
                <a:solidFill>
                  <a:srgbClr val="807F83"/>
                </a:solidFill>
                <a:latin typeface="Space Mono" pitchFamily="34" charset="0"/>
                <a:ea typeface="Space Mono" pitchFamily="34" charset="-122"/>
                <a:cs typeface="Space Mono" pitchFamily="34" charset="-120"/>
              </a:rPr>
              <a:t>Wk 11–12</a:t>
            </a:r>
            <a:endParaRPr lang="en-US" sz="900" dirty="0"/>
          </a:p>
        </p:txBody>
      </p:sp>
      <p:pic>
        <p:nvPicPr>
          <p:cNvPr id="20" name="Image 0" descr="/Users/williammasquelier/Repositories/stromy-org/Cowork/workspace/duke-strategies/brand/output/brand/logos/DukeStrategies_logo_gre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796028"/>
            <a:ext cx="822960" cy="201168"/>
          </a:xfrm>
          <a:prstGeom prst="rect">
            <a:avLst/>
          </a:prstGeom>
        </p:spPr>
      </p:pic>
      <p:sp>
        <p:nvSpPr>
          <p:cNvPr id="21" name="Text 18"/>
          <p:cNvSpPr/>
          <p:nvPr/>
        </p:nvSpPr>
        <p:spPr>
          <a:xfrm>
            <a:off x="8229600" y="4823460"/>
            <a:ext cx="548640" cy="228600"/>
          </a:xfrm>
          <a:prstGeom prst="rect">
            <a:avLst/>
          </a:prstGeom>
          <a:noFill/>
          <a:ln/>
        </p:spPr>
        <p:txBody>
          <a:bodyPr wrap="square" rtlCol="0"/>
          <a:lstStyle/>
          <a:p>
            <a:pPr algn="r" indent="0" marL="0">
              <a:buNone/>
            </a:pPr>
            <a:r>
              <a:rPr lang="en-US" sz="800" dirty="0">
                <a:solidFill>
                  <a:srgbClr val="807F83"/>
                </a:solidFill>
                <a:latin typeface="Space Mono" pitchFamily="34" charset="0"/>
                <a:ea typeface="Space Mono" pitchFamily="34" charset="-122"/>
                <a:cs typeface="Space Mono" pitchFamily="34" charset="-120"/>
              </a:rPr>
              <a:t>slideNumber</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731520" cy="36576"/>
          </a:xfrm>
          <a:prstGeom prst="rect">
            <a:avLst/>
          </a:prstGeom>
          <a:solidFill>
            <a:srgbClr val="FF7F66"/>
          </a:solidFill>
          <a:ln w="12700">
            <a:solidFill>
              <a:srgbClr val="333333"/>
            </a:solidFill>
            <a:prstDash val="solid"/>
          </a:ln>
        </p:spPr>
      </p:sp>
      <p:sp>
        <p:nvSpPr>
          <p:cNvPr id="3" name="Text 1"/>
          <p:cNvSpPr/>
          <p:nvPr/>
        </p:nvSpPr>
        <p:spPr>
          <a:xfrm>
            <a:off x="548640" y="502920"/>
            <a:ext cx="8046720" cy="548640"/>
          </a:xfrm>
          <a:prstGeom prst="rect">
            <a:avLst/>
          </a:prstGeom>
          <a:noFill/>
          <a:ln/>
        </p:spPr>
        <p:txBody>
          <a:bodyPr wrap="square" rtlCol="0" anchor="ctr"/>
          <a:lstStyle/>
          <a:p>
            <a:pPr indent="0" marL="0">
              <a:buNone/>
            </a:pPr>
            <a:r>
              <a:rPr lang="en-US" sz="2400" b="1" dirty="0">
                <a:solidFill>
                  <a:srgbClr val="222222"/>
                </a:solidFill>
                <a:latin typeface="Montserrat" pitchFamily="34" charset="0"/>
                <a:ea typeface="Montserrat" pitchFamily="34" charset="-122"/>
                <a:cs typeface="Montserrat" pitchFamily="34" charset="-120"/>
              </a:rPr>
              <a:t>Our Process</a:t>
            </a:r>
            <a:endParaRPr lang="en-US" sz="2400" dirty="0"/>
          </a:p>
        </p:txBody>
      </p:sp>
      <p:sp>
        <p:nvSpPr>
          <p:cNvPr id="4" name="Shape 2"/>
          <p:cNvSpPr/>
          <p:nvPr/>
        </p:nvSpPr>
        <p:spPr>
          <a:xfrm>
            <a:off x="548640" y="1371600"/>
            <a:ext cx="1316736" cy="54864"/>
          </a:xfrm>
          <a:prstGeom prst="rect">
            <a:avLst/>
          </a:prstGeom>
          <a:solidFill>
            <a:srgbClr val="FF7F66"/>
          </a:solidFill>
          <a:ln w="12700">
            <a:solidFill>
              <a:srgbClr val="333333"/>
            </a:solidFill>
            <a:prstDash val="solid"/>
          </a:ln>
        </p:spPr>
      </p:sp>
      <p:sp>
        <p:nvSpPr>
          <p:cNvPr id="5" name="Text 3"/>
          <p:cNvSpPr/>
          <p:nvPr/>
        </p:nvSpPr>
        <p:spPr>
          <a:xfrm>
            <a:off x="548640" y="1554480"/>
            <a:ext cx="1316736" cy="365760"/>
          </a:xfrm>
          <a:prstGeom prst="rect">
            <a:avLst/>
          </a:prstGeom>
          <a:noFill/>
          <a:ln/>
        </p:spPr>
        <p:txBody>
          <a:bodyPr wrap="square" rtlCol="0" anchor="ctr"/>
          <a:lstStyle/>
          <a:p>
            <a:pPr indent="0" marL="0">
              <a:buNone/>
            </a:pPr>
            <a:r>
              <a:rPr lang="en-US" sz="2000" b="1" dirty="0">
                <a:solidFill>
                  <a:srgbClr val="FF7F66"/>
                </a:solidFill>
                <a:latin typeface="Space Mono" pitchFamily="34" charset="0"/>
                <a:ea typeface="Space Mono" pitchFamily="34" charset="-122"/>
                <a:cs typeface="Space Mono" pitchFamily="34" charset="-120"/>
              </a:rPr>
              <a:t>01</a:t>
            </a:r>
            <a:endParaRPr lang="en-US" sz="2000" dirty="0"/>
          </a:p>
        </p:txBody>
      </p:sp>
      <p:sp>
        <p:nvSpPr>
          <p:cNvPr id="6" name="Text 4"/>
          <p:cNvSpPr/>
          <p:nvPr/>
        </p:nvSpPr>
        <p:spPr>
          <a:xfrm>
            <a:off x="548640" y="1965960"/>
            <a:ext cx="1316736" cy="320040"/>
          </a:xfrm>
          <a:prstGeom prst="rect">
            <a:avLst/>
          </a:prstGeom>
          <a:noFill/>
          <a:ln/>
        </p:spPr>
        <p:txBody>
          <a:bodyPr wrap="square" rtlCol="0" anchor="ctr"/>
          <a:lstStyle/>
          <a:p>
            <a:pPr indent="0" marL="0">
              <a:buNone/>
            </a:pPr>
            <a:r>
              <a:rPr lang="en-US" sz="1300" b="1" dirty="0">
                <a:solidFill>
                  <a:srgbClr val="222222"/>
                </a:solidFill>
                <a:latin typeface="Montserrat" pitchFamily="34" charset="0"/>
                <a:ea typeface="Montserrat" pitchFamily="34" charset="-122"/>
                <a:cs typeface="Montserrat" pitchFamily="34" charset="-120"/>
              </a:rPr>
              <a:t>Discover</a:t>
            </a:r>
            <a:endParaRPr lang="en-US" sz="1300" dirty="0"/>
          </a:p>
        </p:txBody>
      </p:sp>
      <p:sp>
        <p:nvSpPr>
          <p:cNvPr id="7" name="Text 5"/>
          <p:cNvSpPr/>
          <p:nvPr/>
        </p:nvSpPr>
        <p:spPr>
          <a:xfrm>
            <a:off x="548640" y="2331720"/>
            <a:ext cx="1316736" cy="640080"/>
          </a:xfrm>
          <a:prstGeom prst="rect">
            <a:avLst/>
          </a:prstGeom>
          <a:noFill/>
          <a:ln/>
        </p:spPr>
        <p:txBody>
          <a:bodyPr wrap="square" rtlCol="0" anchor="ctr"/>
          <a:lstStyle/>
          <a:p>
            <a:pPr indent="0" marL="0">
              <a:lnSpc>
                <a:spcPct val="130000"/>
              </a:lnSpc>
              <a:buNone/>
            </a:pPr>
            <a:r>
              <a:rPr lang="en-US" sz="900" dirty="0">
                <a:solidFill>
                  <a:srgbClr val="807F83"/>
                </a:solidFill>
                <a:latin typeface="Montserrat" pitchFamily="34" charset="0"/>
                <a:ea typeface="Montserrat" pitchFamily="34" charset="-122"/>
                <a:cs typeface="Montserrat" pitchFamily="34" charset="-120"/>
              </a:rPr>
              <a:t>Research and stakeholder engagement</a:t>
            </a:r>
            <a:endParaRPr lang="en-US" sz="900" dirty="0"/>
          </a:p>
        </p:txBody>
      </p:sp>
      <p:sp>
        <p:nvSpPr>
          <p:cNvPr id="8" name="Text 6"/>
          <p:cNvSpPr/>
          <p:nvPr/>
        </p:nvSpPr>
        <p:spPr>
          <a:xfrm>
            <a:off x="1865376" y="1737360"/>
            <a:ext cx="365760" cy="365760"/>
          </a:xfrm>
          <a:prstGeom prst="rect">
            <a:avLst/>
          </a:prstGeom>
          <a:noFill/>
          <a:ln/>
        </p:spPr>
        <p:txBody>
          <a:bodyPr wrap="square" rtlCol="0" anchor="ctr"/>
          <a:lstStyle/>
          <a:p>
            <a:pPr algn="ctr" indent="0" marL="0">
              <a:buNone/>
            </a:pPr>
            <a:r>
              <a:rPr lang="en-US" sz="1600" dirty="0">
                <a:solidFill>
                  <a:srgbClr val="DFDFE0"/>
                </a:solidFill>
                <a:latin typeface="Montserrat" pitchFamily="34" charset="0"/>
                <a:ea typeface="Montserrat" pitchFamily="34" charset="-122"/>
                <a:cs typeface="Montserrat" pitchFamily="34" charset="-120"/>
              </a:rPr>
              <a:t>→</a:t>
            </a:r>
            <a:endParaRPr lang="en-US" sz="1600" dirty="0"/>
          </a:p>
        </p:txBody>
      </p:sp>
      <p:sp>
        <p:nvSpPr>
          <p:cNvPr id="9" name="Shape 7"/>
          <p:cNvSpPr/>
          <p:nvPr/>
        </p:nvSpPr>
        <p:spPr>
          <a:xfrm>
            <a:off x="2231136" y="1371600"/>
            <a:ext cx="1316736" cy="54864"/>
          </a:xfrm>
          <a:prstGeom prst="rect">
            <a:avLst/>
          </a:prstGeom>
          <a:solidFill>
            <a:srgbClr val="FF7F66"/>
          </a:solidFill>
          <a:ln w="12700">
            <a:solidFill>
              <a:srgbClr val="333333"/>
            </a:solidFill>
            <a:prstDash val="solid"/>
          </a:ln>
        </p:spPr>
      </p:sp>
      <p:sp>
        <p:nvSpPr>
          <p:cNvPr id="10" name="Text 8"/>
          <p:cNvSpPr/>
          <p:nvPr/>
        </p:nvSpPr>
        <p:spPr>
          <a:xfrm>
            <a:off x="2231136" y="1554480"/>
            <a:ext cx="1316736" cy="365760"/>
          </a:xfrm>
          <a:prstGeom prst="rect">
            <a:avLst/>
          </a:prstGeom>
          <a:noFill/>
          <a:ln/>
        </p:spPr>
        <p:txBody>
          <a:bodyPr wrap="square" rtlCol="0" anchor="ctr"/>
          <a:lstStyle/>
          <a:p>
            <a:pPr indent="0" marL="0">
              <a:buNone/>
            </a:pPr>
            <a:r>
              <a:rPr lang="en-US" sz="2000" b="1" dirty="0">
                <a:solidFill>
                  <a:srgbClr val="FF7F66"/>
                </a:solidFill>
                <a:latin typeface="Space Mono" pitchFamily="34" charset="0"/>
                <a:ea typeface="Space Mono" pitchFamily="34" charset="-122"/>
                <a:cs typeface="Space Mono" pitchFamily="34" charset="-120"/>
              </a:rPr>
              <a:t>02</a:t>
            </a:r>
            <a:endParaRPr lang="en-US" sz="2000" dirty="0"/>
          </a:p>
        </p:txBody>
      </p:sp>
      <p:sp>
        <p:nvSpPr>
          <p:cNvPr id="11" name="Text 9"/>
          <p:cNvSpPr/>
          <p:nvPr/>
        </p:nvSpPr>
        <p:spPr>
          <a:xfrm>
            <a:off x="2231136" y="1965960"/>
            <a:ext cx="1316736" cy="320040"/>
          </a:xfrm>
          <a:prstGeom prst="rect">
            <a:avLst/>
          </a:prstGeom>
          <a:noFill/>
          <a:ln/>
        </p:spPr>
        <p:txBody>
          <a:bodyPr wrap="square" rtlCol="0" anchor="ctr"/>
          <a:lstStyle/>
          <a:p>
            <a:pPr indent="0" marL="0">
              <a:buNone/>
            </a:pPr>
            <a:r>
              <a:rPr lang="en-US" sz="1300" b="1" dirty="0">
                <a:solidFill>
                  <a:srgbClr val="222222"/>
                </a:solidFill>
                <a:latin typeface="Montserrat" pitchFamily="34" charset="0"/>
                <a:ea typeface="Montserrat" pitchFamily="34" charset="-122"/>
                <a:cs typeface="Montserrat" pitchFamily="34" charset="-120"/>
              </a:rPr>
              <a:t>Define</a:t>
            </a:r>
            <a:endParaRPr lang="en-US" sz="1300" dirty="0"/>
          </a:p>
        </p:txBody>
      </p:sp>
      <p:sp>
        <p:nvSpPr>
          <p:cNvPr id="12" name="Text 10"/>
          <p:cNvSpPr/>
          <p:nvPr/>
        </p:nvSpPr>
        <p:spPr>
          <a:xfrm>
            <a:off x="2231136" y="2331720"/>
            <a:ext cx="1316736" cy="640080"/>
          </a:xfrm>
          <a:prstGeom prst="rect">
            <a:avLst/>
          </a:prstGeom>
          <a:noFill/>
          <a:ln/>
        </p:spPr>
        <p:txBody>
          <a:bodyPr wrap="square" rtlCol="0" anchor="ctr"/>
          <a:lstStyle/>
          <a:p>
            <a:pPr indent="0" marL="0">
              <a:lnSpc>
                <a:spcPct val="130000"/>
              </a:lnSpc>
              <a:buNone/>
            </a:pPr>
            <a:r>
              <a:rPr lang="en-US" sz="900" dirty="0">
                <a:solidFill>
                  <a:srgbClr val="807F83"/>
                </a:solidFill>
                <a:latin typeface="Montserrat" pitchFamily="34" charset="0"/>
                <a:ea typeface="Montserrat" pitchFamily="34" charset="-122"/>
                <a:cs typeface="Montserrat" pitchFamily="34" charset="-120"/>
              </a:rPr>
              <a:t>Strategic framework and objectives</a:t>
            </a:r>
            <a:endParaRPr lang="en-US" sz="900" dirty="0"/>
          </a:p>
        </p:txBody>
      </p:sp>
      <p:sp>
        <p:nvSpPr>
          <p:cNvPr id="13" name="Text 11"/>
          <p:cNvSpPr/>
          <p:nvPr/>
        </p:nvSpPr>
        <p:spPr>
          <a:xfrm>
            <a:off x="3547872" y="1737360"/>
            <a:ext cx="365760" cy="365760"/>
          </a:xfrm>
          <a:prstGeom prst="rect">
            <a:avLst/>
          </a:prstGeom>
          <a:noFill/>
          <a:ln/>
        </p:spPr>
        <p:txBody>
          <a:bodyPr wrap="square" rtlCol="0" anchor="ctr"/>
          <a:lstStyle/>
          <a:p>
            <a:pPr algn="ctr" indent="0" marL="0">
              <a:buNone/>
            </a:pPr>
            <a:r>
              <a:rPr lang="en-US" sz="1600" dirty="0">
                <a:solidFill>
                  <a:srgbClr val="DFDFE0"/>
                </a:solidFill>
                <a:latin typeface="Montserrat" pitchFamily="34" charset="0"/>
                <a:ea typeface="Montserrat" pitchFamily="34" charset="-122"/>
                <a:cs typeface="Montserrat" pitchFamily="34" charset="-120"/>
              </a:rPr>
              <a:t>→</a:t>
            </a:r>
            <a:endParaRPr lang="en-US" sz="1600" dirty="0"/>
          </a:p>
        </p:txBody>
      </p:sp>
      <p:sp>
        <p:nvSpPr>
          <p:cNvPr id="14" name="Shape 12"/>
          <p:cNvSpPr/>
          <p:nvPr/>
        </p:nvSpPr>
        <p:spPr>
          <a:xfrm>
            <a:off x="3913632" y="1371600"/>
            <a:ext cx="1316736" cy="54864"/>
          </a:xfrm>
          <a:prstGeom prst="rect">
            <a:avLst/>
          </a:prstGeom>
          <a:solidFill>
            <a:srgbClr val="FF7F66"/>
          </a:solidFill>
          <a:ln w="12700">
            <a:solidFill>
              <a:srgbClr val="333333"/>
            </a:solidFill>
            <a:prstDash val="solid"/>
          </a:ln>
        </p:spPr>
      </p:sp>
      <p:sp>
        <p:nvSpPr>
          <p:cNvPr id="15" name="Text 13"/>
          <p:cNvSpPr/>
          <p:nvPr/>
        </p:nvSpPr>
        <p:spPr>
          <a:xfrm>
            <a:off x="3913632" y="1554480"/>
            <a:ext cx="1316736" cy="365760"/>
          </a:xfrm>
          <a:prstGeom prst="rect">
            <a:avLst/>
          </a:prstGeom>
          <a:noFill/>
          <a:ln/>
        </p:spPr>
        <p:txBody>
          <a:bodyPr wrap="square" rtlCol="0" anchor="ctr"/>
          <a:lstStyle/>
          <a:p>
            <a:pPr indent="0" marL="0">
              <a:buNone/>
            </a:pPr>
            <a:r>
              <a:rPr lang="en-US" sz="2000" b="1" dirty="0">
                <a:solidFill>
                  <a:srgbClr val="FF7F66"/>
                </a:solidFill>
                <a:latin typeface="Space Mono" pitchFamily="34" charset="0"/>
                <a:ea typeface="Space Mono" pitchFamily="34" charset="-122"/>
                <a:cs typeface="Space Mono" pitchFamily="34" charset="-120"/>
              </a:rPr>
              <a:t>03</a:t>
            </a:r>
            <a:endParaRPr lang="en-US" sz="2000" dirty="0"/>
          </a:p>
        </p:txBody>
      </p:sp>
      <p:sp>
        <p:nvSpPr>
          <p:cNvPr id="16" name="Text 14"/>
          <p:cNvSpPr/>
          <p:nvPr/>
        </p:nvSpPr>
        <p:spPr>
          <a:xfrm>
            <a:off x="3913632" y="1965960"/>
            <a:ext cx="1316736" cy="320040"/>
          </a:xfrm>
          <a:prstGeom prst="rect">
            <a:avLst/>
          </a:prstGeom>
          <a:noFill/>
          <a:ln/>
        </p:spPr>
        <p:txBody>
          <a:bodyPr wrap="square" rtlCol="0" anchor="ctr"/>
          <a:lstStyle/>
          <a:p>
            <a:pPr indent="0" marL="0">
              <a:buNone/>
            </a:pPr>
            <a:r>
              <a:rPr lang="en-US" sz="1300" b="1" dirty="0">
                <a:solidFill>
                  <a:srgbClr val="222222"/>
                </a:solidFill>
                <a:latin typeface="Montserrat" pitchFamily="34" charset="0"/>
                <a:ea typeface="Montserrat" pitchFamily="34" charset="-122"/>
                <a:cs typeface="Montserrat" pitchFamily="34" charset="-120"/>
              </a:rPr>
              <a:t>Design</a:t>
            </a:r>
            <a:endParaRPr lang="en-US" sz="1300" dirty="0"/>
          </a:p>
        </p:txBody>
      </p:sp>
      <p:sp>
        <p:nvSpPr>
          <p:cNvPr id="17" name="Text 15"/>
          <p:cNvSpPr/>
          <p:nvPr/>
        </p:nvSpPr>
        <p:spPr>
          <a:xfrm>
            <a:off x="3913632" y="2331720"/>
            <a:ext cx="1316736" cy="640080"/>
          </a:xfrm>
          <a:prstGeom prst="rect">
            <a:avLst/>
          </a:prstGeom>
          <a:noFill/>
          <a:ln/>
        </p:spPr>
        <p:txBody>
          <a:bodyPr wrap="square" rtlCol="0" anchor="ctr"/>
          <a:lstStyle/>
          <a:p>
            <a:pPr indent="0" marL="0">
              <a:lnSpc>
                <a:spcPct val="130000"/>
              </a:lnSpc>
              <a:buNone/>
            </a:pPr>
            <a:r>
              <a:rPr lang="en-US" sz="900" dirty="0">
                <a:solidFill>
                  <a:srgbClr val="807F83"/>
                </a:solidFill>
                <a:latin typeface="Montserrat" pitchFamily="34" charset="0"/>
                <a:ea typeface="Montserrat" pitchFamily="34" charset="-122"/>
                <a:cs typeface="Montserrat" pitchFamily="34" charset="-120"/>
              </a:rPr>
              <a:t>Creative concepts and tactical plans</a:t>
            </a:r>
            <a:endParaRPr lang="en-US" sz="900" dirty="0"/>
          </a:p>
        </p:txBody>
      </p:sp>
      <p:sp>
        <p:nvSpPr>
          <p:cNvPr id="18" name="Text 16"/>
          <p:cNvSpPr/>
          <p:nvPr/>
        </p:nvSpPr>
        <p:spPr>
          <a:xfrm>
            <a:off x="5230368" y="1737360"/>
            <a:ext cx="365760" cy="365760"/>
          </a:xfrm>
          <a:prstGeom prst="rect">
            <a:avLst/>
          </a:prstGeom>
          <a:noFill/>
          <a:ln/>
        </p:spPr>
        <p:txBody>
          <a:bodyPr wrap="square" rtlCol="0" anchor="ctr"/>
          <a:lstStyle/>
          <a:p>
            <a:pPr algn="ctr" indent="0" marL="0">
              <a:buNone/>
            </a:pPr>
            <a:r>
              <a:rPr lang="en-US" sz="1600" dirty="0">
                <a:solidFill>
                  <a:srgbClr val="DFDFE0"/>
                </a:solidFill>
                <a:latin typeface="Montserrat" pitchFamily="34" charset="0"/>
                <a:ea typeface="Montserrat" pitchFamily="34" charset="-122"/>
                <a:cs typeface="Montserrat" pitchFamily="34" charset="-120"/>
              </a:rPr>
              <a:t>→</a:t>
            </a:r>
            <a:endParaRPr lang="en-US" sz="1600" dirty="0"/>
          </a:p>
        </p:txBody>
      </p:sp>
      <p:sp>
        <p:nvSpPr>
          <p:cNvPr id="19" name="Shape 17"/>
          <p:cNvSpPr/>
          <p:nvPr/>
        </p:nvSpPr>
        <p:spPr>
          <a:xfrm>
            <a:off x="5596128" y="1371600"/>
            <a:ext cx="1316736" cy="54864"/>
          </a:xfrm>
          <a:prstGeom prst="rect">
            <a:avLst/>
          </a:prstGeom>
          <a:solidFill>
            <a:srgbClr val="FF7F66"/>
          </a:solidFill>
          <a:ln w="12700">
            <a:solidFill>
              <a:srgbClr val="333333"/>
            </a:solidFill>
            <a:prstDash val="solid"/>
          </a:ln>
        </p:spPr>
      </p:sp>
      <p:sp>
        <p:nvSpPr>
          <p:cNvPr id="20" name="Text 18"/>
          <p:cNvSpPr/>
          <p:nvPr/>
        </p:nvSpPr>
        <p:spPr>
          <a:xfrm>
            <a:off x="5596128" y="1554480"/>
            <a:ext cx="1316736" cy="365760"/>
          </a:xfrm>
          <a:prstGeom prst="rect">
            <a:avLst/>
          </a:prstGeom>
          <a:noFill/>
          <a:ln/>
        </p:spPr>
        <p:txBody>
          <a:bodyPr wrap="square" rtlCol="0" anchor="ctr"/>
          <a:lstStyle/>
          <a:p>
            <a:pPr indent="0" marL="0">
              <a:buNone/>
            </a:pPr>
            <a:r>
              <a:rPr lang="en-US" sz="2000" b="1" dirty="0">
                <a:solidFill>
                  <a:srgbClr val="FF7F66"/>
                </a:solidFill>
                <a:latin typeface="Space Mono" pitchFamily="34" charset="0"/>
                <a:ea typeface="Space Mono" pitchFamily="34" charset="-122"/>
                <a:cs typeface="Space Mono" pitchFamily="34" charset="-120"/>
              </a:rPr>
              <a:t>04</a:t>
            </a:r>
            <a:endParaRPr lang="en-US" sz="2000" dirty="0"/>
          </a:p>
        </p:txBody>
      </p:sp>
      <p:sp>
        <p:nvSpPr>
          <p:cNvPr id="21" name="Text 19"/>
          <p:cNvSpPr/>
          <p:nvPr/>
        </p:nvSpPr>
        <p:spPr>
          <a:xfrm>
            <a:off x="5596128" y="1965960"/>
            <a:ext cx="1316736" cy="320040"/>
          </a:xfrm>
          <a:prstGeom prst="rect">
            <a:avLst/>
          </a:prstGeom>
          <a:noFill/>
          <a:ln/>
        </p:spPr>
        <p:txBody>
          <a:bodyPr wrap="square" rtlCol="0" anchor="ctr"/>
          <a:lstStyle/>
          <a:p>
            <a:pPr indent="0" marL="0">
              <a:buNone/>
            </a:pPr>
            <a:r>
              <a:rPr lang="en-US" sz="1300" b="1" dirty="0">
                <a:solidFill>
                  <a:srgbClr val="222222"/>
                </a:solidFill>
                <a:latin typeface="Montserrat" pitchFamily="34" charset="0"/>
                <a:ea typeface="Montserrat" pitchFamily="34" charset="-122"/>
                <a:cs typeface="Montserrat" pitchFamily="34" charset="-120"/>
              </a:rPr>
              <a:t>Deliver</a:t>
            </a:r>
            <a:endParaRPr lang="en-US" sz="1300" dirty="0"/>
          </a:p>
        </p:txBody>
      </p:sp>
      <p:sp>
        <p:nvSpPr>
          <p:cNvPr id="22" name="Text 20"/>
          <p:cNvSpPr/>
          <p:nvPr/>
        </p:nvSpPr>
        <p:spPr>
          <a:xfrm>
            <a:off x="5596128" y="2331720"/>
            <a:ext cx="1316736" cy="640080"/>
          </a:xfrm>
          <a:prstGeom prst="rect">
            <a:avLst/>
          </a:prstGeom>
          <a:noFill/>
          <a:ln/>
        </p:spPr>
        <p:txBody>
          <a:bodyPr wrap="square" rtlCol="0" anchor="ctr"/>
          <a:lstStyle/>
          <a:p>
            <a:pPr indent="0" marL="0">
              <a:lnSpc>
                <a:spcPct val="130000"/>
              </a:lnSpc>
              <a:buNone/>
            </a:pPr>
            <a:r>
              <a:rPr lang="en-US" sz="900" dirty="0">
                <a:solidFill>
                  <a:srgbClr val="807F83"/>
                </a:solidFill>
                <a:latin typeface="Montserrat" pitchFamily="34" charset="0"/>
                <a:ea typeface="Montserrat" pitchFamily="34" charset="-122"/>
                <a:cs typeface="Montserrat" pitchFamily="34" charset="-120"/>
              </a:rPr>
              <a:t>Execution and campaign management</a:t>
            </a:r>
            <a:endParaRPr lang="en-US" sz="900" dirty="0"/>
          </a:p>
        </p:txBody>
      </p:sp>
      <p:sp>
        <p:nvSpPr>
          <p:cNvPr id="23" name="Text 21"/>
          <p:cNvSpPr/>
          <p:nvPr/>
        </p:nvSpPr>
        <p:spPr>
          <a:xfrm>
            <a:off x="6912864" y="1737360"/>
            <a:ext cx="365760" cy="365760"/>
          </a:xfrm>
          <a:prstGeom prst="rect">
            <a:avLst/>
          </a:prstGeom>
          <a:noFill/>
          <a:ln/>
        </p:spPr>
        <p:txBody>
          <a:bodyPr wrap="square" rtlCol="0" anchor="ctr"/>
          <a:lstStyle/>
          <a:p>
            <a:pPr algn="ctr" indent="0" marL="0">
              <a:buNone/>
            </a:pPr>
            <a:r>
              <a:rPr lang="en-US" sz="1600" dirty="0">
                <a:solidFill>
                  <a:srgbClr val="DFDFE0"/>
                </a:solidFill>
                <a:latin typeface="Montserrat" pitchFamily="34" charset="0"/>
                <a:ea typeface="Montserrat" pitchFamily="34" charset="-122"/>
                <a:cs typeface="Montserrat" pitchFamily="34" charset="-120"/>
              </a:rPr>
              <a:t>→</a:t>
            </a:r>
            <a:endParaRPr lang="en-US" sz="1600" dirty="0"/>
          </a:p>
        </p:txBody>
      </p:sp>
      <p:sp>
        <p:nvSpPr>
          <p:cNvPr id="24" name="Shape 22"/>
          <p:cNvSpPr/>
          <p:nvPr/>
        </p:nvSpPr>
        <p:spPr>
          <a:xfrm>
            <a:off x="7278624" y="1371600"/>
            <a:ext cx="1316736" cy="54864"/>
          </a:xfrm>
          <a:prstGeom prst="rect">
            <a:avLst/>
          </a:prstGeom>
          <a:solidFill>
            <a:srgbClr val="FF7F66"/>
          </a:solidFill>
          <a:ln w="12700">
            <a:solidFill>
              <a:srgbClr val="333333"/>
            </a:solidFill>
            <a:prstDash val="solid"/>
          </a:ln>
        </p:spPr>
      </p:sp>
      <p:sp>
        <p:nvSpPr>
          <p:cNvPr id="25" name="Text 23"/>
          <p:cNvSpPr/>
          <p:nvPr/>
        </p:nvSpPr>
        <p:spPr>
          <a:xfrm>
            <a:off x="7278624" y="1554480"/>
            <a:ext cx="1316736" cy="365760"/>
          </a:xfrm>
          <a:prstGeom prst="rect">
            <a:avLst/>
          </a:prstGeom>
          <a:noFill/>
          <a:ln/>
        </p:spPr>
        <p:txBody>
          <a:bodyPr wrap="square" rtlCol="0" anchor="ctr"/>
          <a:lstStyle/>
          <a:p>
            <a:pPr indent="0" marL="0">
              <a:buNone/>
            </a:pPr>
            <a:r>
              <a:rPr lang="en-US" sz="2000" b="1" dirty="0">
                <a:solidFill>
                  <a:srgbClr val="FF7F66"/>
                </a:solidFill>
                <a:latin typeface="Space Mono" pitchFamily="34" charset="0"/>
                <a:ea typeface="Space Mono" pitchFamily="34" charset="-122"/>
                <a:cs typeface="Space Mono" pitchFamily="34" charset="-120"/>
              </a:rPr>
              <a:t>05</a:t>
            </a:r>
            <a:endParaRPr lang="en-US" sz="2000" dirty="0"/>
          </a:p>
        </p:txBody>
      </p:sp>
      <p:sp>
        <p:nvSpPr>
          <p:cNvPr id="26" name="Text 24"/>
          <p:cNvSpPr/>
          <p:nvPr/>
        </p:nvSpPr>
        <p:spPr>
          <a:xfrm>
            <a:off x="7278624" y="1965960"/>
            <a:ext cx="1316736" cy="320040"/>
          </a:xfrm>
          <a:prstGeom prst="rect">
            <a:avLst/>
          </a:prstGeom>
          <a:noFill/>
          <a:ln/>
        </p:spPr>
        <p:txBody>
          <a:bodyPr wrap="square" rtlCol="0" anchor="ctr"/>
          <a:lstStyle/>
          <a:p>
            <a:pPr indent="0" marL="0">
              <a:buNone/>
            </a:pPr>
            <a:r>
              <a:rPr lang="en-US" sz="1300" b="1" dirty="0">
                <a:solidFill>
                  <a:srgbClr val="222222"/>
                </a:solidFill>
                <a:latin typeface="Montserrat" pitchFamily="34" charset="0"/>
                <a:ea typeface="Montserrat" pitchFamily="34" charset="-122"/>
                <a:cs typeface="Montserrat" pitchFamily="34" charset="-120"/>
              </a:rPr>
              <a:t>Evaluate</a:t>
            </a:r>
            <a:endParaRPr lang="en-US" sz="1300" dirty="0"/>
          </a:p>
        </p:txBody>
      </p:sp>
      <p:sp>
        <p:nvSpPr>
          <p:cNvPr id="27" name="Text 25"/>
          <p:cNvSpPr/>
          <p:nvPr/>
        </p:nvSpPr>
        <p:spPr>
          <a:xfrm>
            <a:off x="7278624" y="2331720"/>
            <a:ext cx="1316736" cy="640080"/>
          </a:xfrm>
          <a:prstGeom prst="rect">
            <a:avLst/>
          </a:prstGeom>
          <a:noFill/>
          <a:ln/>
        </p:spPr>
        <p:txBody>
          <a:bodyPr wrap="square" rtlCol="0" anchor="ctr"/>
          <a:lstStyle/>
          <a:p>
            <a:pPr indent="0" marL="0">
              <a:lnSpc>
                <a:spcPct val="130000"/>
              </a:lnSpc>
              <a:buNone/>
            </a:pPr>
            <a:r>
              <a:rPr lang="en-US" sz="900" dirty="0">
                <a:solidFill>
                  <a:srgbClr val="807F83"/>
                </a:solidFill>
                <a:latin typeface="Montserrat" pitchFamily="34" charset="0"/>
                <a:ea typeface="Montserrat" pitchFamily="34" charset="-122"/>
                <a:cs typeface="Montserrat" pitchFamily="34" charset="-120"/>
              </a:rPr>
              <a:t>Measure outcomes and refine</a:t>
            </a:r>
            <a:endParaRPr lang="en-US" sz="900" dirty="0"/>
          </a:p>
        </p:txBody>
      </p:sp>
      <p:pic>
        <p:nvPicPr>
          <p:cNvPr id="28" name="Image 0" descr="/Users/williammasquelier/Repositories/stromy-org/Cowork/workspace/duke-strategies/brand/output/brand/logos/DukeStrategies_logo_gre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796028"/>
            <a:ext cx="822960" cy="201168"/>
          </a:xfrm>
          <a:prstGeom prst="rect">
            <a:avLst/>
          </a:prstGeom>
        </p:spPr>
      </p:pic>
      <p:sp>
        <p:nvSpPr>
          <p:cNvPr id="29" name="Text 26"/>
          <p:cNvSpPr/>
          <p:nvPr/>
        </p:nvSpPr>
        <p:spPr>
          <a:xfrm>
            <a:off x="8229600" y="4823460"/>
            <a:ext cx="548640" cy="228600"/>
          </a:xfrm>
          <a:prstGeom prst="rect">
            <a:avLst/>
          </a:prstGeom>
          <a:noFill/>
          <a:ln/>
        </p:spPr>
        <p:txBody>
          <a:bodyPr wrap="square" rtlCol="0"/>
          <a:lstStyle/>
          <a:p>
            <a:pPr algn="r" indent="0" marL="0">
              <a:buNone/>
            </a:pPr>
            <a:r>
              <a:rPr lang="en-US" sz="800" dirty="0">
                <a:solidFill>
                  <a:srgbClr val="807F83"/>
                </a:solidFill>
                <a:latin typeface="Space Mono" pitchFamily="34" charset="0"/>
                <a:ea typeface="Space Mono" pitchFamily="34" charset="-122"/>
                <a:cs typeface="Space Mono" pitchFamily="34" charset="-120"/>
              </a:rPr>
              <a:t>slideNumber</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731520" cy="36576"/>
          </a:xfrm>
          <a:prstGeom prst="rect">
            <a:avLst/>
          </a:prstGeom>
          <a:solidFill>
            <a:srgbClr val="FF7F66"/>
          </a:solidFill>
          <a:ln w="12700">
            <a:solidFill>
              <a:srgbClr val="333333"/>
            </a:solidFill>
            <a:prstDash val="solid"/>
          </a:ln>
        </p:spPr>
      </p:sp>
      <p:sp>
        <p:nvSpPr>
          <p:cNvPr id="3" name="Text 1"/>
          <p:cNvSpPr/>
          <p:nvPr/>
        </p:nvSpPr>
        <p:spPr>
          <a:xfrm>
            <a:off x="548640" y="502920"/>
            <a:ext cx="8046720" cy="548640"/>
          </a:xfrm>
          <a:prstGeom prst="rect">
            <a:avLst/>
          </a:prstGeom>
          <a:noFill/>
          <a:ln/>
        </p:spPr>
        <p:txBody>
          <a:bodyPr wrap="square" rtlCol="0" anchor="ctr"/>
          <a:lstStyle/>
          <a:p>
            <a:pPr indent="0" marL="0">
              <a:buNone/>
            </a:pPr>
            <a:r>
              <a:rPr lang="en-US" sz="2400" b="1" dirty="0">
                <a:solidFill>
                  <a:srgbClr val="222222"/>
                </a:solidFill>
                <a:latin typeface="Montserrat" pitchFamily="34" charset="0"/>
                <a:ea typeface="Montserrat" pitchFamily="34" charset="-122"/>
                <a:cs typeface="Montserrat" pitchFamily="34" charset="-120"/>
              </a:rPr>
              <a:t>Feature Highlight</a:t>
            </a:r>
            <a:endParaRPr lang="en-US" sz="2400" dirty="0"/>
          </a:p>
        </p:txBody>
      </p:sp>
      <p:sp>
        <p:nvSpPr>
          <p:cNvPr id="4" name="Shape 2"/>
          <p:cNvSpPr/>
          <p:nvPr/>
        </p:nvSpPr>
        <p:spPr>
          <a:xfrm>
            <a:off x="548640" y="1280160"/>
            <a:ext cx="502920" cy="502920"/>
          </a:xfrm>
          <a:prstGeom prst="ellipse">
            <a:avLst/>
          </a:prstGeom>
          <a:solidFill>
            <a:srgbClr val="FF7F66"/>
          </a:solidFill>
          <a:ln w="12700">
            <a:solidFill>
              <a:srgbClr val="333333"/>
            </a:solidFill>
            <a:prstDash val="solid"/>
          </a:ln>
        </p:spPr>
      </p:sp>
      <p:sp>
        <p:nvSpPr>
          <p:cNvPr id="5" name="Text 3"/>
          <p:cNvSpPr/>
          <p:nvPr/>
        </p:nvSpPr>
        <p:spPr>
          <a:xfrm>
            <a:off x="548640" y="1280160"/>
            <a:ext cx="502920" cy="502920"/>
          </a:xfrm>
          <a:prstGeom prst="rect">
            <a:avLst/>
          </a:prstGeom>
          <a:noFill/>
          <a:ln/>
        </p:spPr>
        <p:txBody>
          <a:bodyPr wrap="square" rtlCol="0" anchor="ctr"/>
          <a:lstStyle/>
          <a:p>
            <a:pPr algn="ctr" indent="0" marL="0">
              <a:buNone/>
            </a:pPr>
            <a:r>
              <a:rPr lang="en-US" sz="1800" dirty="0">
                <a:solidFill>
                  <a:srgbClr val="FFFFFF"/>
                </a:solidFill>
                <a:latin typeface="Montserrat" pitchFamily="34" charset="0"/>
                <a:ea typeface="Montserrat" pitchFamily="34" charset="-122"/>
                <a:cs typeface="Montserrat" pitchFamily="34" charset="-120"/>
              </a:rPr>
              <a:t>★</a:t>
            </a:r>
            <a:endParaRPr lang="en-US" sz="1800" dirty="0"/>
          </a:p>
        </p:txBody>
      </p:sp>
      <p:sp>
        <p:nvSpPr>
          <p:cNvPr id="6" name="Text 4"/>
          <p:cNvSpPr/>
          <p:nvPr/>
        </p:nvSpPr>
        <p:spPr>
          <a:xfrm>
            <a:off x="1234440" y="1234440"/>
            <a:ext cx="7360920" cy="320040"/>
          </a:xfrm>
          <a:prstGeom prst="rect">
            <a:avLst/>
          </a:prstGeom>
          <a:noFill/>
          <a:ln/>
        </p:spPr>
        <p:txBody>
          <a:bodyPr wrap="square" rtlCol="0" anchor="ctr"/>
          <a:lstStyle/>
          <a:p>
            <a:pPr indent="0" marL="0">
              <a:buNone/>
            </a:pPr>
            <a:r>
              <a:rPr lang="en-US" sz="1400" b="1" dirty="0">
                <a:solidFill>
                  <a:srgbClr val="222222"/>
                </a:solidFill>
                <a:latin typeface="Montserrat" pitchFamily="34" charset="0"/>
                <a:ea typeface="Montserrat" pitchFamily="34" charset="-122"/>
                <a:cs typeface="Montserrat" pitchFamily="34" charset="-120"/>
              </a:rPr>
              <a:t>Quality Assurance</a:t>
            </a:r>
            <a:endParaRPr lang="en-US" sz="1400" dirty="0"/>
          </a:p>
        </p:txBody>
      </p:sp>
      <p:sp>
        <p:nvSpPr>
          <p:cNvPr id="7" name="Text 5"/>
          <p:cNvSpPr/>
          <p:nvPr/>
        </p:nvSpPr>
        <p:spPr>
          <a:xfrm>
            <a:off x="1234440" y="1581912"/>
            <a:ext cx="7360920" cy="457200"/>
          </a:xfrm>
          <a:prstGeom prst="rect">
            <a:avLst/>
          </a:prstGeom>
          <a:noFill/>
          <a:ln/>
        </p:spPr>
        <p:txBody>
          <a:bodyPr wrap="square" rtlCol="0" anchor="ctr"/>
          <a:lstStyle/>
          <a:p>
            <a:pPr indent="0" marL="0">
              <a:lnSpc>
                <a:spcPct val="140000"/>
              </a:lnSpc>
              <a:buNone/>
            </a:pPr>
            <a:r>
              <a:rPr lang="en-US" sz="1100" dirty="0">
                <a:solidFill>
                  <a:srgbClr val="807F83"/>
                </a:solidFill>
                <a:latin typeface="Montserrat" pitchFamily="34" charset="0"/>
                <a:ea typeface="Montserrat" pitchFamily="34" charset="-122"/>
                <a:cs typeface="Montserrat" pitchFamily="34" charset="-120"/>
              </a:rPr>
              <a:t>Rigorous review processes ensure deliverables meet the highest standards.</a:t>
            </a:r>
            <a:endParaRPr lang="en-US" sz="1100" dirty="0"/>
          </a:p>
        </p:txBody>
      </p:sp>
      <p:sp>
        <p:nvSpPr>
          <p:cNvPr id="8" name="Shape 6"/>
          <p:cNvSpPr/>
          <p:nvPr/>
        </p:nvSpPr>
        <p:spPr>
          <a:xfrm>
            <a:off x="548640" y="2377440"/>
            <a:ext cx="502920" cy="502920"/>
          </a:xfrm>
          <a:prstGeom prst="ellipse">
            <a:avLst/>
          </a:prstGeom>
          <a:solidFill>
            <a:srgbClr val="FF7F66"/>
          </a:solidFill>
          <a:ln w="12700">
            <a:solidFill>
              <a:srgbClr val="333333"/>
            </a:solidFill>
            <a:prstDash val="solid"/>
          </a:ln>
        </p:spPr>
      </p:sp>
      <p:sp>
        <p:nvSpPr>
          <p:cNvPr id="9" name="Text 7"/>
          <p:cNvSpPr/>
          <p:nvPr/>
        </p:nvSpPr>
        <p:spPr>
          <a:xfrm>
            <a:off x="548640" y="2377440"/>
            <a:ext cx="502920" cy="502920"/>
          </a:xfrm>
          <a:prstGeom prst="rect">
            <a:avLst/>
          </a:prstGeom>
          <a:noFill/>
          <a:ln/>
        </p:spPr>
        <p:txBody>
          <a:bodyPr wrap="square" rtlCol="0" anchor="ctr"/>
          <a:lstStyle/>
          <a:p>
            <a:pPr algn="ctr" indent="0" marL="0">
              <a:buNone/>
            </a:pPr>
            <a:r>
              <a:rPr lang="en-US" sz="1800" dirty="0">
                <a:solidFill>
                  <a:srgbClr val="FFFFFF"/>
                </a:solidFill>
                <a:latin typeface="Montserrat" pitchFamily="34" charset="0"/>
                <a:ea typeface="Montserrat" pitchFamily="34" charset="-122"/>
                <a:cs typeface="Montserrat" pitchFamily="34" charset="-120"/>
              </a:rPr>
              <a:t>⚡</a:t>
            </a:r>
            <a:endParaRPr lang="en-US" sz="1800" dirty="0"/>
          </a:p>
        </p:txBody>
      </p:sp>
      <p:sp>
        <p:nvSpPr>
          <p:cNvPr id="10" name="Text 8"/>
          <p:cNvSpPr/>
          <p:nvPr/>
        </p:nvSpPr>
        <p:spPr>
          <a:xfrm>
            <a:off x="1234440" y="2331720"/>
            <a:ext cx="7360920" cy="320040"/>
          </a:xfrm>
          <a:prstGeom prst="rect">
            <a:avLst/>
          </a:prstGeom>
          <a:noFill/>
          <a:ln/>
        </p:spPr>
        <p:txBody>
          <a:bodyPr wrap="square" rtlCol="0" anchor="ctr"/>
          <a:lstStyle/>
          <a:p>
            <a:pPr indent="0" marL="0">
              <a:buNone/>
            </a:pPr>
            <a:r>
              <a:rPr lang="en-US" sz="1400" b="1" dirty="0">
                <a:solidFill>
                  <a:srgbClr val="222222"/>
                </a:solidFill>
                <a:latin typeface="Montserrat" pitchFamily="34" charset="0"/>
                <a:ea typeface="Montserrat" pitchFamily="34" charset="-122"/>
                <a:cs typeface="Montserrat" pitchFamily="34" charset="-120"/>
              </a:rPr>
              <a:t>Fast Turnaround</a:t>
            </a:r>
            <a:endParaRPr lang="en-US" sz="1400" dirty="0"/>
          </a:p>
        </p:txBody>
      </p:sp>
      <p:sp>
        <p:nvSpPr>
          <p:cNvPr id="11" name="Text 9"/>
          <p:cNvSpPr/>
          <p:nvPr/>
        </p:nvSpPr>
        <p:spPr>
          <a:xfrm>
            <a:off x="1234440" y="2679192"/>
            <a:ext cx="7360920" cy="457200"/>
          </a:xfrm>
          <a:prstGeom prst="rect">
            <a:avLst/>
          </a:prstGeom>
          <a:noFill/>
          <a:ln/>
        </p:spPr>
        <p:txBody>
          <a:bodyPr wrap="square" rtlCol="0" anchor="ctr"/>
          <a:lstStyle/>
          <a:p>
            <a:pPr indent="0" marL="0">
              <a:lnSpc>
                <a:spcPct val="140000"/>
              </a:lnSpc>
              <a:buNone/>
            </a:pPr>
            <a:r>
              <a:rPr lang="en-US" sz="1100" dirty="0">
                <a:solidFill>
                  <a:srgbClr val="807F83"/>
                </a:solidFill>
                <a:latin typeface="Montserrat" pitchFamily="34" charset="0"/>
                <a:ea typeface="Montserrat" pitchFamily="34" charset="-122"/>
                <a:cs typeface="Montserrat" pitchFamily="34" charset="-120"/>
              </a:rPr>
              <a:t>Efficient workflows enable rapid delivery without sacrificing quality.</a:t>
            </a:r>
            <a:endParaRPr lang="en-US" sz="1100" dirty="0"/>
          </a:p>
        </p:txBody>
      </p:sp>
      <p:sp>
        <p:nvSpPr>
          <p:cNvPr id="12" name="Shape 10"/>
          <p:cNvSpPr/>
          <p:nvPr/>
        </p:nvSpPr>
        <p:spPr>
          <a:xfrm>
            <a:off x="548640" y="3474720"/>
            <a:ext cx="502920" cy="502920"/>
          </a:xfrm>
          <a:prstGeom prst="ellipse">
            <a:avLst/>
          </a:prstGeom>
          <a:solidFill>
            <a:srgbClr val="FF7F66"/>
          </a:solidFill>
          <a:ln w="12700">
            <a:solidFill>
              <a:srgbClr val="333333"/>
            </a:solidFill>
            <a:prstDash val="solid"/>
          </a:ln>
        </p:spPr>
      </p:sp>
      <p:sp>
        <p:nvSpPr>
          <p:cNvPr id="13" name="Text 11"/>
          <p:cNvSpPr/>
          <p:nvPr/>
        </p:nvSpPr>
        <p:spPr>
          <a:xfrm>
            <a:off x="548640" y="3474720"/>
            <a:ext cx="502920" cy="502920"/>
          </a:xfrm>
          <a:prstGeom prst="rect">
            <a:avLst/>
          </a:prstGeom>
          <a:noFill/>
          <a:ln/>
        </p:spPr>
        <p:txBody>
          <a:bodyPr wrap="square" rtlCol="0" anchor="ctr"/>
          <a:lstStyle/>
          <a:p>
            <a:pPr algn="ctr" indent="0" marL="0">
              <a:buNone/>
            </a:pPr>
            <a:r>
              <a:rPr lang="en-US" sz="1800" dirty="0">
                <a:solidFill>
                  <a:srgbClr val="FFFFFF"/>
                </a:solidFill>
                <a:latin typeface="Montserrat" pitchFamily="34" charset="0"/>
                <a:ea typeface="Montserrat" pitchFamily="34" charset="-122"/>
                <a:cs typeface="Montserrat" pitchFamily="34" charset="-120"/>
              </a:rPr>
              <a:t>❤</a:t>
            </a:r>
            <a:endParaRPr lang="en-US" sz="1800" dirty="0"/>
          </a:p>
        </p:txBody>
      </p:sp>
      <p:sp>
        <p:nvSpPr>
          <p:cNvPr id="14" name="Text 12"/>
          <p:cNvSpPr/>
          <p:nvPr/>
        </p:nvSpPr>
        <p:spPr>
          <a:xfrm>
            <a:off x="1234440" y="3429000"/>
            <a:ext cx="7360920" cy="320040"/>
          </a:xfrm>
          <a:prstGeom prst="rect">
            <a:avLst/>
          </a:prstGeom>
          <a:noFill/>
          <a:ln/>
        </p:spPr>
        <p:txBody>
          <a:bodyPr wrap="square" rtlCol="0" anchor="ctr"/>
          <a:lstStyle/>
          <a:p>
            <a:pPr indent="0" marL="0">
              <a:buNone/>
            </a:pPr>
            <a:r>
              <a:rPr lang="en-US" sz="1400" b="1" dirty="0">
                <a:solidFill>
                  <a:srgbClr val="222222"/>
                </a:solidFill>
                <a:latin typeface="Montserrat" pitchFamily="34" charset="0"/>
                <a:ea typeface="Montserrat" pitchFamily="34" charset="-122"/>
                <a:cs typeface="Montserrat" pitchFamily="34" charset="-120"/>
              </a:rPr>
              <a:t>Client-Centered</a:t>
            </a:r>
            <a:endParaRPr lang="en-US" sz="1400" dirty="0"/>
          </a:p>
        </p:txBody>
      </p:sp>
      <p:sp>
        <p:nvSpPr>
          <p:cNvPr id="15" name="Text 13"/>
          <p:cNvSpPr/>
          <p:nvPr/>
        </p:nvSpPr>
        <p:spPr>
          <a:xfrm>
            <a:off x="1234440" y="3776472"/>
            <a:ext cx="7360920" cy="457200"/>
          </a:xfrm>
          <a:prstGeom prst="rect">
            <a:avLst/>
          </a:prstGeom>
          <a:noFill/>
          <a:ln/>
        </p:spPr>
        <p:txBody>
          <a:bodyPr wrap="square" rtlCol="0" anchor="ctr"/>
          <a:lstStyle/>
          <a:p>
            <a:pPr indent="0" marL="0">
              <a:lnSpc>
                <a:spcPct val="140000"/>
              </a:lnSpc>
              <a:buNone/>
            </a:pPr>
            <a:r>
              <a:rPr lang="en-US" sz="1100" dirty="0">
                <a:solidFill>
                  <a:srgbClr val="807F83"/>
                </a:solidFill>
                <a:latin typeface="Montserrat" pitchFamily="34" charset="0"/>
                <a:ea typeface="Montserrat" pitchFamily="34" charset="-122"/>
                <a:cs typeface="Montserrat" pitchFamily="34" charset="-120"/>
              </a:rPr>
              <a:t>Every strategy is tailored to your unique objectives and challenges.</a:t>
            </a:r>
            <a:endParaRPr lang="en-US" sz="1100" dirty="0"/>
          </a:p>
        </p:txBody>
      </p:sp>
      <p:pic>
        <p:nvPicPr>
          <p:cNvPr id="16" name="Image 0" descr="/Users/williammasquelier/Repositories/stromy-org/Cowork/workspace/duke-strategies/brand/output/brand/logos/DukeStrategies_logo_gre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796028"/>
            <a:ext cx="822960" cy="201168"/>
          </a:xfrm>
          <a:prstGeom prst="rect">
            <a:avLst/>
          </a:prstGeom>
        </p:spPr>
      </p:pic>
      <p:sp>
        <p:nvSpPr>
          <p:cNvPr id="17" name="Text 14"/>
          <p:cNvSpPr/>
          <p:nvPr/>
        </p:nvSpPr>
        <p:spPr>
          <a:xfrm>
            <a:off x="8229600" y="4823460"/>
            <a:ext cx="548640" cy="228600"/>
          </a:xfrm>
          <a:prstGeom prst="rect">
            <a:avLst/>
          </a:prstGeom>
          <a:noFill/>
          <a:ln/>
        </p:spPr>
        <p:txBody>
          <a:bodyPr wrap="square" rtlCol="0"/>
          <a:lstStyle/>
          <a:p>
            <a:pPr algn="r" indent="0" marL="0">
              <a:buNone/>
            </a:pPr>
            <a:r>
              <a:rPr lang="en-US" sz="800" dirty="0">
                <a:solidFill>
                  <a:srgbClr val="807F83"/>
                </a:solidFill>
                <a:latin typeface="Space Mono" pitchFamily="34" charset="0"/>
                <a:ea typeface="Space Mono" pitchFamily="34" charset="-122"/>
                <a:cs typeface="Space Mono" pitchFamily="34" charset="-120"/>
              </a:rPr>
              <a:t>slideNumber</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731520" cy="36576"/>
          </a:xfrm>
          <a:prstGeom prst="rect">
            <a:avLst/>
          </a:prstGeom>
          <a:solidFill>
            <a:srgbClr val="FF7F66"/>
          </a:solidFill>
          <a:ln w="12700">
            <a:solidFill>
              <a:srgbClr val="333333"/>
            </a:solidFill>
            <a:prstDash val="solid"/>
          </a:ln>
        </p:spPr>
      </p:sp>
      <p:sp>
        <p:nvSpPr>
          <p:cNvPr id="3" name="Text 1"/>
          <p:cNvSpPr/>
          <p:nvPr/>
        </p:nvSpPr>
        <p:spPr>
          <a:xfrm>
            <a:off x="548640" y="502920"/>
            <a:ext cx="8046720" cy="548640"/>
          </a:xfrm>
          <a:prstGeom prst="rect">
            <a:avLst/>
          </a:prstGeom>
          <a:noFill/>
          <a:ln/>
        </p:spPr>
        <p:txBody>
          <a:bodyPr wrap="square" rtlCol="0" anchor="ctr"/>
          <a:lstStyle/>
          <a:p>
            <a:pPr indent="0" marL="0">
              <a:buNone/>
            </a:pPr>
            <a:r>
              <a:rPr lang="en-US" sz="2400" b="1" dirty="0">
                <a:solidFill>
                  <a:srgbClr val="222222"/>
                </a:solidFill>
                <a:latin typeface="Montserrat" pitchFamily="34" charset="0"/>
                <a:ea typeface="Montserrat" pitchFamily="34" charset="-122"/>
                <a:cs typeface="Montserrat" pitchFamily="34" charset="-120"/>
              </a:rPr>
              <a:t>Data Table</a:t>
            </a:r>
            <a:endParaRPr lang="en-US" sz="2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2011680"/>
                <a:gridCol w="1508760"/>
                <a:gridCol w="1508760"/>
                <a:gridCol w="1508760"/>
                <a:gridCol w="1508760"/>
              </a:tblGrid>
              <a:tr h="411480">
                <a:tc>
                  <a:txBody>
                    <a:bodyPr/>
                    <a:lstStyle/>
                    <a:p>
                      <a:pPr indent="0" marL="0">
                        <a:buNone/>
                      </a:pPr>
                      <a:r>
                        <a:rPr lang="en-US" sz="1100" b="1" dirty="0">
                          <a:solidFill>
                            <a:srgbClr val="FFFFFF"/>
                          </a:solidFill>
                          <a:latin typeface="Montserrat" pitchFamily="34" charset="0"/>
                          <a:ea typeface="Montserrat" pitchFamily="34" charset="-122"/>
                          <a:cs typeface="Montserrat" pitchFamily="34" charset="-120"/>
                        </a:rPr>
                        <a:t>Category</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FF7F66"/>
                    </a:solidFill>
                  </a:tcPr>
                </a:tc>
                <a:tc>
                  <a:txBody>
                    <a:bodyPr/>
                    <a:lstStyle/>
                    <a:p>
                      <a:pPr indent="0" marL="0">
                        <a:buNone/>
                      </a:pPr>
                      <a:r>
                        <a:rPr lang="en-US" sz="1100" b="1" dirty="0">
                          <a:solidFill>
                            <a:srgbClr val="FFFFFF"/>
                          </a:solidFill>
                          <a:latin typeface="Montserrat" pitchFamily="34" charset="0"/>
                          <a:ea typeface="Montserrat" pitchFamily="34" charset="-122"/>
                          <a:cs typeface="Montserrat" pitchFamily="34" charset="-120"/>
                        </a:rPr>
                        <a:t>Q1</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FF7F66"/>
                    </a:solidFill>
                  </a:tcPr>
                </a:tc>
                <a:tc>
                  <a:txBody>
                    <a:bodyPr/>
                    <a:lstStyle/>
                    <a:p>
                      <a:pPr indent="0" marL="0">
                        <a:buNone/>
                      </a:pPr>
                      <a:r>
                        <a:rPr lang="en-US" sz="1100" b="1" dirty="0">
                          <a:solidFill>
                            <a:srgbClr val="FFFFFF"/>
                          </a:solidFill>
                          <a:latin typeface="Montserrat" pitchFamily="34" charset="0"/>
                          <a:ea typeface="Montserrat" pitchFamily="34" charset="-122"/>
                          <a:cs typeface="Montserrat" pitchFamily="34" charset="-120"/>
                        </a:rPr>
                        <a:t>Q2</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FF7F66"/>
                    </a:solidFill>
                  </a:tcPr>
                </a:tc>
                <a:tc>
                  <a:txBody>
                    <a:bodyPr/>
                    <a:lstStyle/>
                    <a:p>
                      <a:pPr indent="0" marL="0">
                        <a:buNone/>
                      </a:pPr>
                      <a:r>
                        <a:rPr lang="en-US" sz="1100" b="1" dirty="0">
                          <a:solidFill>
                            <a:srgbClr val="FFFFFF"/>
                          </a:solidFill>
                          <a:latin typeface="Montserrat" pitchFamily="34" charset="0"/>
                          <a:ea typeface="Montserrat" pitchFamily="34" charset="-122"/>
                          <a:cs typeface="Montserrat" pitchFamily="34" charset="-120"/>
                        </a:rPr>
                        <a:t>Q3</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FF7F66"/>
                    </a:solidFill>
                  </a:tcPr>
                </a:tc>
                <a:tc>
                  <a:txBody>
                    <a:bodyPr/>
                    <a:lstStyle/>
                    <a:p>
                      <a:pPr indent="0" marL="0">
                        <a:buNone/>
                      </a:pPr>
                      <a:r>
                        <a:rPr lang="en-US" sz="1100" b="1" dirty="0">
                          <a:solidFill>
                            <a:srgbClr val="FFFFFF"/>
                          </a:solidFill>
                          <a:latin typeface="Montserrat" pitchFamily="34" charset="0"/>
                          <a:ea typeface="Montserrat" pitchFamily="34" charset="-122"/>
                          <a:cs typeface="Montserrat" pitchFamily="34" charset="-120"/>
                        </a:rPr>
                        <a:t>Q4</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FF7F66"/>
                    </a:solidFill>
                  </a:tcPr>
                </a:tc>
              </a:tr>
              <a:tr h="411480">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Media Coverage</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45</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62</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78</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95</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r>
              <a:tr h="411480">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Social Engagement</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12K</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18K</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24K</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31K</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r>
              <a:tr h="411480">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Press Mentions</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8</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14</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22</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28</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r>
              <a:tr h="411480">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Events</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3</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5</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7</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4</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r>
            </a:tbl>
          </a:graphicData>
        </a:graphic>
      </p:graphicFrame>
      <p:pic>
        <p:nvPicPr>
          <p:cNvPr id="5" name="Image 0" descr="/Users/williammasquelier/Repositories/stromy-org/Cowork/workspace/duke-strategies/brand/output/brand/logos/DukeStrategies_logo_gre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796028"/>
            <a:ext cx="822960" cy="201168"/>
          </a:xfrm>
          <a:prstGeom prst="rect">
            <a:avLst/>
          </a:prstGeom>
        </p:spPr>
      </p:pic>
      <p:sp>
        <p:nvSpPr>
          <p:cNvPr id="6" name="Text 2"/>
          <p:cNvSpPr/>
          <p:nvPr/>
        </p:nvSpPr>
        <p:spPr>
          <a:xfrm>
            <a:off x="8229600" y="4823460"/>
            <a:ext cx="548640" cy="228600"/>
          </a:xfrm>
          <a:prstGeom prst="rect">
            <a:avLst/>
          </a:prstGeom>
          <a:noFill/>
          <a:ln/>
        </p:spPr>
        <p:txBody>
          <a:bodyPr wrap="square" rtlCol="0"/>
          <a:lstStyle/>
          <a:p>
            <a:pPr algn="r" indent="0" marL="0">
              <a:buNone/>
            </a:pPr>
            <a:r>
              <a:rPr lang="en-US" sz="800" dirty="0">
                <a:solidFill>
                  <a:srgbClr val="807F83"/>
                </a:solidFill>
                <a:latin typeface="Space Mono" pitchFamily="34" charset="0"/>
                <a:ea typeface="Space Mono" pitchFamily="34" charset="-122"/>
                <a:cs typeface="Space Mono" pitchFamily="34" charset="-120"/>
              </a:rPr>
              <a:t>slideNumber</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731520" cy="36576"/>
          </a:xfrm>
          <a:prstGeom prst="rect">
            <a:avLst/>
          </a:prstGeom>
          <a:solidFill>
            <a:srgbClr val="FF7F66"/>
          </a:solidFill>
          <a:ln w="12700">
            <a:solidFill>
              <a:srgbClr val="333333"/>
            </a:solidFill>
            <a:prstDash val="solid"/>
          </a:ln>
        </p:spPr>
      </p:sp>
      <p:sp>
        <p:nvSpPr>
          <p:cNvPr id="3" name="Text 1"/>
          <p:cNvSpPr/>
          <p:nvPr/>
        </p:nvSpPr>
        <p:spPr>
          <a:xfrm>
            <a:off x="548640" y="502920"/>
            <a:ext cx="8046720" cy="548640"/>
          </a:xfrm>
          <a:prstGeom prst="rect">
            <a:avLst/>
          </a:prstGeom>
          <a:noFill/>
          <a:ln/>
        </p:spPr>
        <p:txBody>
          <a:bodyPr wrap="square" rtlCol="0" anchor="ctr"/>
          <a:lstStyle/>
          <a:p>
            <a:pPr indent="0" marL="0">
              <a:buNone/>
            </a:pPr>
            <a:r>
              <a:rPr lang="en-US" sz="2400" b="1" dirty="0">
                <a:solidFill>
                  <a:srgbClr val="222222"/>
                </a:solidFill>
                <a:latin typeface="Montserrat" pitchFamily="34" charset="0"/>
                <a:ea typeface="Montserrat" pitchFamily="34" charset="-122"/>
                <a:cs typeface="Montserrat" pitchFamily="34" charset="-120"/>
              </a:rPr>
              <a:t>Detailed Comparison</a:t>
            </a:r>
            <a:endParaRPr lang="en-US" sz="2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2011680"/>
                <a:gridCol w="2011680"/>
                <a:gridCol w="2011680"/>
                <a:gridCol w="2011680"/>
              </a:tblGrid>
              <a:tr h="411480">
                <a:tc>
                  <a:txBody>
                    <a:bodyPr/>
                    <a:lstStyle/>
                    <a:p>
                      <a:pPr indent="0" marL="0">
                        <a:buNone/>
                      </a:pPr>
                      <a:r>
                        <a:rPr lang="en-US" sz="1100" b="1" dirty="0">
                          <a:solidFill>
                            <a:srgbClr val="FFFFFF"/>
                          </a:solidFill>
                          <a:latin typeface="Montserrat" pitchFamily="34" charset="0"/>
                          <a:ea typeface="Montserrat" pitchFamily="34" charset="-122"/>
                          <a:cs typeface="Montserrat" pitchFamily="34" charset="-120"/>
                        </a:rPr>
                        <a:t>Metric</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222222"/>
                    </a:solidFill>
                  </a:tcPr>
                </a:tc>
                <a:tc>
                  <a:txBody>
                    <a:bodyPr/>
                    <a:lstStyle/>
                    <a:p>
                      <a:pPr indent="0" marL="0">
                        <a:buNone/>
                      </a:pPr>
                      <a:r>
                        <a:rPr lang="en-US" sz="1100" b="1" dirty="0">
                          <a:solidFill>
                            <a:srgbClr val="FFFFFF"/>
                          </a:solidFill>
                          <a:latin typeface="Montserrat" pitchFamily="34" charset="0"/>
                          <a:ea typeface="Montserrat" pitchFamily="34" charset="-122"/>
                          <a:cs typeface="Montserrat" pitchFamily="34" charset="-120"/>
                        </a:rPr>
                        <a:t>Current</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222222"/>
                    </a:solidFill>
                  </a:tcPr>
                </a:tc>
                <a:tc>
                  <a:txBody>
                    <a:bodyPr/>
                    <a:lstStyle/>
                    <a:p>
                      <a:pPr indent="0" marL="0">
                        <a:buNone/>
                      </a:pPr>
                      <a:r>
                        <a:rPr lang="en-US" sz="1100" b="1" dirty="0">
                          <a:solidFill>
                            <a:srgbClr val="FFFFFF"/>
                          </a:solidFill>
                          <a:latin typeface="Montserrat" pitchFamily="34" charset="0"/>
                          <a:ea typeface="Montserrat" pitchFamily="34" charset="-122"/>
                          <a:cs typeface="Montserrat" pitchFamily="34" charset="-120"/>
                        </a:rPr>
                        <a:t>Target</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222222"/>
                    </a:solidFill>
                  </a:tcPr>
                </a:tc>
                <a:tc>
                  <a:txBody>
                    <a:bodyPr/>
                    <a:lstStyle/>
                    <a:p>
                      <a:pPr indent="0" marL="0">
                        <a:buNone/>
                      </a:pPr>
                      <a:r>
                        <a:rPr lang="en-US" sz="1100" b="1" dirty="0">
                          <a:solidFill>
                            <a:srgbClr val="FFFFFF"/>
                          </a:solidFill>
                          <a:latin typeface="Montserrat" pitchFamily="34" charset="0"/>
                          <a:ea typeface="Montserrat" pitchFamily="34" charset="-122"/>
                          <a:cs typeface="Montserrat" pitchFamily="34" charset="-120"/>
                        </a:rPr>
                        <a:t>Status</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222222"/>
                    </a:solidFill>
                  </a:tcPr>
                </a:tc>
              </a:tr>
              <a:tr h="411480">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Brand Awareness</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F5F5F5"/>
                    </a:solidFill>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42%</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F5F5F5"/>
                    </a:solidFill>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60%</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F5F5F5"/>
                    </a:solidFill>
                  </a:tcPr>
                </a:tc>
                <a:tc>
                  <a:txBody>
                    <a:bodyPr/>
                    <a:lstStyle/>
                    <a:p>
                      <a:pPr indent="0" marL="0">
                        <a:buNone/>
                      </a:pPr>
                      <a:r>
                        <a:rPr lang="en-US" sz="1100" dirty="0">
                          <a:solidFill>
                            <a:srgbClr val="FF7F66"/>
                          </a:solidFill>
                          <a:latin typeface="Montserrat" pitchFamily="34" charset="0"/>
                          <a:ea typeface="Montserrat" pitchFamily="34" charset="-122"/>
                          <a:cs typeface="Montserrat" pitchFamily="34" charset="-120"/>
                        </a:rPr>
                        <a:t>On Track</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F5F5F5"/>
                    </a:solidFill>
                  </a:tcPr>
                </a:tc>
              </a:tr>
              <a:tr h="411480">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Engagement Rate</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3.2%</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5.0%</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807F83"/>
                          </a:solidFill>
                          <a:latin typeface="Montserrat" pitchFamily="34" charset="0"/>
                          <a:ea typeface="Montserrat" pitchFamily="34" charset="-122"/>
                          <a:cs typeface="Montserrat" pitchFamily="34" charset="-120"/>
                        </a:rPr>
                        <a:t>In Progress</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r>
              <a:tr h="411480">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Media Mentions</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F5F5F5"/>
                    </a:solidFill>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28/mo</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F5F5F5"/>
                    </a:solidFill>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50/mo</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F5F5F5"/>
                    </a:solidFill>
                  </a:tcPr>
                </a:tc>
                <a:tc>
                  <a:txBody>
                    <a:bodyPr/>
                    <a:lstStyle/>
                    <a:p>
                      <a:pPr indent="0" marL="0">
                        <a:buNone/>
                      </a:pPr>
                      <a:r>
                        <a:rPr lang="en-US" sz="1100" dirty="0">
                          <a:solidFill>
                            <a:srgbClr val="CC0000"/>
                          </a:solidFill>
                          <a:latin typeface="Montserrat" pitchFamily="34" charset="0"/>
                          <a:ea typeface="Montserrat" pitchFamily="34" charset="-122"/>
                          <a:cs typeface="Montserrat" pitchFamily="34" charset="-120"/>
                        </a:rPr>
                        <a:t>Behind</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F5F5F5"/>
                    </a:solidFill>
                  </a:tcPr>
                </a:tc>
              </a:tr>
              <a:tr h="411480">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Share of Voice</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15%</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25%</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indent="0" marL="0">
                        <a:buNone/>
                      </a:pPr>
                      <a:r>
                        <a:rPr lang="en-US" sz="1100" dirty="0">
                          <a:solidFill>
                            <a:srgbClr val="FF7F66"/>
                          </a:solidFill>
                          <a:latin typeface="Montserrat" pitchFamily="34" charset="0"/>
                          <a:ea typeface="Montserrat" pitchFamily="34" charset="-122"/>
                          <a:cs typeface="Montserrat" pitchFamily="34" charset="-120"/>
                        </a:rPr>
                        <a:t>On Track</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r>
            </a:tbl>
          </a:graphicData>
        </a:graphic>
      </p:graphicFrame>
      <p:pic>
        <p:nvPicPr>
          <p:cNvPr id="5" name="Image 0" descr="/Users/williammasquelier/Repositories/stromy-org/Cowork/workspace/duke-strategies/brand/output/brand/logos/DukeStrategies_logo_gre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796028"/>
            <a:ext cx="822960" cy="201168"/>
          </a:xfrm>
          <a:prstGeom prst="rect">
            <a:avLst/>
          </a:prstGeom>
        </p:spPr>
      </p:pic>
      <p:sp>
        <p:nvSpPr>
          <p:cNvPr id="6" name="Text 2"/>
          <p:cNvSpPr/>
          <p:nvPr/>
        </p:nvSpPr>
        <p:spPr>
          <a:xfrm>
            <a:off x="8229600" y="4823460"/>
            <a:ext cx="548640" cy="228600"/>
          </a:xfrm>
          <a:prstGeom prst="rect">
            <a:avLst/>
          </a:prstGeom>
          <a:noFill/>
          <a:ln/>
        </p:spPr>
        <p:txBody>
          <a:bodyPr wrap="square" rtlCol="0"/>
          <a:lstStyle/>
          <a:p>
            <a:pPr algn="r" indent="0" marL="0">
              <a:buNone/>
            </a:pPr>
            <a:r>
              <a:rPr lang="en-US" sz="800" dirty="0">
                <a:solidFill>
                  <a:srgbClr val="807F83"/>
                </a:solidFill>
                <a:latin typeface="Space Mono" pitchFamily="34" charset="0"/>
                <a:ea typeface="Space Mono" pitchFamily="34" charset="-122"/>
                <a:cs typeface="Space Mono" pitchFamily="34" charset="-120"/>
              </a:rPr>
              <a:t>slideNumber</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731520" cy="36576"/>
          </a:xfrm>
          <a:prstGeom prst="rect">
            <a:avLst/>
          </a:prstGeom>
          <a:solidFill>
            <a:srgbClr val="FF7F66"/>
          </a:solidFill>
          <a:ln w="12700">
            <a:solidFill>
              <a:srgbClr val="333333"/>
            </a:solidFill>
            <a:prstDash val="solid"/>
          </a:ln>
        </p:spPr>
      </p:sp>
      <p:sp>
        <p:nvSpPr>
          <p:cNvPr id="3" name="Text 1"/>
          <p:cNvSpPr/>
          <p:nvPr/>
        </p:nvSpPr>
        <p:spPr>
          <a:xfrm>
            <a:off x="548640" y="502920"/>
            <a:ext cx="8046720" cy="548640"/>
          </a:xfrm>
          <a:prstGeom prst="rect">
            <a:avLst/>
          </a:prstGeom>
          <a:noFill/>
          <a:ln/>
        </p:spPr>
        <p:txBody>
          <a:bodyPr wrap="square" rtlCol="0" anchor="ctr"/>
          <a:lstStyle/>
          <a:p>
            <a:pPr indent="0" marL="0">
              <a:buNone/>
            </a:pPr>
            <a:r>
              <a:rPr lang="en-US" sz="2400" b="1" dirty="0">
                <a:solidFill>
                  <a:srgbClr val="222222"/>
                </a:solidFill>
                <a:latin typeface="Montserrat" pitchFamily="34" charset="0"/>
                <a:ea typeface="Montserrat" pitchFamily="34" charset="-122"/>
                <a:cs typeface="Montserrat" pitchFamily="34" charset="-120"/>
              </a:rPr>
              <a:t>Performance Metrics</a:t>
            </a:r>
            <a:endParaRPr lang="en-US" sz="2400" dirty="0"/>
          </a:p>
        </p:txBody>
      </p:sp>
      <p:graphicFrame>
        <p:nvGraphicFramePr>
          <p:cNvPr id="4" name="Chart 0" descr=""/>
          <p:cNvGraphicFramePr/>
          <p:nvPr/>
        </p:nvGraphicFramePr>
        <p:xfrm>
          <a:off x="548640" y="1188720"/>
          <a:ext cx="8046720" cy="3200400"/>
        </p:xfrm>
        <a:graphic xmlns:a="http://schemas.openxmlformats.org/drawingml/2006/main">
          <a:graphicData uri="http://schemas.openxmlformats.org/drawingml/2006/chart">
            <c:chart xmlns:c="http://schemas.openxmlformats.org/drawingml/2006/chart" r:id="rId1"/>
          </a:graphicData>
        </a:graphic>
      </p:graphicFrame>
      <p:pic>
        <p:nvPicPr>
          <p:cNvPr id="5" name="Image 0" descr="/Users/williammasquelier/Repositories/stromy-org/Cowork/workspace/duke-strategies/brand/output/brand/logos/DukeStrategies_logo_grey.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8640" y="4796028"/>
            <a:ext cx="822960" cy="201168"/>
          </a:xfrm>
          <a:prstGeom prst="rect">
            <a:avLst/>
          </a:prstGeom>
        </p:spPr>
      </p:pic>
      <p:sp>
        <p:nvSpPr>
          <p:cNvPr id="6" name="Text 2"/>
          <p:cNvSpPr/>
          <p:nvPr/>
        </p:nvSpPr>
        <p:spPr>
          <a:xfrm>
            <a:off x="8229600" y="4823460"/>
            <a:ext cx="548640" cy="228600"/>
          </a:xfrm>
          <a:prstGeom prst="rect">
            <a:avLst/>
          </a:prstGeom>
          <a:noFill/>
          <a:ln/>
        </p:spPr>
        <p:txBody>
          <a:bodyPr wrap="square" rtlCol="0"/>
          <a:lstStyle/>
          <a:p>
            <a:pPr algn="r" indent="0" marL="0">
              <a:buNone/>
            </a:pPr>
            <a:r>
              <a:rPr lang="en-US" sz="800" dirty="0">
                <a:solidFill>
                  <a:srgbClr val="807F83"/>
                </a:solidFill>
                <a:latin typeface="Space Mono" pitchFamily="34" charset="0"/>
                <a:ea typeface="Space Mono" pitchFamily="34" charset="-122"/>
                <a:cs typeface="Space Mono" pitchFamily="34" charset="-120"/>
              </a:rPr>
              <a:t>slideNumber</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731520" cy="36576"/>
          </a:xfrm>
          <a:prstGeom prst="rect">
            <a:avLst/>
          </a:prstGeom>
          <a:solidFill>
            <a:srgbClr val="FF7F66"/>
          </a:solidFill>
          <a:ln w="12700">
            <a:solidFill>
              <a:srgbClr val="333333"/>
            </a:solidFill>
            <a:prstDash val="solid"/>
          </a:ln>
        </p:spPr>
      </p:sp>
      <p:sp>
        <p:nvSpPr>
          <p:cNvPr id="3" name="Text 1"/>
          <p:cNvSpPr/>
          <p:nvPr/>
        </p:nvSpPr>
        <p:spPr>
          <a:xfrm>
            <a:off x="548640" y="502920"/>
            <a:ext cx="8046720" cy="548640"/>
          </a:xfrm>
          <a:prstGeom prst="rect">
            <a:avLst/>
          </a:prstGeom>
          <a:noFill/>
          <a:ln/>
        </p:spPr>
        <p:txBody>
          <a:bodyPr wrap="square" rtlCol="0" anchor="ctr"/>
          <a:lstStyle/>
          <a:p>
            <a:pPr indent="0" marL="0">
              <a:buNone/>
            </a:pPr>
            <a:r>
              <a:rPr lang="en-US" sz="2400" b="1" dirty="0">
                <a:solidFill>
                  <a:srgbClr val="222222"/>
                </a:solidFill>
                <a:latin typeface="Montserrat" pitchFamily="34" charset="0"/>
                <a:ea typeface="Montserrat" pitchFamily="34" charset="-122"/>
                <a:cs typeface="Montserrat" pitchFamily="34" charset="-120"/>
              </a:rPr>
              <a:t>Market Distribution</a:t>
            </a:r>
            <a:endParaRPr lang="en-US" sz="2400" dirty="0"/>
          </a:p>
        </p:txBody>
      </p:sp>
      <p:graphicFrame>
        <p:nvGraphicFramePr>
          <p:cNvPr id="4" name="Chart 0" descr=""/>
          <p:cNvGraphicFramePr/>
          <p:nvPr/>
        </p:nvGraphicFramePr>
        <p:xfrm>
          <a:off x="1371600" y="1188720"/>
          <a:ext cx="3657600" cy="3474720"/>
        </p:xfrm>
        <a:graphic xmlns:a="http://schemas.openxmlformats.org/drawingml/2006/main">
          <a:graphicData uri="http://schemas.openxmlformats.org/drawingml/2006/chart">
            <c:chart xmlns:c="http://schemas.openxmlformats.org/drawingml/2006/chart" r:id="rId1"/>
          </a:graphicData>
        </a:graphic>
      </p:graphicFrame>
      <p:pic>
        <p:nvPicPr>
          <p:cNvPr id="5" name="Image 0" descr="/Users/williammasquelier/Repositories/stromy-org/Cowork/workspace/duke-strategies/brand/output/brand/logos/DukeStrategies_logo_grey.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8640" y="4796028"/>
            <a:ext cx="822960" cy="201168"/>
          </a:xfrm>
          <a:prstGeom prst="rect">
            <a:avLst/>
          </a:prstGeom>
        </p:spPr>
      </p:pic>
      <p:sp>
        <p:nvSpPr>
          <p:cNvPr id="6" name="Text 2"/>
          <p:cNvSpPr/>
          <p:nvPr/>
        </p:nvSpPr>
        <p:spPr>
          <a:xfrm>
            <a:off x="8229600" y="4823460"/>
            <a:ext cx="548640" cy="228600"/>
          </a:xfrm>
          <a:prstGeom prst="rect">
            <a:avLst/>
          </a:prstGeom>
          <a:noFill/>
          <a:ln/>
        </p:spPr>
        <p:txBody>
          <a:bodyPr wrap="square" rtlCol="0"/>
          <a:lstStyle/>
          <a:p>
            <a:pPr algn="r" indent="0" marL="0">
              <a:buNone/>
            </a:pPr>
            <a:r>
              <a:rPr lang="en-US" sz="800" dirty="0">
                <a:solidFill>
                  <a:srgbClr val="807F83"/>
                </a:solidFill>
                <a:latin typeface="Space Mono" pitchFamily="34" charset="0"/>
                <a:ea typeface="Space Mono" pitchFamily="34" charset="-122"/>
                <a:cs typeface="Space Mono" pitchFamily="34" charset="-120"/>
              </a:rPr>
              <a:t>slideNumber</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731520" cy="36576"/>
          </a:xfrm>
          <a:prstGeom prst="rect">
            <a:avLst/>
          </a:prstGeom>
          <a:solidFill>
            <a:srgbClr val="FF7F66"/>
          </a:solidFill>
          <a:ln w="12700">
            <a:solidFill>
              <a:srgbClr val="333333"/>
            </a:solidFill>
            <a:prstDash val="solid"/>
          </a:ln>
        </p:spPr>
      </p:sp>
      <p:sp>
        <p:nvSpPr>
          <p:cNvPr id="3" name="Text 1"/>
          <p:cNvSpPr/>
          <p:nvPr/>
        </p:nvSpPr>
        <p:spPr>
          <a:xfrm>
            <a:off x="548640" y="502920"/>
            <a:ext cx="8046720" cy="548640"/>
          </a:xfrm>
          <a:prstGeom prst="rect">
            <a:avLst/>
          </a:prstGeom>
          <a:noFill/>
          <a:ln/>
        </p:spPr>
        <p:txBody>
          <a:bodyPr wrap="square" rtlCol="0" anchor="ctr"/>
          <a:lstStyle/>
          <a:p>
            <a:pPr indent="0" marL="0">
              <a:buNone/>
            </a:pPr>
            <a:r>
              <a:rPr lang="en-US" sz="2400" b="1" dirty="0">
                <a:solidFill>
                  <a:srgbClr val="222222"/>
                </a:solidFill>
                <a:latin typeface="Montserrat" pitchFamily="34" charset="0"/>
                <a:ea typeface="Montserrat" pitchFamily="34" charset="-122"/>
                <a:cs typeface="Montserrat" pitchFamily="34" charset="-120"/>
              </a:rPr>
              <a:t>Growth Trajectory</a:t>
            </a:r>
            <a:endParaRPr lang="en-US" sz="2400" dirty="0"/>
          </a:p>
        </p:txBody>
      </p:sp>
      <p:graphicFrame>
        <p:nvGraphicFramePr>
          <p:cNvPr id="4" name="Chart 0" descr=""/>
          <p:cNvGraphicFramePr/>
          <p:nvPr/>
        </p:nvGraphicFramePr>
        <p:xfrm>
          <a:off x="548640" y="1188720"/>
          <a:ext cx="8046720" cy="3200400"/>
        </p:xfrm>
        <a:graphic xmlns:a="http://schemas.openxmlformats.org/drawingml/2006/main">
          <a:graphicData uri="http://schemas.openxmlformats.org/drawingml/2006/chart">
            <c:chart xmlns:c="http://schemas.openxmlformats.org/drawingml/2006/chart" r:id="rId1"/>
          </a:graphicData>
        </a:graphic>
      </p:graphicFrame>
      <p:pic>
        <p:nvPicPr>
          <p:cNvPr id="5" name="Image 0" descr="/Users/williammasquelier/Repositories/stromy-org/Cowork/workspace/duke-strategies/brand/output/brand/logos/DukeStrategies_logo_grey.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8640" y="4796028"/>
            <a:ext cx="822960" cy="201168"/>
          </a:xfrm>
          <a:prstGeom prst="rect">
            <a:avLst/>
          </a:prstGeom>
        </p:spPr>
      </p:pic>
      <p:sp>
        <p:nvSpPr>
          <p:cNvPr id="6" name="Text 2"/>
          <p:cNvSpPr/>
          <p:nvPr/>
        </p:nvSpPr>
        <p:spPr>
          <a:xfrm>
            <a:off x="8229600" y="4823460"/>
            <a:ext cx="548640" cy="228600"/>
          </a:xfrm>
          <a:prstGeom prst="rect">
            <a:avLst/>
          </a:prstGeom>
          <a:noFill/>
          <a:ln/>
        </p:spPr>
        <p:txBody>
          <a:bodyPr wrap="square" rtlCol="0"/>
          <a:lstStyle/>
          <a:p>
            <a:pPr algn="r" indent="0" marL="0">
              <a:buNone/>
            </a:pPr>
            <a:r>
              <a:rPr lang="en-US" sz="800" dirty="0">
                <a:solidFill>
                  <a:srgbClr val="807F83"/>
                </a:solidFill>
                <a:latin typeface="Space Mono" pitchFamily="34" charset="0"/>
                <a:ea typeface="Space Mono" pitchFamily="34" charset="-122"/>
                <a:cs typeface="Space Mono" pitchFamily="34" charset="-120"/>
              </a:rPr>
              <a:t>slideNumber</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731520" cy="36576"/>
          </a:xfrm>
          <a:prstGeom prst="rect">
            <a:avLst/>
          </a:prstGeom>
          <a:solidFill>
            <a:srgbClr val="FF7F66"/>
          </a:solidFill>
          <a:ln w="12700">
            <a:solidFill>
              <a:srgbClr val="333333"/>
            </a:solidFill>
            <a:prstDash val="solid"/>
          </a:ln>
        </p:spPr>
      </p:sp>
      <p:sp>
        <p:nvSpPr>
          <p:cNvPr id="3" name="Text 1"/>
          <p:cNvSpPr/>
          <p:nvPr/>
        </p:nvSpPr>
        <p:spPr>
          <a:xfrm>
            <a:off x="548640" y="502920"/>
            <a:ext cx="8046720" cy="548640"/>
          </a:xfrm>
          <a:prstGeom prst="rect">
            <a:avLst/>
          </a:prstGeom>
          <a:noFill/>
          <a:ln/>
        </p:spPr>
        <p:txBody>
          <a:bodyPr wrap="square" rtlCol="0" anchor="ctr"/>
          <a:lstStyle/>
          <a:p>
            <a:pPr indent="0" marL="0">
              <a:buNone/>
            </a:pPr>
            <a:r>
              <a:rPr lang="en-US" sz="2400" b="1" dirty="0">
                <a:solidFill>
                  <a:srgbClr val="222222"/>
                </a:solidFill>
                <a:latin typeface="Montserrat" pitchFamily="34" charset="0"/>
                <a:ea typeface="Montserrat" pitchFamily="34" charset="-122"/>
                <a:cs typeface="Montserrat" pitchFamily="34" charset="-120"/>
              </a:rPr>
              <a:t>Key Metrics</a:t>
            </a:r>
            <a:endParaRPr lang="en-US" sz="2400" dirty="0"/>
          </a:p>
        </p:txBody>
      </p:sp>
      <p:sp>
        <p:nvSpPr>
          <p:cNvPr id="4" name="Shape 2"/>
          <p:cNvSpPr/>
          <p:nvPr/>
        </p:nvSpPr>
        <p:spPr>
          <a:xfrm>
            <a:off x="548640" y="1280160"/>
            <a:ext cx="2438400" cy="2560320"/>
          </a:xfrm>
          <a:prstGeom prst="roundRect">
            <a:avLst>
              <a:gd name="adj" fmla="val 3750"/>
            </a:avLst>
          </a:prstGeom>
          <a:solidFill>
            <a:srgbClr val="F5F5F5"/>
          </a:solidFill>
          <a:ln w="12700">
            <a:solidFill>
              <a:srgbClr val="333333"/>
            </a:solidFill>
            <a:prstDash val="solid"/>
          </a:ln>
        </p:spPr>
      </p:sp>
      <p:sp>
        <p:nvSpPr>
          <p:cNvPr id="5" name="Shape 3"/>
          <p:cNvSpPr/>
          <p:nvPr/>
        </p:nvSpPr>
        <p:spPr>
          <a:xfrm>
            <a:off x="548640" y="1280160"/>
            <a:ext cx="2438400" cy="54864"/>
          </a:xfrm>
          <a:prstGeom prst="rect">
            <a:avLst/>
          </a:prstGeom>
          <a:solidFill>
            <a:srgbClr val="FF7F66"/>
          </a:solidFill>
          <a:ln w="12700">
            <a:solidFill>
              <a:srgbClr val="333333"/>
            </a:solidFill>
            <a:prstDash val="solid"/>
          </a:ln>
        </p:spPr>
      </p:sp>
      <p:sp>
        <p:nvSpPr>
          <p:cNvPr id="6" name="Text 4"/>
          <p:cNvSpPr/>
          <p:nvPr/>
        </p:nvSpPr>
        <p:spPr>
          <a:xfrm>
            <a:off x="548640" y="1645920"/>
            <a:ext cx="2438400" cy="822960"/>
          </a:xfrm>
          <a:prstGeom prst="rect">
            <a:avLst/>
          </a:prstGeom>
          <a:noFill/>
          <a:ln/>
        </p:spPr>
        <p:txBody>
          <a:bodyPr wrap="square" rtlCol="0" anchor="ctr"/>
          <a:lstStyle/>
          <a:p>
            <a:pPr algn="ctr" indent="0" marL="0">
              <a:buNone/>
            </a:pPr>
            <a:r>
              <a:rPr lang="en-US" sz="3600" b="1" dirty="0">
                <a:solidFill>
                  <a:srgbClr val="FF7F66"/>
                </a:solidFill>
                <a:latin typeface="Space Mono" pitchFamily="34" charset="0"/>
                <a:ea typeface="Space Mono" pitchFamily="34" charset="-122"/>
                <a:cs typeface="Space Mono" pitchFamily="34" charset="-120"/>
              </a:rPr>
              <a:t>87%</a:t>
            </a:r>
            <a:endParaRPr lang="en-US" sz="3600" dirty="0"/>
          </a:p>
        </p:txBody>
      </p:sp>
      <p:sp>
        <p:nvSpPr>
          <p:cNvPr id="7" name="Text 5"/>
          <p:cNvSpPr/>
          <p:nvPr/>
        </p:nvSpPr>
        <p:spPr>
          <a:xfrm>
            <a:off x="548640" y="2468880"/>
            <a:ext cx="2438400" cy="457200"/>
          </a:xfrm>
          <a:prstGeom prst="rect">
            <a:avLst/>
          </a:prstGeom>
          <a:noFill/>
          <a:ln/>
        </p:spPr>
        <p:txBody>
          <a:bodyPr wrap="square" rtlCol="0" anchor="ctr"/>
          <a:lstStyle/>
          <a:p>
            <a:pPr algn="ctr" indent="0" marL="0">
              <a:buNone/>
            </a:pPr>
            <a:r>
              <a:rPr lang="en-US" sz="1300" b="1" dirty="0">
                <a:solidFill>
                  <a:srgbClr val="222222"/>
                </a:solidFill>
                <a:latin typeface="Montserrat" pitchFamily="34" charset="0"/>
                <a:ea typeface="Montserrat" pitchFamily="34" charset="-122"/>
                <a:cs typeface="Montserrat" pitchFamily="34" charset="-120"/>
              </a:rPr>
              <a:t>Client Satisfaction</a:t>
            </a:r>
            <a:endParaRPr lang="en-US" sz="1300" dirty="0"/>
          </a:p>
        </p:txBody>
      </p:sp>
      <p:sp>
        <p:nvSpPr>
          <p:cNvPr id="8" name="Text 6"/>
          <p:cNvSpPr/>
          <p:nvPr/>
        </p:nvSpPr>
        <p:spPr>
          <a:xfrm>
            <a:off x="548640" y="3017520"/>
            <a:ext cx="2438400" cy="365760"/>
          </a:xfrm>
          <a:prstGeom prst="rect">
            <a:avLst/>
          </a:prstGeom>
          <a:noFill/>
          <a:ln/>
        </p:spPr>
        <p:txBody>
          <a:bodyPr wrap="square" rtlCol="0" anchor="ctr"/>
          <a:lstStyle/>
          <a:p>
            <a:pPr algn="ctr" indent="0" marL="0">
              <a:buNone/>
            </a:pPr>
            <a:r>
              <a:rPr lang="en-US" sz="1000" dirty="0">
                <a:solidFill>
                  <a:srgbClr val="807F83"/>
                </a:solidFill>
                <a:latin typeface="Montserrat" pitchFamily="34" charset="0"/>
                <a:ea typeface="Montserrat" pitchFamily="34" charset="-122"/>
                <a:cs typeface="Montserrat" pitchFamily="34" charset="-120"/>
              </a:rPr>
              <a:t>+12% YoY</a:t>
            </a:r>
            <a:endParaRPr lang="en-US" sz="1000" dirty="0"/>
          </a:p>
        </p:txBody>
      </p:sp>
      <p:sp>
        <p:nvSpPr>
          <p:cNvPr id="9" name="Shape 7"/>
          <p:cNvSpPr/>
          <p:nvPr/>
        </p:nvSpPr>
        <p:spPr>
          <a:xfrm>
            <a:off x="3352800" y="1280160"/>
            <a:ext cx="2438400" cy="2560320"/>
          </a:xfrm>
          <a:prstGeom prst="roundRect">
            <a:avLst>
              <a:gd name="adj" fmla="val 3750"/>
            </a:avLst>
          </a:prstGeom>
          <a:solidFill>
            <a:srgbClr val="F5F5F5"/>
          </a:solidFill>
          <a:ln w="12700">
            <a:solidFill>
              <a:srgbClr val="333333"/>
            </a:solidFill>
            <a:prstDash val="solid"/>
          </a:ln>
        </p:spPr>
      </p:sp>
      <p:sp>
        <p:nvSpPr>
          <p:cNvPr id="10" name="Shape 8"/>
          <p:cNvSpPr/>
          <p:nvPr/>
        </p:nvSpPr>
        <p:spPr>
          <a:xfrm>
            <a:off x="3352800" y="1280160"/>
            <a:ext cx="2438400" cy="54864"/>
          </a:xfrm>
          <a:prstGeom prst="rect">
            <a:avLst/>
          </a:prstGeom>
          <a:solidFill>
            <a:srgbClr val="FF7F66"/>
          </a:solidFill>
          <a:ln w="12700">
            <a:solidFill>
              <a:srgbClr val="333333"/>
            </a:solidFill>
            <a:prstDash val="solid"/>
          </a:ln>
        </p:spPr>
      </p:sp>
      <p:sp>
        <p:nvSpPr>
          <p:cNvPr id="11" name="Text 9"/>
          <p:cNvSpPr/>
          <p:nvPr/>
        </p:nvSpPr>
        <p:spPr>
          <a:xfrm>
            <a:off x="3352800" y="1645920"/>
            <a:ext cx="2438400" cy="822960"/>
          </a:xfrm>
          <a:prstGeom prst="rect">
            <a:avLst/>
          </a:prstGeom>
          <a:noFill/>
          <a:ln/>
        </p:spPr>
        <p:txBody>
          <a:bodyPr wrap="square" rtlCol="0" anchor="ctr"/>
          <a:lstStyle/>
          <a:p>
            <a:pPr algn="ctr" indent="0" marL="0">
              <a:buNone/>
            </a:pPr>
            <a:r>
              <a:rPr lang="en-US" sz="3600" b="1" dirty="0">
                <a:solidFill>
                  <a:srgbClr val="FF7F66"/>
                </a:solidFill>
                <a:latin typeface="Space Mono" pitchFamily="34" charset="0"/>
                <a:ea typeface="Space Mono" pitchFamily="34" charset="-122"/>
                <a:cs typeface="Space Mono" pitchFamily="34" charset="-120"/>
              </a:rPr>
              <a:t>2.4M</a:t>
            </a:r>
            <a:endParaRPr lang="en-US" sz="3600" dirty="0"/>
          </a:p>
        </p:txBody>
      </p:sp>
      <p:sp>
        <p:nvSpPr>
          <p:cNvPr id="12" name="Text 10"/>
          <p:cNvSpPr/>
          <p:nvPr/>
        </p:nvSpPr>
        <p:spPr>
          <a:xfrm>
            <a:off x="3352800" y="2468880"/>
            <a:ext cx="2438400" cy="457200"/>
          </a:xfrm>
          <a:prstGeom prst="rect">
            <a:avLst/>
          </a:prstGeom>
          <a:noFill/>
          <a:ln/>
        </p:spPr>
        <p:txBody>
          <a:bodyPr wrap="square" rtlCol="0" anchor="ctr"/>
          <a:lstStyle/>
          <a:p>
            <a:pPr algn="ctr" indent="0" marL="0">
              <a:buNone/>
            </a:pPr>
            <a:r>
              <a:rPr lang="en-US" sz="1300" b="1" dirty="0">
                <a:solidFill>
                  <a:srgbClr val="222222"/>
                </a:solidFill>
                <a:latin typeface="Montserrat" pitchFamily="34" charset="0"/>
                <a:ea typeface="Montserrat" pitchFamily="34" charset="-122"/>
                <a:cs typeface="Montserrat" pitchFamily="34" charset="-120"/>
              </a:rPr>
              <a:t>Media Impressions</a:t>
            </a:r>
            <a:endParaRPr lang="en-US" sz="1300" dirty="0"/>
          </a:p>
        </p:txBody>
      </p:sp>
      <p:sp>
        <p:nvSpPr>
          <p:cNvPr id="13" name="Text 11"/>
          <p:cNvSpPr/>
          <p:nvPr/>
        </p:nvSpPr>
        <p:spPr>
          <a:xfrm>
            <a:off x="3352800" y="3017520"/>
            <a:ext cx="2438400" cy="365760"/>
          </a:xfrm>
          <a:prstGeom prst="rect">
            <a:avLst/>
          </a:prstGeom>
          <a:noFill/>
          <a:ln/>
        </p:spPr>
        <p:txBody>
          <a:bodyPr wrap="square" rtlCol="0" anchor="ctr"/>
          <a:lstStyle/>
          <a:p>
            <a:pPr algn="ctr" indent="0" marL="0">
              <a:buNone/>
            </a:pPr>
            <a:r>
              <a:rPr lang="en-US" sz="1000" dirty="0">
                <a:solidFill>
                  <a:srgbClr val="807F83"/>
                </a:solidFill>
                <a:latin typeface="Montserrat" pitchFamily="34" charset="0"/>
                <a:ea typeface="Montserrat" pitchFamily="34" charset="-122"/>
                <a:cs typeface="Montserrat" pitchFamily="34" charset="-120"/>
              </a:rPr>
              <a:t>+340K this quarter</a:t>
            </a:r>
            <a:endParaRPr lang="en-US" sz="1000" dirty="0"/>
          </a:p>
        </p:txBody>
      </p:sp>
      <p:sp>
        <p:nvSpPr>
          <p:cNvPr id="14" name="Shape 12"/>
          <p:cNvSpPr/>
          <p:nvPr/>
        </p:nvSpPr>
        <p:spPr>
          <a:xfrm>
            <a:off x="6156960" y="1280160"/>
            <a:ext cx="2438400" cy="2560320"/>
          </a:xfrm>
          <a:prstGeom prst="roundRect">
            <a:avLst>
              <a:gd name="adj" fmla="val 3750"/>
            </a:avLst>
          </a:prstGeom>
          <a:solidFill>
            <a:srgbClr val="F5F5F5"/>
          </a:solidFill>
          <a:ln w="12700">
            <a:solidFill>
              <a:srgbClr val="333333"/>
            </a:solidFill>
            <a:prstDash val="solid"/>
          </a:ln>
        </p:spPr>
      </p:sp>
      <p:sp>
        <p:nvSpPr>
          <p:cNvPr id="15" name="Shape 13"/>
          <p:cNvSpPr/>
          <p:nvPr/>
        </p:nvSpPr>
        <p:spPr>
          <a:xfrm>
            <a:off x="6156960" y="1280160"/>
            <a:ext cx="2438400" cy="54864"/>
          </a:xfrm>
          <a:prstGeom prst="rect">
            <a:avLst/>
          </a:prstGeom>
          <a:solidFill>
            <a:srgbClr val="FF7F66"/>
          </a:solidFill>
          <a:ln w="12700">
            <a:solidFill>
              <a:srgbClr val="333333"/>
            </a:solidFill>
            <a:prstDash val="solid"/>
          </a:ln>
        </p:spPr>
      </p:sp>
      <p:sp>
        <p:nvSpPr>
          <p:cNvPr id="16" name="Text 14"/>
          <p:cNvSpPr/>
          <p:nvPr/>
        </p:nvSpPr>
        <p:spPr>
          <a:xfrm>
            <a:off x="6156960" y="1645920"/>
            <a:ext cx="2438400" cy="822960"/>
          </a:xfrm>
          <a:prstGeom prst="rect">
            <a:avLst/>
          </a:prstGeom>
          <a:noFill/>
          <a:ln/>
        </p:spPr>
        <p:txBody>
          <a:bodyPr wrap="square" rtlCol="0" anchor="ctr"/>
          <a:lstStyle/>
          <a:p>
            <a:pPr algn="ctr" indent="0" marL="0">
              <a:buNone/>
            </a:pPr>
            <a:r>
              <a:rPr lang="en-US" sz="3600" b="1" dirty="0">
                <a:solidFill>
                  <a:srgbClr val="FF7F66"/>
                </a:solidFill>
                <a:latin typeface="Space Mono" pitchFamily="34" charset="0"/>
                <a:ea typeface="Space Mono" pitchFamily="34" charset="-122"/>
                <a:cs typeface="Space Mono" pitchFamily="34" charset="-120"/>
              </a:rPr>
              <a:t>156</a:t>
            </a:r>
            <a:endParaRPr lang="en-US" sz="3600" dirty="0"/>
          </a:p>
        </p:txBody>
      </p:sp>
      <p:sp>
        <p:nvSpPr>
          <p:cNvPr id="17" name="Text 15"/>
          <p:cNvSpPr/>
          <p:nvPr/>
        </p:nvSpPr>
        <p:spPr>
          <a:xfrm>
            <a:off x="6156960" y="2468880"/>
            <a:ext cx="2438400" cy="457200"/>
          </a:xfrm>
          <a:prstGeom prst="rect">
            <a:avLst/>
          </a:prstGeom>
          <a:noFill/>
          <a:ln/>
        </p:spPr>
        <p:txBody>
          <a:bodyPr wrap="square" rtlCol="0" anchor="ctr"/>
          <a:lstStyle/>
          <a:p>
            <a:pPr algn="ctr" indent="0" marL="0">
              <a:buNone/>
            </a:pPr>
            <a:r>
              <a:rPr lang="en-US" sz="1300" b="1" dirty="0">
                <a:solidFill>
                  <a:srgbClr val="222222"/>
                </a:solidFill>
                <a:latin typeface="Montserrat" pitchFamily="34" charset="0"/>
                <a:ea typeface="Montserrat" pitchFamily="34" charset="-122"/>
                <a:cs typeface="Montserrat" pitchFamily="34" charset="-120"/>
              </a:rPr>
              <a:t>Press Placements</a:t>
            </a:r>
            <a:endParaRPr lang="en-US" sz="1300" dirty="0"/>
          </a:p>
        </p:txBody>
      </p:sp>
      <p:sp>
        <p:nvSpPr>
          <p:cNvPr id="18" name="Text 16"/>
          <p:cNvSpPr/>
          <p:nvPr/>
        </p:nvSpPr>
        <p:spPr>
          <a:xfrm>
            <a:off x="6156960" y="3017520"/>
            <a:ext cx="2438400" cy="365760"/>
          </a:xfrm>
          <a:prstGeom prst="rect">
            <a:avLst/>
          </a:prstGeom>
          <a:noFill/>
          <a:ln/>
        </p:spPr>
        <p:txBody>
          <a:bodyPr wrap="square" rtlCol="0" anchor="ctr"/>
          <a:lstStyle/>
          <a:p>
            <a:pPr algn="ctr" indent="0" marL="0">
              <a:buNone/>
            </a:pPr>
            <a:r>
              <a:rPr lang="en-US" sz="1000" dirty="0">
                <a:solidFill>
                  <a:srgbClr val="807F83"/>
                </a:solidFill>
                <a:latin typeface="Montserrat" pitchFamily="34" charset="0"/>
                <a:ea typeface="Montserrat" pitchFamily="34" charset="-122"/>
                <a:cs typeface="Montserrat" pitchFamily="34" charset="-120"/>
              </a:rPr>
              <a:t>+28 vs last year</a:t>
            </a:r>
            <a:endParaRPr lang="en-US" sz="1000" dirty="0"/>
          </a:p>
        </p:txBody>
      </p:sp>
      <p:pic>
        <p:nvPicPr>
          <p:cNvPr id="19" name="Image 0" descr="/Users/williammasquelier/Repositories/stromy-org/Cowork/workspace/duke-strategies/brand/output/brand/logos/DukeStrategies_logo_gre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796028"/>
            <a:ext cx="822960" cy="201168"/>
          </a:xfrm>
          <a:prstGeom prst="rect">
            <a:avLst/>
          </a:prstGeom>
        </p:spPr>
      </p:pic>
      <p:sp>
        <p:nvSpPr>
          <p:cNvPr id="20" name="Text 17"/>
          <p:cNvSpPr/>
          <p:nvPr/>
        </p:nvSpPr>
        <p:spPr>
          <a:xfrm>
            <a:off x="8229600" y="4823460"/>
            <a:ext cx="548640" cy="228600"/>
          </a:xfrm>
          <a:prstGeom prst="rect">
            <a:avLst/>
          </a:prstGeom>
          <a:noFill/>
          <a:ln/>
        </p:spPr>
        <p:txBody>
          <a:bodyPr wrap="square" rtlCol="0"/>
          <a:lstStyle/>
          <a:p>
            <a:pPr algn="r" indent="0" marL="0">
              <a:buNone/>
            </a:pPr>
            <a:r>
              <a:rPr lang="en-US" sz="800" dirty="0">
                <a:solidFill>
                  <a:srgbClr val="807F83"/>
                </a:solidFill>
                <a:latin typeface="Space Mono" pitchFamily="34" charset="0"/>
                <a:ea typeface="Space Mono" pitchFamily="34" charset="-122"/>
                <a:cs typeface="Space Mono" pitchFamily="34" charset="-120"/>
              </a:rPr>
              <a:t>slideNumber</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22222"/>
        </a:solidFill>
      </p:bgPr>
    </p:bg>
    <p:spTree>
      <p:nvGrpSpPr>
        <p:cNvPr id="1" name=""/>
        <p:cNvGrpSpPr/>
        <p:nvPr/>
      </p:nvGrpSpPr>
      <p:grpSpPr>
        <a:xfrm>
          <a:off x="0" y="0"/>
          <a:ext cx="0" cy="0"/>
          <a:chOff x="0" y="0"/>
          <a:chExt cx="0" cy="0"/>
        </a:xfrm>
      </p:grpSpPr>
      <p:sp>
        <p:nvSpPr>
          <p:cNvPr id="2" name="Text 0"/>
          <p:cNvSpPr/>
          <p:nvPr/>
        </p:nvSpPr>
        <p:spPr>
          <a:xfrm>
            <a:off x="548640" y="365760"/>
            <a:ext cx="8046720" cy="457200"/>
          </a:xfrm>
          <a:prstGeom prst="rect">
            <a:avLst/>
          </a:prstGeom>
          <a:noFill/>
          <a:ln/>
        </p:spPr>
        <p:txBody>
          <a:bodyPr wrap="square" rtlCol="0" anchor="ctr"/>
          <a:lstStyle/>
          <a:p>
            <a:pPr indent="0" marL="0">
              <a:buNone/>
            </a:pPr>
            <a:r>
              <a:rPr lang="en-US" sz="2200" b="1" dirty="0">
                <a:solidFill>
                  <a:srgbClr val="FFFFFF"/>
                </a:solidFill>
                <a:latin typeface="Montserrat" pitchFamily="34" charset="0"/>
                <a:ea typeface="Montserrat" pitchFamily="34" charset="-122"/>
                <a:cs typeface="Montserrat" pitchFamily="34" charset="-120"/>
              </a:rPr>
              <a:t>Dashboard Overview</a:t>
            </a:r>
            <a:endParaRPr lang="en-US" sz="2200" dirty="0"/>
          </a:p>
        </p:txBody>
      </p:sp>
      <p:sp>
        <p:nvSpPr>
          <p:cNvPr id="3" name="Shape 1"/>
          <p:cNvSpPr/>
          <p:nvPr/>
        </p:nvSpPr>
        <p:spPr>
          <a:xfrm>
            <a:off x="548640" y="1097280"/>
            <a:ext cx="1805940" cy="2926080"/>
          </a:xfrm>
          <a:prstGeom prst="roundRect">
            <a:avLst>
              <a:gd name="adj" fmla="val 5063"/>
            </a:avLst>
          </a:prstGeom>
          <a:solidFill>
            <a:srgbClr val="333333"/>
          </a:solidFill>
          <a:ln w="12700">
            <a:solidFill>
              <a:srgbClr val="333333"/>
            </a:solidFill>
            <a:prstDash val="solid"/>
          </a:ln>
        </p:spPr>
      </p:sp>
      <p:sp>
        <p:nvSpPr>
          <p:cNvPr id="4" name="Shape 2"/>
          <p:cNvSpPr/>
          <p:nvPr/>
        </p:nvSpPr>
        <p:spPr>
          <a:xfrm>
            <a:off x="822960" y="1097280"/>
            <a:ext cx="1257300" cy="45720"/>
          </a:xfrm>
          <a:prstGeom prst="rect">
            <a:avLst/>
          </a:prstGeom>
          <a:solidFill>
            <a:srgbClr val="FF7F66"/>
          </a:solidFill>
          <a:ln w="12700">
            <a:solidFill>
              <a:srgbClr val="333333"/>
            </a:solidFill>
            <a:prstDash val="solid"/>
          </a:ln>
        </p:spPr>
      </p:sp>
      <p:sp>
        <p:nvSpPr>
          <p:cNvPr id="5" name="Text 3"/>
          <p:cNvSpPr/>
          <p:nvPr/>
        </p:nvSpPr>
        <p:spPr>
          <a:xfrm>
            <a:off x="548640" y="1554480"/>
            <a:ext cx="1805940" cy="914400"/>
          </a:xfrm>
          <a:prstGeom prst="rect">
            <a:avLst/>
          </a:prstGeom>
          <a:noFill/>
          <a:ln/>
        </p:spPr>
        <p:txBody>
          <a:bodyPr wrap="square" rtlCol="0" anchor="ctr"/>
          <a:lstStyle/>
          <a:p>
            <a:pPr algn="ctr" indent="0" marL="0">
              <a:buNone/>
            </a:pPr>
            <a:r>
              <a:rPr lang="en-US" sz="3200" b="1" dirty="0">
                <a:solidFill>
                  <a:srgbClr val="FF7F66"/>
                </a:solidFill>
                <a:latin typeface="Space Mono" pitchFamily="34" charset="0"/>
                <a:ea typeface="Space Mono" pitchFamily="34" charset="-122"/>
                <a:cs typeface="Space Mono" pitchFamily="34" charset="-120"/>
              </a:rPr>
              <a:t>94%</a:t>
            </a:r>
            <a:endParaRPr lang="en-US" sz="3200" dirty="0"/>
          </a:p>
        </p:txBody>
      </p:sp>
      <p:sp>
        <p:nvSpPr>
          <p:cNvPr id="6" name="Text 4"/>
          <p:cNvSpPr/>
          <p:nvPr/>
        </p:nvSpPr>
        <p:spPr>
          <a:xfrm>
            <a:off x="548640" y="2560320"/>
            <a:ext cx="1805940" cy="457200"/>
          </a:xfrm>
          <a:prstGeom prst="rect">
            <a:avLst/>
          </a:prstGeom>
          <a:noFill/>
          <a:ln/>
        </p:spPr>
        <p:txBody>
          <a:bodyPr wrap="square" rtlCol="0" anchor="ctr"/>
          <a:lstStyle/>
          <a:p>
            <a:pPr algn="ctr" indent="0" marL="0">
              <a:buNone/>
            </a:pPr>
            <a:r>
              <a:rPr lang="en-US" sz="1100" dirty="0">
                <a:solidFill>
                  <a:srgbClr val="DFDFE0"/>
                </a:solidFill>
                <a:latin typeface="Montserrat" pitchFamily="34" charset="0"/>
                <a:ea typeface="Montserrat" pitchFamily="34" charset="-122"/>
                <a:cs typeface="Montserrat" pitchFamily="34" charset="-120"/>
              </a:rPr>
              <a:t>Reach Target</a:t>
            </a:r>
            <a:endParaRPr lang="en-US" sz="1100" dirty="0"/>
          </a:p>
        </p:txBody>
      </p:sp>
      <p:sp>
        <p:nvSpPr>
          <p:cNvPr id="7" name="Shape 5"/>
          <p:cNvSpPr/>
          <p:nvPr/>
        </p:nvSpPr>
        <p:spPr>
          <a:xfrm>
            <a:off x="2628900" y="1097280"/>
            <a:ext cx="1805940" cy="2926080"/>
          </a:xfrm>
          <a:prstGeom prst="roundRect">
            <a:avLst>
              <a:gd name="adj" fmla="val 5063"/>
            </a:avLst>
          </a:prstGeom>
          <a:solidFill>
            <a:srgbClr val="333333"/>
          </a:solidFill>
          <a:ln w="12700">
            <a:solidFill>
              <a:srgbClr val="333333"/>
            </a:solidFill>
            <a:prstDash val="solid"/>
          </a:ln>
        </p:spPr>
      </p:sp>
      <p:sp>
        <p:nvSpPr>
          <p:cNvPr id="8" name="Shape 6"/>
          <p:cNvSpPr/>
          <p:nvPr/>
        </p:nvSpPr>
        <p:spPr>
          <a:xfrm>
            <a:off x="2903220" y="1097280"/>
            <a:ext cx="1257300" cy="45720"/>
          </a:xfrm>
          <a:prstGeom prst="rect">
            <a:avLst/>
          </a:prstGeom>
          <a:solidFill>
            <a:srgbClr val="FF7F66"/>
          </a:solidFill>
          <a:ln w="12700">
            <a:solidFill>
              <a:srgbClr val="333333"/>
            </a:solidFill>
            <a:prstDash val="solid"/>
          </a:ln>
        </p:spPr>
      </p:sp>
      <p:sp>
        <p:nvSpPr>
          <p:cNvPr id="9" name="Text 7"/>
          <p:cNvSpPr/>
          <p:nvPr/>
        </p:nvSpPr>
        <p:spPr>
          <a:xfrm>
            <a:off x="2628900" y="1554480"/>
            <a:ext cx="1805940" cy="914400"/>
          </a:xfrm>
          <a:prstGeom prst="rect">
            <a:avLst/>
          </a:prstGeom>
          <a:noFill/>
          <a:ln/>
        </p:spPr>
        <p:txBody>
          <a:bodyPr wrap="square" rtlCol="0" anchor="ctr"/>
          <a:lstStyle/>
          <a:p>
            <a:pPr algn="ctr" indent="0" marL="0">
              <a:buNone/>
            </a:pPr>
            <a:r>
              <a:rPr lang="en-US" sz="3200" b="1" dirty="0">
                <a:solidFill>
                  <a:srgbClr val="FF7F66"/>
                </a:solidFill>
                <a:latin typeface="Space Mono" pitchFamily="34" charset="0"/>
                <a:ea typeface="Space Mono" pitchFamily="34" charset="-122"/>
                <a:cs typeface="Space Mono" pitchFamily="34" charset="-120"/>
              </a:rPr>
              <a:t>$1.2M</a:t>
            </a:r>
            <a:endParaRPr lang="en-US" sz="3200" dirty="0"/>
          </a:p>
        </p:txBody>
      </p:sp>
      <p:sp>
        <p:nvSpPr>
          <p:cNvPr id="10" name="Text 8"/>
          <p:cNvSpPr/>
          <p:nvPr/>
        </p:nvSpPr>
        <p:spPr>
          <a:xfrm>
            <a:off x="2628900" y="2560320"/>
            <a:ext cx="1805940" cy="457200"/>
          </a:xfrm>
          <a:prstGeom prst="rect">
            <a:avLst/>
          </a:prstGeom>
          <a:noFill/>
          <a:ln/>
        </p:spPr>
        <p:txBody>
          <a:bodyPr wrap="square" rtlCol="0" anchor="ctr"/>
          <a:lstStyle/>
          <a:p>
            <a:pPr algn="ctr" indent="0" marL="0">
              <a:buNone/>
            </a:pPr>
            <a:r>
              <a:rPr lang="en-US" sz="1100" dirty="0">
                <a:solidFill>
                  <a:srgbClr val="DFDFE0"/>
                </a:solidFill>
                <a:latin typeface="Montserrat" pitchFamily="34" charset="0"/>
                <a:ea typeface="Montserrat" pitchFamily="34" charset="-122"/>
                <a:cs typeface="Montserrat" pitchFamily="34" charset="-120"/>
              </a:rPr>
              <a:t>Revenue Impact</a:t>
            </a:r>
            <a:endParaRPr lang="en-US" sz="1100" dirty="0"/>
          </a:p>
        </p:txBody>
      </p:sp>
      <p:sp>
        <p:nvSpPr>
          <p:cNvPr id="11" name="Shape 9"/>
          <p:cNvSpPr/>
          <p:nvPr/>
        </p:nvSpPr>
        <p:spPr>
          <a:xfrm>
            <a:off x="4709160" y="1097280"/>
            <a:ext cx="1805940" cy="2926080"/>
          </a:xfrm>
          <a:prstGeom prst="roundRect">
            <a:avLst>
              <a:gd name="adj" fmla="val 5063"/>
            </a:avLst>
          </a:prstGeom>
          <a:solidFill>
            <a:srgbClr val="333333"/>
          </a:solidFill>
          <a:ln w="12700">
            <a:solidFill>
              <a:srgbClr val="333333"/>
            </a:solidFill>
            <a:prstDash val="solid"/>
          </a:ln>
        </p:spPr>
      </p:sp>
      <p:sp>
        <p:nvSpPr>
          <p:cNvPr id="12" name="Shape 10"/>
          <p:cNvSpPr/>
          <p:nvPr/>
        </p:nvSpPr>
        <p:spPr>
          <a:xfrm>
            <a:off x="4983480" y="1097280"/>
            <a:ext cx="1257300" cy="45720"/>
          </a:xfrm>
          <a:prstGeom prst="rect">
            <a:avLst/>
          </a:prstGeom>
          <a:solidFill>
            <a:srgbClr val="FF7F66"/>
          </a:solidFill>
          <a:ln w="12700">
            <a:solidFill>
              <a:srgbClr val="333333"/>
            </a:solidFill>
            <a:prstDash val="solid"/>
          </a:ln>
        </p:spPr>
      </p:sp>
      <p:sp>
        <p:nvSpPr>
          <p:cNvPr id="13" name="Text 11"/>
          <p:cNvSpPr/>
          <p:nvPr/>
        </p:nvSpPr>
        <p:spPr>
          <a:xfrm>
            <a:off x="4709160" y="1554480"/>
            <a:ext cx="1805940" cy="914400"/>
          </a:xfrm>
          <a:prstGeom prst="rect">
            <a:avLst/>
          </a:prstGeom>
          <a:noFill/>
          <a:ln/>
        </p:spPr>
        <p:txBody>
          <a:bodyPr wrap="square" rtlCol="0" anchor="ctr"/>
          <a:lstStyle/>
          <a:p>
            <a:pPr algn="ctr" indent="0" marL="0">
              <a:buNone/>
            </a:pPr>
            <a:r>
              <a:rPr lang="en-US" sz="3200" b="1" dirty="0">
                <a:solidFill>
                  <a:srgbClr val="FF7F66"/>
                </a:solidFill>
                <a:latin typeface="Space Mono" pitchFamily="34" charset="0"/>
                <a:ea typeface="Space Mono" pitchFamily="34" charset="-122"/>
                <a:cs typeface="Space Mono" pitchFamily="34" charset="-120"/>
              </a:rPr>
              <a:t>47</a:t>
            </a:r>
            <a:endParaRPr lang="en-US" sz="3200" dirty="0"/>
          </a:p>
        </p:txBody>
      </p:sp>
      <p:sp>
        <p:nvSpPr>
          <p:cNvPr id="14" name="Text 12"/>
          <p:cNvSpPr/>
          <p:nvPr/>
        </p:nvSpPr>
        <p:spPr>
          <a:xfrm>
            <a:off x="4709160" y="2560320"/>
            <a:ext cx="1805940" cy="457200"/>
          </a:xfrm>
          <a:prstGeom prst="rect">
            <a:avLst/>
          </a:prstGeom>
          <a:noFill/>
          <a:ln/>
        </p:spPr>
        <p:txBody>
          <a:bodyPr wrap="square" rtlCol="0" anchor="ctr"/>
          <a:lstStyle/>
          <a:p>
            <a:pPr algn="ctr" indent="0" marL="0">
              <a:buNone/>
            </a:pPr>
            <a:r>
              <a:rPr lang="en-US" sz="1100" dirty="0">
                <a:solidFill>
                  <a:srgbClr val="DFDFE0"/>
                </a:solidFill>
                <a:latin typeface="Montserrat" pitchFamily="34" charset="0"/>
                <a:ea typeface="Montserrat" pitchFamily="34" charset="-122"/>
                <a:cs typeface="Montserrat" pitchFamily="34" charset="-120"/>
              </a:rPr>
              <a:t>Active Campaigns</a:t>
            </a:r>
            <a:endParaRPr lang="en-US" sz="1100" dirty="0"/>
          </a:p>
        </p:txBody>
      </p:sp>
      <p:sp>
        <p:nvSpPr>
          <p:cNvPr id="15" name="Shape 13"/>
          <p:cNvSpPr/>
          <p:nvPr/>
        </p:nvSpPr>
        <p:spPr>
          <a:xfrm>
            <a:off x="6789420" y="1097280"/>
            <a:ext cx="1805940" cy="2926080"/>
          </a:xfrm>
          <a:prstGeom prst="roundRect">
            <a:avLst>
              <a:gd name="adj" fmla="val 5063"/>
            </a:avLst>
          </a:prstGeom>
          <a:solidFill>
            <a:srgbClr val="333333"/>
          </a:solidFill>
          <a:ln w="12700">
            <a:solidFill>
              <a:srgbClr val="333333"/>
            </a:solidFill>
            <a:prstDash val="solid"/>
          </a:ln>
        </p:spPr>
      </p:sp>
      <p:sp>
        <p:nvSpPr>
          <p:cNvPr id="16" name="Shape 14"/>
          <p:cNvSpPr/>
          <p:nvPr/>
        </p:nvSpPr>
        <p:spPr>
          <a:xfrm>
            <a:off x="7063740" y="1097280"/>
            <a:ext cx="1257300" cy="45720"/>
          </a:xfrm>
          <a:prstGeom prst="rect">
            <a:avLst/>
          </a:prstGeom>
          <a:solidFill>
            <a:srgbClr val="FF7F66"/>
          </a:solidFill>
          <a:ln w="12700">
            <a:solidFill>
              <a:srgbClr val="333333"/>
            </a:solidFill>
            <a:prstDash val="solid"/>
          </a:ln>
        </p:spPr>
      </p:sp>
      <p:sp>
        <p:nvSpPr>
          <p:cNvPr id="17" name="Text 15"/>
          <p:cNvSpPr/>
          <p:nvPr/>
        </p:nvSpPr>
        <p:spPr>
          <a:xfrm>
            <a:off x="6789420" y="1554480"/>
            <a:ext cx="1805940" cy="914400"/>
          </a:xfrm>
          <a:prstGeom prst="rect">
            <a:avLst/>
          </a:prstGeom>
          <a:noFill/>
          <a:ln/>
        </p:spPr>
        <p:txBody>
          <a:bodyPr wrap="square" rtlCol="0" anchor="ctr"/>
          <a:lstStyle/>
          <a:p>
            <a:pPr algn="ctr" indent="0" marL="0">
              <a:buNone/>
            </a:pPr>
            <a:r>
              <a:rPr lang="en-US" sz="3200" b="1" dirty="0">
                <a:solidFill>
                  <a:srgbClr val="FF7F66"/>
                </a:solidFill>
                <a:latin typeface="Space Mono" pitchFamily="34" charset="0"/>
                <a:ea typeface="Space Mono" pitchFamily="34" charset="-122"/>
                <a:cs typeface="Space Mono" pitchFamily="34" charset="-120"/>
              </a:rPr>
              <a:t>3.8x</a:t>
            </a:r>
            <a:endParaRPr lang="en-US" sz="3200" dirty="0"/>
          </a:p>
        </p:txBody>
      </p:sp>
      <p:sp>
        <p:nvSpPr>
          <p:cNvPr id="18" name="Text 16"/>
          <p:cNvSpPr/>
          <p:nvPr/>
        </p:nvSpPr>
        <p:spPr>
          <a:xfrm>
            <a:off x="6789420" y="2560320"/>
            <a:ext cx="1805940" cy="457200"/>
          </a:xfrm>
          <a:prstGeom prst="rect">
            <a:avLst/>
          </a:prstGeom>
          <a:noFill/>
          <a:ln/>
        </p:spPr>
        <p:txBody>
          <a:bodyPr wrap="square" rtlCol="0" anchor="ctr"/>
          <a:lstStyle/>
          <a:p>
            <a:pPr algn="ctr" indent="0" marL="0">
              <a:buNone/>
            </a:pPr>
            <a:r>
              <a:rPr lang="en-US" sz="1100" dirty="0">
                <a:solidFill>
                  <a:srgbClr val="DFDFE0"/>
                </a:solidFill>
                <a:latin typeface="Montserrat" pitchFamily="34" charset="0"/>
                <a:ea typeface="Montserrat" pitchFamily="34" charset="-122"/>
                <a:cs typeface="Montserrat" pitchFamily="34" charset="-120"/>
              </a:rPr>
              <a:t>ROI Multiple</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731520" cy="36576"/>
          </a:xfrm>
          <a:prstGeom prst="rect">
            <a:avLst/>
          </a:prstGeom>
          <a:solidFill>
            <a:srgbClr val="FF7F66"/>
          </a:solidFill>
          <a:ln w="12700">
            <a:solidFill>
              <a:srgbClr val="333333"/>
            </a:solidFill>
            <a:prstDash val="solid"/>
          </a:ln>
        </p:spPr>
      </p:sp>
      <p:sp>
        <p:nvSpPr>
          <p:cNvPr id="3" name="Text 1"/>
          <p:cNvSpPr/>
          <p:nvPr/>
        </p:nvSpPr>
        <p:spPr>
          <a:xfrm>
            <a:off x="548640" y="502920"/>
            <a:ext cx="8046720" cy="548640"/>
          </a:xfrm>
          <a:prstGeom prst="rect">
            <a:avLst/>
          </a:prstGeom>
          <a:noFill/>
          <a:ln/>
        </p:spPr>
        <p:txBody>
          <a:bodyPr wrap="square" rtlCol="0" anchor="ctr"/>
          <a:lstStyle/>
          <a:p>
            <a:pPr indent="0" marL="0">
              <a:buNone/>
            </a:pPr>
            <a:r>
              <a:rPr lang="en-US" sz="2400" b="1" dirty="0">
                <a:solidFill>
                  <a:srgbClr val="222222"/>
                </a:solidFill>
                <a:latin typeface="Montserrat" pitchFamily="34" charset="0"/>
                <a:ea typeface="Montserrat" pitchFamily="34" charset="-122"/>
                <a:cs typeface="Montserrat" pitchFamily="34" charset="-120"/>
              </a:rPr>
              <a:t>Comparison Matrix</a:t>
            </a:r>
            <a:endParaRPr lang="en-US" sz="2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2743200"/>
                <a:gridCol w="1764792"/>
                <a:gridCol w="1764792"/>
                <a:gridCol w="1764792"/>
              </a:tblGrid>
              <a:tr h="457200">
                <a:tc>
                  <a:txBody>
                    <a:bodyPr/>
                    <a:lstStyle/>
                    <a:p>
                      <a:pPr indent="0" marL="0">
                        <a:buNone/>
                      </a:pPr>
                      <a:r>
                        <a:rPr lang="en-US" sz="1100" b="1" dirty="0">
                          <a:solidFill>
                            <a:srgbClr val="FFFFFF"/>
                          </a:solidFill>
                          <a:latin typeface="Montserrat" pitchFamily="34" charset="0"/>
                          <a:ea typeface="Montserrat" pitchFamily="34" charset="-122"/>
                          <a:cs typeface="Montserrat" pitchFamily="34" charset="-120"/>
                        </a:rPr>
                        <a:t>Feature</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222222"/>
                    </a:solidFill>
                  </a:tcPr>
                </a:tc>
                <a:tc>
                  <a:txBody>
                    <a:bodyPr/>
                    <a:lstStyle/>
                    <a:p>
                      <a:pPr indent="0" marL="0">
                        <a:buNone/>
                      </a:pPr>
                      <a:r>
                        <a:rPr lang="en-US" sz="1100" b="1" dirty="0">
                          <a:solidFill>
                            <a:srgbClr val="FFFFFF"/>
                          </a:solidFill>
                          <a:latin typeface="Montserrat" pitchFamily="34" charset="0"/>
                          <a:ea typeface="Montserrat" pitchFamily="34" charset="-122"/>
                          <a:cs typeface="Montserrat" pitchFamily="34" charset="-120"/>
                        </a:rPr>
                        <a:t>Option A</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222222"/>
                    </a:solidFill>
                  </a:tcPr>
                </a:tc>
                <a:tc>
                  <a:txBody>
                    <a:bodyPr/>
                    <a:lstStyle/>
                    <a:p>
                      <a:pPr indent="0" marL="0">
                        <a:buNone/>
                      </a:pPr>
                      <a:r>
                        <a:rPr lang="en-US" sz="1100" b="1" dirty="0">
                          <a:solidFill>
                            <a:srgbClr val="FFFFFF"/>
                          </a:solidFill>
                          <a:latin typeface="Montserrat" pitchFamily="34" charset="0"/>
                          <a:ea typeface="Montserrat" pitchFamily="34" charset="-122"/>
                          <a:cs typeface="Montserrat" pitchFamily="34" charset="-120"/>
                        </a:rPr>
                        <a:t>Option B</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222222"/>
                    </a:solidFill>
                  </a:tcPr>
                </a:tc>
                <a:tc>
                  <a:txBody>
                    <a:bodyPr/>
                    <a:lstStyle/>
                    <a:p>
                      <a:pPr indent="0" marL="0">
                        <a:buNone/>
                      </a:pPr>
                      <a:r>
                        <a:rPr lang="en-US" sz="1100" b="1" dirty="0">
                          <a:solidFill>
                            <a:srgbClr val="FFFFFF"/>
                          </a:solidFill>
                          <a:latin typeface="Montserrat" pitchFamily="34" charset="0"/>
                          <a:ea typeface="Montserrat" pitchFamily="34" charset="-122"/>
                          <a:cs typeface="Montserrat" pitchFamily="34" charset="-120"/>
                        </a:rPr>
                        <a:t>Option C</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222222"/>
                    </a:solidFill>
                  </a:tcPr>
                </a:tc>
              </a:tr>
              <a:tr h="457200">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Cost</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algn="ctr" indent="0" marL="0">
                        <a:buNone/>
                      </a:pPr>
                      <a:r>
                        <a:rPr lang="en-US" sz="1100" dirty="0">
                          <a:solidFill>
                            <a:srgbClr val="FF7F66"/>
                          </a:solidFill>
                          <a:latin typeface="Montserrat" pitchFamily="34" charset="0"/>
                          <a:ea typeface="Montserrat" pitchFamily="34" charset="-122"/>
                          <a:cs typeface="Montserrat" pitchFamily="34" charset="-120"/>
                        </a:rPr>
                        <a:t>✓</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algn="ctr" indent="0" marL="0">
                        <a:buNone/>
                      </a:pPr>
                      <a:r>
                        <a:rPr lang="en-US" sz="1100" dirty="0">
                          <a:solidFill>
                            <a:srgbClr val="FF7F66"/>
                          </a:solidFill>
                          <a:latin typeface="Montserrat" pitchFamily="34" charset="0"/>
                          <a:ea typeface="Montserrat" pitchFamily="34" charset="-122"/>
                          <a:cs typeface="Montserrat" pitchFamily="34" charset="-120"/>
                        </a:rPr>
                        <a:t>✓</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algn="ctr" indent="0" marL="0">
                        <a:buNone/>
                      </a:pPr>
                      <a:r>
                        <a:rPr lang="en-US" sz="1100" dirty="0">
                          <a:solidFill>
                            <a:srgbClr val="807F83"/>
                          </a:solidFill>
                          <a:latin typeface="Montserrat" pitchFamily="34" charset="0"/>
                          <a:ea typeface="Montserrat" pitchFamily="34" charset="-122"/>
                          <a:cs typeface="Montserrat" pitchFamily="34" charset="-120"/>
                        </a:rPr>
                        <a:t>✗</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r>
              <a:tr h="457200">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Scalability</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FF7F66"/>
                          </a:solidFill>
                          <a:latin typeface="Montserrat" pitchFamily="34" charset="0"/>
                          <a:ea typeface="Montserrat" pitchFamily="34" charset="-122"/>
                          <a:cs typeface="Montserrat" pitchFamily="34" charset="-120"/>
                        </a:rPr>
                        <a:t>✓</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807F83"/>
                          </a:solidFill>
                          <a:latin typeface="Montserrat" pitchFamily="34" charset="0"/>
                          <a:ea typeface="Montserrat" pitchFamily="34" charset="-122"/>
                          <a:cs typeface="Montserrat" pitchFamily="34" charset="-120"/>
                        </a:rPr>
                        <a:t>✗</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FF7F66"/>
                          </a:solidFill>
                          <a:latin typeface="Montserrat" pitchFamily="34" charset="0"/>
                          <a:ea typeface="Montserrat" pitchFamily="34" charset="-122"/>
                          <a:cs typeface="Montserrat" pitchFamily="34" charset="-120"/>
                        </a:rPr>
                        <a:t>✓</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F5F5F5"/>
                    </a:solidFill>
                  </a:tcPr>
                </a:tc>
              </a:tr>
              <a:tr h="457200">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Timeline</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algn="ctr" indent="0" marL="0">
                        <a:buNone/>
                      </a:pPr>
                      <a:r>
                        <a:rPr lang="en-US" sz="1100" dirty="0">
                          <a:solidFill>
                            <a:srgbClr val="807F83"/>
                          </a:solidFill>
                          <a:latin typeface="Montserrat" pitchFamily="34" charset="0"/>
                          <a:ea typeface="Montserrat" pitchFamily="34" charset="-122"/>
                          <a:cs typeface="Montserrat" pitchFamily="34" charset="-120"/>
                        </a:rPr>
                        <a:t>✗</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algn="ctr" indent="0" marL="0">
                        <a:buNone/>
                      </a:pPr>
                      <a:r>
                        <a:rPr lang="en-US" sz="1100" dirty="0">
                          <a:solidFill>
                            <a:srgbClr val="FF7F66"/>
                          </a:solidFill>
                          <a:latin typeface="Montserrat" pitchFamily="34" charset="0"/>
                          <a:ea typeface="Montserrat" pitchFamily="34" charset="-122"/>
                          <a:cs typeface="Montserrat" pitchFamily="34" charset="-120"/>
                        </a:rPr>
                        <a:t>✓</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c>
                  <a:txBody>
                    <a:bodyPr/>
                    <a:lstStyle/>
                    <a:p>
                      <a:pPr algn="ctr" indent="0" marL="0">
                        <a:buNone/>
                      </a:pPr>
                      <a:r>
                        <a:rPr lang="en-US" sz="1100" dirty="0">
                          <a:solidFill>
                            <a:srgbClr val="FF7F66"/>
                          </a:solidFill>
                          <a:latin typeface="Montserrat" pitchFamily="34" charset="0"/>
                          <a:ea typeface="Montserrat" pitchFamily="34" charset="-122"/>
                          <a:cs typeface="Montserrat" pitchFamily="34" charset="-120"/>
                        </a:rPr>
                        <a:t>✓</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tcPr>
                </a:tc>
              </a:tr>
              <a:tr h="457200">
                <a:tc>
                  <a:txBody>
                    <a:bodyPr/>
                    <a:lstStyle/>
                    <a:p>
                      <a:pPr indent="0" marL="0">
                        <a:buNone/>
                      </a:pPr>
                      <a:r>
                        <a:rPr lang="en-US" sz="1100" dirty="0">
                          <a:solidFill>
                            <a:srgbClr val="222222"/>
                          </a:solidFill>
                          <a:latin typeface="Montserrat" pitchFamily="34" charset="0"/>
                          <a:ea typeface="Montserrat" pitchFamily="34" charset="-122"/>
                          <a:cs typeface="Montserrat" pitchFamily="34" charset="-120"/>
                        </a:rPr>
                        <a:t>Quality</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FF7F66"/>
                          </a:solidFill>
                          <a:latin typeface="Montserrat" pitchFamily="34" charset="0"/>
                          <a:ea typeface="Montserrat" pitchFamily="34" charset="-122"/>
                          <a:cs typeface="Montserrat" pitchFamily="34" charset="-120"/>
                        </a:rPr>
                        <a:t>✓</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FF7F66"/>
                          </a:solidFill>
                          <a:latin typeface="Montserrat" pitchFamily="34" charset="0"/>
                          <a:ea typeface="Montserrat" pitchFamily="34" charset="-122"/>
                          <a:cs typeface="Montserrat" pitchFamily="34" charset="-120"/>
                        </a:rPr>
                        <a:t>✓</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F5F5F5"/>
                    </a:solidFill>
                  </a:tcPr>
                </a:tc>
                <a:tc>
                  <a:txBody>
                    <a:bodyPr/>
                    <a:lstStyle/>
                    <a:p>
                      <a:pPr algn="ctr" indent="0" marL="0">
                        <a:buNone/>
                      </a:pPr>
                      <a:r>
                        <a:rPr lang="en-US" sz="1100" dirty="0">
                          <a:solidFill>
                            <a:srgbClr val="FF7F66"/>
                          </a:solidFill>
                          <a:latin typeface="Montserrat" pitchFamily="34" charset="0"/>
                          <a:ea typeface="Montserrat" pitchFamily="34" charset="-122"/>
                          <a:cs typeface="Montserrat" pitchFamily="34" charset="-120"/>
                        </a:rPr>
                        <a:t>✓</a:t>
                      </a:r>
                      <a:endParaRPr lang="en-US" sz="1100" dirty="0">
                        <a:latin typeface="Montserrat" charset="0"/>
                        <a:ea typeface="Montserrat" charset="0"/>
                        <a:cs typeface="Montserrat" charset="0"/>
                      </a:endParaRPr>
                    </a:p>
                  </a:txBody>
                  <a:tcPr marL="91440" marR="91440" marT="45720" marB="45720">
                    <a:lnL w="6350" cap="flat" cmpd="sng" algn="ctr">
                      <a:solidFill>
                        <a:srgbClr val="DFDFE0"/>
                      </a:solidFill>
                      <a:prstDash val="solid"/>
                      <a:round/>
                      <a:headEnd type="none" w="med" len="med"/>
                      <a:tailEnd type="none" w="med" len="med"/>
                    </a:lnL>
                    <a:lnR w="6350" cap="flat" cmpd="sng" algn="ctr">
                      <a:solidFill>
                        <a:srgbClr val="DFDFE0"/>
                      </a:solidFill>
                      <a:prstDash val="solid"/>
                      <a:round/>
                      <a:headEnd type="none" w="med" len="med"/>
                      <a:tailEnd type="none" w="med" len="med"/>
                    </a:lnR>
                    <a:lnT w="6350" cap="flat" cmpd="sng" algn="ctr">
                      <a:solidFill>
                        <a:srgbClr val="DFDFE0"/>
                      </a:solidFill>
                      <a:prstDash val="solid"/>
                      <a:round/>
                      <a:headEnd type="none" w="med" len="med"/>
                      <a:tailEnd type="none" w="med" len="med"/>
                    </a:lnT>
                    <a:lnB w="6350" cap="flat" cmpd="sng" algn="ctr">
                      <a:solidFill>
                        <a:srgbClr val="DFDFE0"/>
                      </a:solidFill>
                      <a:prstDash val="solid"/>
                      <a:round/>
                      <a:headEnd type="none" w="med" len="med"/>
                      <a:tailEnd type="none" w="med" len="med"/>
                    </a:lnB>
                    <a:solidFill>
                      <a:srgbClr val="F5F5F5"/>
                    </a:solidFill>
                  </a:tcPr>
                </a:tc>
              </a:tr>
            </a:tbl>
          </a:graphicData>
        </a:graphic>
      </p:graphicFrame>
      <p:pic>
        <p:nvPicPr>
          <p:cNvPr id="5" name="Image 0" descr="/Users/williammasquelier/Repositories/stromy-org/Cowork/workspace/duke-strategies/brand/output/brand/logos/DukeStrategies_logo_gre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796028"/>
            <a:ext cx="822960" cy="201168"/>
          </a:xfrm>
          <a:prstGeom prst="rect">
            <a:avLst/>
          </a:prstGeom>
        </p:spPr>
      </p:pic>
      <p:sp>
        <p:nvSpPr>
          <p:cNvPr id="6" name="Text 2"/>
          <p:cNvSpPr/>
          <p:nvPr/>
        </p:nvSpPr>
        <p:spPr>
          <a:xfrm>
            <a:off x="8229600" y="4823460"/>
            <a:ext cx="548640" cy="228600"/>
          </a:xfrm>
          <a:prstGeom prst="rect">
            <a:avLst/>
          </a:prstGeom>
          <a:noFill/>
          <a:ln/>
        </p:spPr>
        <p:txBody>
          <a:bodyPr wrap="square" rtlCol="0"/>
          <a:lstStyle/>
          <a:p>
            <a:pPr algn="r" indent="0" marL="0">
              <a:buNone/>
            </a:pPr>
            <a:r>
              <a:rPr lang="en-US" sz="800" dirty="0">
                <a:solidFill>
                  <a:srgbClr val="807F83"/>
                </a:solidFill>
                <a:latin typeface="Space Mono" pitchFamily="34" charset="0"/>
                <a:ea typeface="Space Mono" pitchFamily="34" charset="-122"/>
                <a:cs typeface="Space Mono" pitchFamily="34" charset="-120"/>
              </a:rPr>
              <a:t>slideNumber</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731520" cy="36576"/>
          </a:xfrm>
          <a:prstGeom prst="rect">
            <a:avLst/>
          </a:prstGeom>
          <a:solidFill>
            <a:srgbClr val="FF7F66"/>
          </a:solidFill>
          <a:ln w="12700">
            <a:solidFill>
              <a:srgbClr val="333333"/>
            </a:solidFill>
            <a:prstDash val="solid"/>
          </a:ln>
        </p:spPr>
      </p:sp>
      <p:sp>
        <p:nvSpPr>
          <p:cNvPr id="3" name="Text 1"/>
          <p:cNvSpPr/>
          <p:nvPr/>
        </p:nvSpPr>
        <p:spPr>
          <a:xfrm>
            <a:off x="548640" y="502920"/>
            <a:ext cx="8046720" cy="548640"/>
          </a:xfrm>
          <a:prstGeom prst="rect">
            <a:avLst/>
          </a:prstGeom>
          <a:noFill/>
          <a:ln/>
        </p:spPr>
        <p:txBody>
          <a:bodyPr wrap="square" rtlCol="0" anchor="ctr"/>
          <a:lstStyle/>
          <a:p>
            <a:pPr indent="0" marL="0">
              <a:buNone/>
            </a:pPr>
            <a:r>
              <a:rPr lang="en-US" sz="2400" b="1" dirty="0">
                <a:solidFill>
                  <a:srgbClr val="222222"/>
                </a:solidFill>
                <a:latin typeface="Montserrat" pitchFamily="34" charset="0"/>
                <a:ea typeface="Montserrat" pitchFamily="34" charset="-122"/>
                <a:cs typeface="Montserrat" pitchFamily="34" charset="-120"/>
              </a:rPr>
              <a:t>Scorecard</a:t>
            </a:r>
            <a:endParaRPr lang="en-US" sz="2400" dirty="0"/>
          </a:p>
        </p:txBody>
      </p:sp>
      <p:sp>
        <p:nvSpPr>
          <p:cNvPr id="4" name="Text 2"/>
          <p:cNvSpPr/>
          <p:nvPr/>
        </p:nvSpPr>
        <p:spPr>
          <a:xfrm>
            <a:off x="548640" y="1234440"/>
            <a:ext cx="2286000" cy="320040"/>
          </a:xfrm>
          <a:prstGeom prst="rect">
            <a:avLst/>
          </a:prstGeom>
          <a:noFill/>
          <a:ln/>
        </p:spPr>
        <p:txBody>
          <a:bodyPr wrap="square" rtlCol="0" anchor="ctr"/>
          <a:lstStyle/>
          <a:p>
            <a:pPr indent="0" marL="0">
              <a:buNone/>
            </a:pPr>
            <a:r>
              <a:rPr lang="en-US" sz="1200" dirty="0">
                <a:solidFill>
                  <a:srgbClr val="222222"/>
                </a:solidFill>
                <a:latin typeface="Montserrat" pitchFamily="34" charset="0"/>
                <a:ea typeface="Montserrat" pitchFamily="34" charset="-122"/>
                <a:cs typeface="Montserrat" pitchFamily="34" charset="-120"/>
              </a:rPr>
              <a:t>Brand Consistency</a:t>
            </a:r>
            <a:endParaRPr lang="en-US" sz="1200" dirty="0"/>
          </a:p>
        </p:txBody>
      </p:sp>
      <p:sp>
        <p:nvSpPr>
          <p:cNvPr id="5" name="Shape 3"/>
          <p:cNvSpPr/>
          <p:nvPr/>
        </p:nvSpPr>
        <p:spPr>
          <a:xfrm>
            <a:off x="2926080" y="1280160"/>
            <a:ext cx="5029200" cy="228600"/>
          </a:xfrm>
          <a:prstGeom prst="roundRect">
            <a:avLst>
              <a:gd name="adj" fmla="val 20000"/>
            </a:avLst>
          </a:prstGeom>
          <a:solidFill>
            <a:srgbClr val="DFDFE0"/>
          </a:solidFill>
          <a:ln w="12700">
            <a:solidFill>
              <a:srgbClr val="333333"/>
            </a:solidFill>
            <a:prstDash val="solid"/>
          </a:ln>
        </p:spPr>
      </p:sp>
      <p:sp>
        <p:nvSpPr>
          <p:cNvPr id="6" name="Shape 4"/>
          <p:cNvSpPr/>
          <p:nvPr/>
        </p:nvSpPr>
        <p:spPr>
          <a:xfrm>
            <a:off x="2926080" y="1280160"/>
            <a:ext cx="4526280" cy="228600"/>
          </a:xfrm>
          <a:prstGeom prst="roundRect">
            <a:avLst>
              <a:gd name="adj" fmla="val 20000"/>
            </a:avLst>
          </a:prstGeom>
          <a:solidFill>
            <a:srgbClr val="FF7F66"/>
          </a:solidFill>
          <a:ln w="12700">
            <a:solidFill>
              <a:srgbClr val="333333"/>
            </a:solidFill>
            <a:prstDash val="solid"/>
          </a:ln>
        </p:spPr>
      </p:sp>
      <p:sp>
        <p:nvSpPr>
          <p:cNvPr id="7" name="Text 5"/>
          <p:cNvSpPr/>
          <p:nvPr/>
        </p:nvSpPr>
        <p:spPr>
          <a:xfrm>
            <a:off x="8046720" y="1234440"/>
            <a:ext cx="548640" cy="320040"/>
          </a:xfrm>
          <a:prstGeom prst="rect">
            <a:avLst/>
          </a:prstGeom>
          <a:noFill/>
          <a:ln/>
        </p:spPr>
        <p:txBody>
          <a:bodyPr wrap="square" rtlCol="0" anchor="ctr"/>
          <a:lstStyle/>
          <a:p>
            <a:pPr indent="0" marL="0">
              <a:buNone/>
            </a:pPr>
            <a:r>
              <a:rPr lang="en-US" sz="1100" b="1" dirty="0">
                <a:solidFill>
                  <a:srgbClr val="222222"/>
                </a:solidFill>
                <a:latin typeface="Space Mono" pitchFamily="34" charset="0"/>
                <a:ea typeface="Space Mono" pitchFamily="34" charset="-122"/>
                <a:cs typeface="Space Mono" pitchFamily="34" charset="-120"/>
              </a:rPr>
              <a:t>9/10</a:t>
            </a:r>
            <a:endParaRPr lang="en-US" sz="1100" dirty="0"/>
          </a:p>
        </p:txBody>
      </p:sp>
      <p:sp>
        <p:nvSpPr>
          <p:cNvPr id="8" name="Text 6"/>
          <p:cNvSpPr/>
          <p:nvPr/>
        </p:nvSpPr>
        <p:spPr>
          <a:xfrm>
            <a:off x="548640" y="1874520"/>
            <a:ext cx="2286000" cy="320040"/>
          </a:xfrm>
          <a:prstGeom prst="rect">
            <a:avLst/>
          </a:prstGeom>
          <a:noFill/>
          <a:ln/>
        </p:spPr>
        <p:txBody>
          <a:bodyPr wrap="square" rtlCol="0" anchor="ctr"/>
          <a:lstStyle/>
          <a:p>
            <a:pPr indent="0" marL="0">
              <a:buNone/>
            </a:pPr>
            <a:r>
              <a:rPr lang="en-US" sz="1200" dirty="0">
                <a:solidFill>
                  <a:srgbClr val="222222"/>
                </a:solidFill>
                <a:latin typeface="Montserrat" pitchFamily="34" charset="0"/>
                <a:ea typeface="Montserrat" pitchFamily="34" charset="-122"/>
                <a:cs typeface="Montserrat" pitchFamily="34" charset="-120"/>
              </a:rPr>
              <a:t>Message Clarity</a:t>
            </a:r>
            <a:endParaRPr lang="en-US" sz="1200" dirty="0"/>
          </a:p>
        </p:txBody>
      </p:sp>
      <p:sp>
        <p:nvSpPr>
          <p:cNvPr id="9" name="Shape 7"/>
          <p:cNvSpPr/>
          <p:nvPr/>
        </p:nvSpPr>
        <p:spPr>
          <a:xfrm>
            <a:off x="2926080" y="1920240"/>
            <a:ext cx="5029200" cy="228600"/>
          </a:xfrm>
          <a:prstGeom prst="roundRect">
            <a:avLst>
              <a:gd name="adj" fmla="val 20000"/>
            </a:avLst>
          </a:prstGeom>
          <a:solidFill>
            <a:srgbClr val="DFDFE0"/>
          </a:solidFill>
          <a:ln w="12700">
            <a:solidFill>
              <a:srgbClr val="333333"/>
            </a:solidFill>
            <a:prstDash val="solid"/>
          </a:ln>
        </p:spPr>
      </p:sp>
      <p:sp>
        <p:nvSpPr>
          <p:cNvPr id="10" name="Shape 8"/>
          <p:cNvSpPr/>
          <p:nvPr/>
        </p:nvSpPr>
        <p:spPr>
          <a:xfrm>
            <a:off x="2926080" y="1920240"/>
            <a:ext cx="4023360" cy="228600"/>
          </a:xfrm>
          <a:prstGeom prst="roundRect">
            <a:avLst>
              <a:gd name="adj" fmla="val 20000"/>
            </a:avLst>
          </a:prstGeom>
          <a:solidFill>
            <a:srgbClr val="FF7F66"/>
          </a:solidFill>
          <a:ln w="12700">
            <a:solidFill>
              <a:srgbClr val="333333"/>
            </a:solidFill>
            <a:prstDash val="solid"/>
          </a:ln>
        </p:spPr>
      </p:sp>
      <p:sp>
        <p:nvSpPr>
          <p:cNvPr id="11" name="Text 9"/>
          <p:cNvSpPr/>
          <p:nvPr/>
        </p:nvSpPr>
        <p:spPr>
          <a:xfrm>
            <a:off x="8046720" y="1874520"/>
            <a:ext cx="548640" cy="320040"/>
          </a:xfrm>
          <a:prstGeom prst="rect">
            <a:avLst/>
          </a:prstGeom>
          <a:noFill/>
          <a:ln/>
        </p:spPr>
        <p:txBody>
          <a:bodyPr wrap="square" rtlCol="0" anchor="ctr"/>
          <a:lstStyle/>
          <a:p>
            <a:pPr indent="0" marL="0">
              <a:buNone/>
            </a:pPr>
            <a:r>
              <a:rPr lang="en-US" sz="1100" b="1" dirty="0">
                <a:solidFill>
                  <a:srgbClr val="222222"/>
                </a:solidFill>
                <a:latin typeface="Space Mono" pitchFamily="34" charset="0"/>
                <a:ea typeface="Space Mono" pitchFamily="34" charset="-122"/>
                <a:cs typeface="Space Mono" pitchFamily="34" charset="-120"/>
              </a:rPr>
              <a:t>8/10</a:t>
            </a:r>
            <a:endParaRPr lang="en-US" sz="1100" dirty="0"/>
          </a:p>
        </p:txBody>
      </p:sp>
      <p:sp>
        <p:nvSpPr>
          <p:cNvPr id="12" name="Text 10"/>
          <p:cNvSpPr/>
          <p:nvPr/>
        </p:nvSpPr>
        <p:spPr>
          <a:xfrm>
            <a:off x="548640" y="2514600"/>
            <a:ext cx="2286000" cy="320040"/>
          </a:xfrm>
          <a:prstGeom prst="rect">
            <a:avLst/>
          </a:prstGeom>
          <a:noFill/>
          <a:ln/>
        </p:spPr>
        <p:txBody>
          <a:bodyPr wrap="square" rtlCol="0" anchor="ctr"/>
          <a:lstStyle/>
          <a:p>
            <a:pPr indent="0" marL="0">
              <a:buNone/>
            </a:pPr>
            <a:r>
              <a:rPr lang="en-US" sz="1200" dirty="0">
                <a:solidFill>
                  <a:srgbClr val="222222"/>
                </a:solidFill>
                <a:latin typeface="Montserrat" pitchFamily="34" charset="0"/>
                <a:ea typeface="Montserrat" pitchFamily="34" charset="-122"/>
                <a:cs typeface="Montserrat" pitchFamily="34" charset="-120"/>
              </a:rPr>
              <a:t>Audience Reach</a:t>
            </a:r>
            <a:endParaRPr lang="en-US" sz="1200" dirty="0"/>
          </a:p>
        </p:txBody>
      </p:sp>
      <p:sp>
        <p:nvSpPr>
          <p:cNvPr id="13" name="Shape 11"/>
          <p:cNvSpPr/>
          <p:nvPr/>
        </p:nvSpPr>
        <p:spPr>
          <a:xfrm>
            <a:off x="2926080" y="2560320"/>
            <a:ext cx="5029200" cy="228600"/>
          </a:xfrm>
          <a:prstGeom prst="roundRect">
            <a:avLst>
              <a:gd name="adj" fmla="val 20000"/>
            </a:avLst>
          </a:prstGeom>
          <a:solidFill>
            <a:srgbClr val="DFDFE0"/>
          </a:solidFill>
          <a:ln w="12700">
            <a:solidFill>
              <a:srgbClr val="333333"/>
            </a:solidFill>
            <a:prstDash val="solid"/>
          </a:ln>
        </p:spPr>
      </p:sp>
      <p:sp>
        <p:nvSpPr>
          <p:cNvPr id="14" name="Shape 12"/>
          <p:cNvSpPr/>
          <p:nvPr/>
        </p:nvSpPr>
        <p:spPr>
          <a:xfrm>
            <a:off x="2926080" y="2560320"/>
            <a:ext cx="3520440" cy="228600"/>
          </a:xfrm>
          <a:prstGeom prst="roundRect">
            <a:avLst>
              <a:gd name="adj" fmla="val 20000"/>
            </a:avLst>
          </a:prstGeom>
          <a:solidFill>
            <a:srgbClr val="FF7F66"/>
          </a:solidFill>
          <a:ln w="12700">
            <a:solidFill>
              <a:srgbClr val="333333"/>
            </a:solidFill>
            <a:prstDash val="solid"/>
          </a:ln>
        </p:spPr>
      </p:sp>
      <p:sp>
        <p:nvSpPr>
          <p:cNvPr id="15" name="Text 13"/>
          <p:cNvSpPr/>
          <p:nvPr/>
        </p:nvSpPr>
        <p:spPr>
          <a:xfrm>
            <a:off x="8046720" y="2514600"/>
            <a:ext cx="548640" cy="320040"/>
          </a:xfrm>
          <a:prstGeom prst="rect">
            <a:avLst/>
          </a:prstGeom>
          <a:noFill/>
          <a:ln/>
        </p:spPr>
        <p:txBody>
          <a:bodyPr wrap="square" rtlCol="0" anchor="ctr"/>
          <a:lstStyle/>
          <a:p>
            <a:pPr indent="0" marL="0">
              <a:buNone/>
            </a:pPr>
            <a:r>
              <a:rPr lang="en-US" sz="1100" b="1" dirty="0">
                <a:solidFill>
                  <a:srgbClr val="222222"/>
                </a:solidFill>
                <a:latin typeface="Space Mono" pitchFamily="34" charset="0"/>
                <a:ea typeface="Space Mono" pitchFamily="34" charset="-122"/>
                <a:cs typeface="Space Mono" pitchFamily="34" charset="-120"/>
              </a:rPr>
              <a:t>7/10</a:t>
            </a:r>
            <a:endParaRPr lang="en-US" sz="1100" dirty="0"/>
          </a:p>
        </p:txBody>
      </p:sp>
      <p:sp>
        <p:nvSpPr>
          <p:cNvPr id="16" name="Text 14"/>
          <p:cNvSpPr/>
          <p:nvPr/>
        </p:nvSpPr>
        <p:spPr>
          <a:xfrm>
            <a:off x="548640" y="3154680"/>
            <a:ext cx="2286000" cy="320040"/>
          </a:xfrm>
          <a:prstGeom prst="rect">
            <a:avLst/>
          </a:prstGeom>
          <a:noFill/>
          <a:ln/>
        </p:spPr>
        <p:txBody>
          <a:bodyPr wrap="square" rtlCol="0" anchor="ctr"/>
          <a:lstStyle/>
          <a:p>
            <a:pPr indent="0" marL="0">
              <a:buNone/>
            </a:pPr>
            <a:r>
              <a:rPr lang="en-US" sz="1200" dirty="0">
                <a:solidFill>
                  <a:srgbClr val="222222"/>
                </a:solidFill>
                <a:latin typeface="Montserrat" pitchFamily="34" charset="0"/>
                <a:ea typeface="Montserrat" pitchFamily="34" charset="-122"/>
                <a:cs typeface="Montserrat" pitchFamily="34" charset="-120"/>
              </a:rPr>
              <a:t>Engagement Quality</a:t>
            </a:r>
            <a:endParaRPr lang="en-US" sz="1200" dirty="0"/>
          </a:p>
        </p:txBody>
      </p:sp>
      <p:sp>
        <p:nvSpPr>
          <p:cNvPr id="17" name="Shape 15"/>
          <p:cNvSpPr/>
          <p:nvPr/>
        </p:nvSpPr>
        <p:spPr>
          <a:xfrm>
            <a:off x="2926080" y="3200400"/>
            <a:ext cx="5029200" cy="228600"/>
          </a:xfrm>
          <a:prstGeom prst="roundRect">
            <a:avLst>
              <a:gd name="adj" fmla="val 20000"/>
            </a:avLst>
          </a:prstGeom>
          <a:solidFill>
            <a:srgbClr val="DFDFE0"/>
          </a:solidFill>
          <a:ln w="12700">
            <a:solidFill>
              <a:srgbClr val="333333"/>
            </a:solidFill>
            <a:prstDash val="solid"/>
          </a:ln>
        </p:spPr>
      </p:sp>
      <p:sp>
        <p:nvSpPr>
          <p:cNvPr id="18" name="Shape 16"/>
          <p:cNvSpPr/>
          <p:nvPr/>
        </p:nvSpPr>
        <p:spPr>
          <a:xfrm>
            <a:off x="2926080" y="3200400"/>
            <a:ext cx="4023360" cy="228600"/>
          </a:xfrm>
          <a:prstGeom prst="roundRect">
            <a:avLst>
              <a:gd name="adj" fmla="val 20000"/>
            </a:avLst>
          </a:prstGeom>
          <a:solidFill>
            <a:srgbClr val="FF7F66"/>
          </a:solidFill>
          <a:ln w="12700">
            <a:solidFill>
              <a:srgbClr val="333333"/>
            </a:solidFill>
            <a:prstDash val="solid"/>
          </a:ln>
        </p:spPr>
      </p:sp>
      <p:sp>
        <p:nvSpPr>
          <p:cNvPr id="19" name="Text 17"/>
          <p:cNvSpPr/>
          <p:nvPr/>
        </p:nvSpPr>
        <p:spPr>
          <a:xfrm>
            <a:off x="8046720" y="3154680"/>
            <a:ext cx="548640" cy="320040"/>
          </a:xfrm>
          <a:prstGeom prst="rect">
            <a:avLst/>
          </a:prstGeom>
          <a:noFill/>
          <a:ln/>
        </p:spPr>
        <p:txBody>
          <a:bodyPr wrap="square" rtlCol="0" anchor="ctr"/>
          <a:lstStyle/>
          <a:p>
            <a:pPr indent="0" marL="0">
              <a:buNone/>
            </a:pPr>
            <a:r>
              <a:rPr lang="en-US" sz="1100" b="1" dirty="0">
                <a:solidFill>
                  <a:srgbClr val="222222"/>
                </a:solidFill>
                <a:latin typeface="Space Mono" pitchFamily="34" charset="0"/>
                <a:ea typeface="Space Mono" pitchFamily="34" charset="-122"/>
                <a:cs typeface="Space Mono" pitchFamily="34" charset="-120"/>
              </a:rPr>
              <a:t>8/10</a:t>
            </a:r>
            <a:endParaRPr lang="en-US" sz="1100" dirty="0"/>
          </a:p>
        </p:txBody>
      </p:sp>
      <p:sp>
        <p:nvSpPr>
          <p:cNvPr id="20" name="Text 18"/>
          <p:cNvSpPr/>
          <p:nvPr/>
        </p:nvSpPr>
        <p:spPr>
          <a:xfrm>
            <a:off x="548640" y="3794760"/>
            <a:ext cx="2286000" cy="320040"/>
          </a:xfrm>
          <a:prstGeom prst="rect">
            <a:avLst/>
          </a:prstGeom>
          <a:noFill/>
          <a:ln/>
        </p:spPr>
        <p:txBody>
          <a:bodyPr wrap="square" rtlCol="0" anchor="ctr"/>
          <a:lstStyle/>
          <a:p>
            <a:pPr indent="0" marL="0">
              <a:buNone/>
            </a:pPr>
            <a:r>
              <a:rPr lang="en-US" sz="1200" dirty="0">
                <a:solidFill>
                  <a:srgbClr val="222222"/>
                </a:solidFill>
                <a:latin typeface="Montserrat" pitchFamily="34" charset="0"/>
                <a:ea typeface="Montserrat" pitchFamily="34" charset="-122"/>
                <a:cs typeface="Montserrat" pitchFamily="34" charset="-120"/>
              </a:rPr>
              <a:t>ROI Performance</a:t>
            </a:r>
            <a:endParaRPr lang="en-US" sz="1200" dirty="0"/>
          </a:p>
        </p:txBody>
      </p:sp>
      <p:sp>
        <p:nvSpPr>
          <p:cNvPr id="21" name="Shape 19"/>
          <p:cNvSpPr/>
          <p:nvPr/>
        </p:nvSpPr>
        <p:spPr>
          <a:xfrm>
            <a:off x="2926080" y="3840480"/>
            <a:ext cx="5029200" cy="228600"/>
          </a:xfrm>
          <a:prstGeom prst="roundRect">
            <a:avLst>
              <a:gd name="adj" fmla="val 20000"/>
            </a:avLst>
          </a:prstGeom>
          <a:solidFill>
            <a:srgbClr val="DFDFE0"/>
          </a:solidFill>
          <a:ln w="12700">
            <a:solidFill>
              <a:srgbClr val="333333"/>
            </a:solidFill>
            <a:prstDash val="solid"/>
          </a:ln>
        </p:spPr>
      </p:sp>
      <p:sp>
        <p:nvSpPr>
          <p:cNvPr id="22" name="Shape 20"/>
          <p:cNvSpPr/>
          <p:nvPr/>
        </p:nvSpPr>
        <p:spPr>
          <a:xfrm>
            <a:off x="2926080" y="3840480"/>
            <a:ext cx="3017520" cy="228600"/>
          </a:xfrm>
          <a:prstGeom prst="roundRect">
            <a:avLst>
              <a:gd name="adj" fmla="val 20000"/>
            </a:avLst>
          </a:prstGeom>
          <a:solidFill>
            <a:srgbClr val="FF7F66"/>
          </a:solidFill>
          <a:ln w="12700">
            <a:solidFill>
              <a:srgbClr val="333333"/>
            </a:solidFill>
            <a:prstDash val="solid"/>
          </a:ln>
        </p:spPr>
      </p:sp>
      <p:sp>
        <p:nvSpPr>
          <p:cNvPr id="23" name="Text 21"/>
          <p:cNvSpPr/>
          <p:nvPr/>
        </p:nvSpPr>
        <p:spPr>
          <a:xfrm>
            <a:off x="8046720" y="3794760"/>
            <a:ext cx="548640" cy="320040"/>
          </a:xfrm>
          <a:prstGeom prst="rect">
            <a:avLst/>
          </a:prstGeom>
          <a:noFill/>
          <a:ln/>
        </p:spPr>
        <p:txBody>
          <a:bodyPr wrap="square" rtlCol="0" anchor="ctr"/>
          <a:lstStyle/>
          <a:p>
            <a:pPr indent="0" marL="0">
              <a:buNone/>
            </a:pPr>
            <a:r>
              <a:rPr lang="en-US" sz="1100" b="1" dirty="0">
                <a:solidFill>
                  <a:srgbClr val="222222"/>
                </a:solidFill>
                <a:latin typeface="Space Mono" pitchFamily="34" charset="0"/>
                <a:ea typeface="Space Mono" pitchFamily="34" charset="-122"/>
                <a:cs typeface="Space Mono" pitchFamily="34" charset="-120"/>
              </a:rPr>
              <a:t>6/10</a:t>
            </a:r>
            <a:endParaRPr lang="en-US" sz="1100" dirty="0"/>
          </a:p>
        </p:txBody>
      </p:sp>
      <p:pic>
        <p:nvPicPr>
          <p:cNvPr id="24" name="Image 0" descr="/Users/williammasquelier/Repositories/stromy-org/Cowork/workspace/duke-strategies/brand/output/brand/logos/DukeStrategies_logo_gre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796028"/>
            <a:ext cx="822960" cy="201168"/>
          </a:xfrm>
          <a:prstGeom prst="rect">
            <a:avLst/>
          </a:prstGeom>
        </p:spPr>
      </p:pic>
      <p:sp>
        <p:nvSpPr>
          <p:cNvPr id="25" name="Text 22"/>
          <p:cNvSpPr/>
          <p:nvPr/>
        </p:nvSpPr>
        <p:spPr>
          <a:xfrm>
            <a:off x="8229600" y="4823460"/>
            <a:ext cx="548640" cy="228600"/>
          </a:xfrm>
          <a:prstGeom prst="rect">
            <a:avLst/>
          </a:prstGeom>
          <a:noFill/>
          <a:ln/>
        </p:spPr>
        <p:txBody>
          <a:bodyPr wrap="square" rtlCol="0"/>
          <a:lstStyle/>
          <a:p>
            <a:pPr algn="r" indent="0" marL="0">
              <a:buNone/>
            </a:pPr>
            <a:r>
              <a:rPr lang="en-US" sz="800" dirty="0">
                <a:solidFill>
                  <a:srgbClr val="807F83"/>
                </a:solidFill>
                <a:latin typeface="Space Mono" pitchFamily="34" charset="0"/>
                <a:ea typeface="Space Mono" pitchFamily="34" charset="-122"/>
                <a:cs typeface="Space Mono" pitchFamily="34" charset="-120"/>
              </a:rPr>
              <a:t>slideNumber</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22222"/>
        </a:solidFill>
      </p:bgPr>
    </p:bg>
    <p:spTree>
      <p:nvGrpSpPr>
        <p:cNvPr id="1" name=""/>
        <p:cNvGrpSpPr/>
        <p:nvPr/>
      </p:nvGrpSpPr>
      <p:grpSpPr>
        <a:xfrm>
          <a:off x="0" y="0"/>
          <a:ext cx="0" cy="0"/>
          <a:chOff x="0" y="0"/>
          <a:chExt cx="0" cy="0"/>
        </a:xfrm>
      </p:grpSpPr>
      <p:sp>
        <p:nvSpPr>
          <p:cNvPr id="2" name="Text 0"/>
          <p:cNvSpPr/>
          <p:nvPr/>
        </p:nvSpPr>
        <p:spPr>
          <a:xfrm>
            <a:off x="914400" y="731520"/>
            <a:ext cx="7315200" cy="2011680"/>
          </a:xfrm>
          <a:prstGeom prst="rect">
            <a:avLst/>
          </a:prstGeom>
          <a:noFill/>
          <a:ln/>
        </p:spPr>
        <p:txBody>
          <a:bodyPr wrap="square" rtlCol="0" anchor="ctr"/>
          <a:lstStyle/>
          <a:p>
            <a:pPr algn="ctr" indent="0" marL="0">
              <a:buNone/>
            </a:pPr>
            <a:r>
              <a:rPr lang="en-US" sz="9600" b="1" dirty="0">
                <a:solidFill>
                  <a:srgbClr val="FF7F66"/>
                </a:solidFill>
                <a:latin typeface="Space Mono" pitchFamily="34" charset="0"/>
                <a:ea typeface="Space Mono" pitchFamily="34" charset="-122"/>
                <a:cs typeface="Space Mono" pitchFamily="34" charset="-120"/>
              </a:rPr>
              <a:t>78%</a:t>
            </a:r>
            <a:endParaRPr lang="en-US" sz="9600" dirty="0"/>
          </a:p>
        </p:txBody>
      </p:sp>
      <p:sp>
        <p:nvSpPr>
          <p:cNvPr id="3" name="Shape 1"/>
          <p:cNvSpPr/>
          <p:nvPr/>
        </p:nvSpPr>
        <p:spPr>
          <a:xfrm>
            <a:off x="3200400" y="2834640"/>
            <a:ext cx="2743200" cy="45720"/>
          </a:xfrm>
          <a:prstGeom prst="rect">
            <a:avLst/>
          </a:prstGeom>
          <a:solidFill>
            <a:srgbClr val="FF7F66"/>
          </a:solidFill>
          <a:ln w="12700">
            <a:solidFill>
              <a:srgbClr val="333333"/>
            </a:solidFill>
            <a:prstDash val="solid"/>
          </a:ln>
        </p:spPr>
      </p:sp>
      <p:sp>
        <p:nvSpPr>
          <p:cNvPr id="4" name="Text 2"/>
          <p:cNvSpPr/>
          <p:nvPr/>
        </p:nvSpPr>
        <p:spPr>
          <a:xfrm>
            <a:off x="1371600" y="3017520"/>
            <a:ext cx="6400800" cy="914400"/>
          </a:xfrm>
          <a:prstGeom prst="rect">
            <a:avLst/>
          </a:prstGeom>
          <a:noFill/>
          <a:ln/>
        </p:spPr>
        <p:txBody>
          <a:bodyPr wrap="square" rtlCol="0" anchor="ctr"/>
          <a:lstStyle/>
          <a:p>
            <a:pPr algn="ctr" indent="0" marL="0">
              <a:lnSpc>
                <a:spcPct val="140000"/>
              </a:lnSpc>
              <a:buNone/>
            </a:pPr>
            <a:r>
              <a:rPr lang="en-US" sz="1600" dirty="0">
                <a:solidFill>
                  <a:srgbClr val="FFFFFF"/>
                </a:solidFill>
                <a:latin typeface="Montserrat" pitchFamily="34" charset="0"/>
                <a:ea typeface="Montserrat" pitchFamily="34" charset="-122"/>
                <a:cs typeface="Montserrat" pitchFamily="34" charset="-120"/>
              </a:rPr>
              <a:t>of stakeholders report improved</a:t>
            </a:r>
            <a:endParaRPr lang="en-US" sz="1600" dirty="0"/>
          </a:p>
          <a:p>
            <a:pPr algn="ctr" indent="0" marL="0">
              <a:lnSpc>
                <a:spcPct val="140000"/>
              </a:lnSpc>
              <a:buNone/>
            </a:pPr>
            <a:r>
              <a:rPr lang="en-US" sz="1600" dirty="0">
                <a:solidFill>
                  <a:srgbClr val="FFFFFF"/>
                </a:solidFill>
                <a:latin typeface="Montserrat" pitchFamily="34" charset="0"/>
                <a:ea typeface="Montserrat" pitchFamily="34" charset="-122"/>
                <a:cs typeface="Montserrat" pitchFamily="34" charset="-120"/>
              </a:rPr>
              <a:t>communications outcomes</a:t>
            </a:r>
            <a:endParaRPr lang="en-US" sz="1600" dirty="0"/>
          </a:p>
        </p:txBody>
      </p:sp>
      <p:sp>
        <p:nvSpPr>
          <p:cNvPr id="5" name="Text 3"/>
          <p:cNvSpPr/>
          <p:nvPr/>
        </p:nvSpPr>
        <p:spPr>
          <a:xfrm>
            <a:off x="1371600" y="4114800"/>
            <a:ext cx="6400800" cy="274320"/>
          </a:xfrm>
          <a:prstGeom prst="rect">
            <a:avLst/>
          </a:prstGeom>
          <a:noFill/>
          <a:ln/>
        </p:spPr>
        <p:txBody>
          <a:bodyPr wrap="square" rtlCol="0" anchor="ctr"/>
          <a:lstStyle/>
          <a:p>
            <a:pPr algn="ctr" indent="0" marL="0">
              <a:buNone/>
            </a:pPr>
            <a:r>
              <a:rPr lang="en-US" sz="900" dirty="0">
                <a:solidFill>
                  <a:srgbClr val="807F83"/>
                </a:solidFill>
                <a:latin typeface="Space Mono" pitchFamily="34" charset="0"/>
                <a:ea typeface="Space Mono" pitchFamily="34" charset="-122"/>
                <a:cs typeface="Space Mono" pitchFamily="34" charset="-120"/>
              </a:rPr>
              <a:t>Source: Annual Communications Survey 2025</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Users/williammasquelier/Repositories/stromy-org/Cowork/workspace/duke-strategies/brand/output/brand/assets/images/slides/brooklyn-bridge-bw-16x9.jpg">    </p:cNvPr>
          <p:cNvPicPr>
            <a:picLocks noChangeAspect="1"/>
          </p:cNvPicPr>
          <p:nvPr/>
        </p:nvPicPr>
        <p:blipFill>
          <a:blip r:embed="rId1"/>
          <a:stretch>
            <a:fillRect/>
          </a:stretch>
        </p:blipFill>
        <p:spPr>
          <a:xfrm>
            <a:off x="0" y="0"/>
            <a:ext cx="5943600" cy="5143500"/>
          </a:xfrm>
          <a:prstGeom prst="rect">
            <a:avLst/>
          </a:prstGeom>
        </p:spPr>
      </p:pic>
      <p:sp>
        <p:nvSpPr>
          <p:cNvPr id="3" name="Shape 0"/>
          <p:cNvSpPr/>
          <p:nvPr/>
        </p:nvSpPr>
        <p:spPr>
          <a:xfrm>
            <a:off x="0" y="0"/>
            <a:ext cx="5943600" cy="5143500"/>
          </a:xfrm>
          <a:prstGeom prst="rect">
            <a:avLst/>
          </a:prstGeom>
          <a:solidFill>
            <a:srgbClr val="FF7F66">
              <a:alpha val="40000"/>
            </a:srgbClr>
          </a:solidFill>
          <a:ln w="12700">
            <a:solidFill>
              <a:srgbClr val="333333"/>
            </a:solidFill>
            <a:prstDash val="solid"/>
          </a:ln>
        </p:spPr>
      </p:sp>
      <p:sp>
        <p:nvSpPr>
          <p:cNvPr id="4" name="Text 1"/>
          <p:cNvSpPr/>
          <p:nvPr/>
        </p:nvSpPr>
        <p:spPr>
          <a:xfrm>
            <a:off x="6217920" y="1371600"/>
            <a:ext cx="2560320" cy="457200"/>
          </a:xfrm>
          <a:prstGeom prst="rect">
            <a:avLst/>
          </a:prstGeom>
          <a:noFill/>
          <a:ln/>
        </p:spPr>
        <p:txBody>
          <a:bodyPr wrap="square" rtlCol="0" anchor="ctr"/>
          <a:lstStyle/>
          <a:p>
            <a:pPr indent="0" marL="0">
              <a:buNone/>
            </a:pPr>
            <a:r>
              <a:rPr lang="en-US" sz="1800" b="1" dirty="0">
                <a:solidFill>
                  <a:srgbClr val="222222"/>
                </a:solidFill>
                <a:latin typeface="Montserrat" pitchFamily="34" charset="0"/>
                <a:ea typeface="Montserrat" pitchFamily="34" charset="-122"/>
                <a:cs typeface="Montserrat" pitchFamily="34" charset="-120"/>
              </a:rPr>
              <a:t>Image Caption</a:t>
            </a:r>
            <a:endParaRPr lang="en-US" sz="1800" dirty="0"/>
          </a:p>
        </p:txBody>
      </p:sp>
      <p:sp>
        <p:nvSpPr>
          <p:cNvPr id="5" name="Shape 2"/>
          <p:cNvSpPr/>
          <p:nvPr/>
        </p:nvSpPr>
        <p:spPr>
          <a:xfrm>
            <a:off x="6217920" y="1920240"/>
            <a:ext cx="548640" cy="36576"/>
          </a:xfrm>
          <a:prstGeom prst="rect">
            <a:avLst/>
          </a:prstGeom>
          <a:solidFill>
            <a:srgbClr val="FF7F66"/>
          </a:solidFill>
          <a:ln w="12700">
            <a:solidFill>
              <a:srgbClr val="333333"/>
            </a:solidFill>
            <a:prstDash val="solid"/>
          </a:ln>
        </p:spPr>
      </p:sp>
      <p:sp>
        <p:nvSpPr>
          <p:cNvPr id="6" name="Text 3"/>
          <p:cNvSpPr/>
          <p:nvPr/>
        </p:nvSpPr>
        <p:spPr>
          <a:xfrm>
            <a:off x="6217920" y="2103120"/>
            <a:ext cx="2560320" cy="1828800"/>
          </a:xfrm>
          <a:prstGeom prst="rect">
            <a:avLst/>
          </a:prstGeom>
          <a:noFill/>
          <a:ln/>
        </p:spPr>
        <p:txBody>
          <a:bodyPr wrap="square" rtlCol="0" anchor="ctr"/>
          <a:lstStyle/>
          <a:p>
            <a:pPr indent="0" marL="0">
              <a:lnSpc>
                <a:spcPct val="150000"/>
              </a:lnSpc>
              <a:buNone/>
            </a:pPr>
            <a:r>
              <a:rPr lang="en-US" sz="1100" dirty="0">
                <a:solidFill>
                  <a:srgbClr val="807F83"/>
                </a:solidFill>
                <a:latin typeface="Montserrat" pitchFamily="34" charset="0"/>
                <a:ea typeface="Montserrat" pitchFamily="34" charset="-122"/>
                <a:cs typeface="Montserrat" pitchFamily="34" charset="-120"/>
              </a:rPr>
              <a:t>Add a description of the image here, explaining its relevance to the presentation content.</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Users/williammasquelier/Repositories/stromy-org/Cowork/workspace/duke-strategies/brand/output/brand/assets/images/slides/cable-stayed-bridge-night-illuminated-16x9.jpg">    </p:cNvPr>
          <p:cNvPicPr>
            <a:picLocks noChangeAspect="1"/>
          </p:cNvPicPr>
          <p:nvPr/>
        </p:nvPicPr>
        <p:blipFill>
          <a:blip r:embed="rId1"/>
          <a:stretch>
            <a:fillRect/>
          </a:stretch>
        </p:blipFill>
        <p:spPr>
          <a:xfrm>
            <a:off x="0" y="0"/>
            <a:ext cx="4572000" cy="5143500"/>
          </a:xfrm>
          <a:prstGeom prst="rect">
            <a:avLst/>
          </a:prstGeom>
        </p:spPr>
      </p:pic>
      <p:sp>
        <p:nvSpPr>
          <p:cNvPr id="3" name="Text 0"/>
          <p:cNvSpPr/>
          <p:nvPr/>
        </p:nvSpPr>
        <p:spPr>
          <a:xfrm>
            <a:off x="4937760" y="731520"/>
            <a:ext cx="3657600" cy="457200"/>
          </a:xfrm>
          <a:prstGeom prst="rect">
            <a:avLst/>
          </a:prstGeom>
          <a:noFill/>
          <a:ln/>
        </p:spPr>
        <p:txBody>
          <a:bodyPr wrap="square" rtlCol="0" anchor="ctr"/>
          <a:lstStyle/>
          <a:p>
            <a:pPr indent="0" marL="0">
              <a:buNone/>
            </a:pPr>
            <a:r>
              <a:rPr lang="en-US" sz="2200" b="1" dirty="0">
                <a:solidFill>
                  <a:srgbClr val="222222"/>
                </a:solidFill>
                <a:latin typeface="Montserrat" pitchFamily="34" charset="0"/>
                <a:ea typeface="Montserrat" pitchFamily="34" charset="-122"/>
                <a:cs typeface="Montserrat" pitchFamily="34" charset="-120"/>
              </a:rPr>
              <a:t>Content Title</a:t>
            </a:r>
            <a:endParaRPr lang="en-US" sz="2200" dirty="0"/>
          </a:p>
        </p:txBody>
      </p:sp>
      <p:sp>
        <p:nvSpPr>
          <p:cNvPr id="4" name="Shape 1"/>
          <p:cNvSpPr/>
          <p:nvPr/>
        </p:nvSpPr>
        <p:spPr>
          <a:xfrm>
            <a:off x="4937760" y="1280160"/>
            <a:ext cx="731520" cy="36576"/>
          </a:xfrm>
          <a:prstGeom prst="rect">
            <a:avLst/>
          </a:prstGeom>
          <a:solidFill>
            <a:srgbClr val="FF7F66"/>
          </a:solidFill>
          <a:ln w="12700">
            <a:solidFill>
              <a:srgbClr val="333333"/>
            </a:solidFill>
            <a:prstDash val="solid"/>
          </a:ln>
        </p:spPr>
      </p:sp>
      <p:sp>
        <p:nvSpPr>
          <p:cNvPr id="5" name="Text 2"/>
          <p:cNvSpPr/>
          <p:nvPr/>
        </p:nvSpPr>
        <p:spPr>
          <a:xfrm>
            <a:off x="4937760" y="1463040"/>
            <a:ext cx="3657600" cy="2286000"/>
          </a:xfrm>
          <a:prstGeom prst="rect">
            <a:avLst/>
          </a:prstGeom>
          <a:noFill/>
          <a:ln/>
        </p:spPr>
        <p:txBody>
          <a:bodyPr wrap="square" rtlCol="0" anchor="t"/>
          <a:lstStyle/>
          <a:p>
            <a:pPr indent="0" marL="0">
              <a:lnSpc>
                <a:spcPct val="150000"/>
              </a:lnSpc>
              <a:buNone/>
            </a:pPr>
            <a:r>
              <a:rPr lang="en-US" sz="1200" dirty="0">
                <a:solidFill>
                  <a:srgbClr val="807F83"/>
                </a:solidFill>
                <a:latin typeface="Montserrat" pitchFamily="34" charset="0"/>
                <a:ea typeface="Montserrat" pitchFamily="34" charset="-122"/>
                <a:cs typeface="Montserrat" pitchFamily="34" charset="-120"/>
              </a:rPr>
              <a:t>Supporting text goes here. This layout pairs a strong visual with your key message, creating an engaging slide for storytelling.</a:t>
            </a:r>
            <a:endParaRPr lang="en-US" sz="1200" dirty="0"/>
          </a:p>
        </p:txBody>
      </p:sp>
      <p:pic>
        <p:nvPicPr>
          <p:cNvPr id="6" name="Image 1" descr="/Users/williammasquelier/Repositories/stromy-org/Cowork/workspace/duke-strategies/brand/output/brand/logos/DukeStrategies_logo_grey.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8640" y="4796028"/>
            <a:ext cx="822960" cy="20116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731520"/>
            <a:ext cx="3840480" cy="457200"/>
          </a:xfrm>
          <a:prstGeom prst="rect">
            <a:avLst/>
          </a:prstGeom>
          <a:noFill/>
          <a:ln/>
        </p:spPr>
        <p:txBody>
          <a:bodyPr wrap="square" rtlCol="0" anchor="ctr"/>
          <a:lstStyle/>
          <a:p>
            <a:pPr indent="0" marL="0">
              <a:buNone/>
            </a:pPr>
            <a:r>
              <a:rPr lang="en-US" sz="2200" b="1" dirty="0">
                <a:solidFill>
                  <a:srgbClr val="222222"/>
                </a:solidFill>
                <a:latin typeface="Montserrat" pitchFamily="34" charset="0"/>
                <a:ea typeface="Montserrat" pitchFamily="34" charset="-122"/>
                <a:cs typeface="Montserrat" pitchFamily="34" charset="-120"/>
              </a:rPr>
              <a:t>Content Title</a:t>
            </a:r>
            <a:endParaRPr lang="en-US" sz="2200" dirty="0"/>
          </a:p>
        </p:txBody>
      </p:sp>
      <p:sp>
        <p:nvSpPr>
          <p:cNvPr id="3" name="Shape 1"/>
          <p:cNvSpPr/>
          <p:nvPr/>
        </p:nvSpPr>
        <p:spPr>
          <a:xfrm>
            <a:off x="548640" y="1280160"/>
            <a:ext cx="731520" cy="36576"/>
          </a:xfrm>
          <a:prstGeom prst="rect">
            <a:avLst/>
          </a:prstGeom>
          <a:solidFill>
            <a:srgbClr val="FF7F66"/>
          </a:solidFill>
          <a:ln w="12700">
            <a:solidFill>
              <a:srgbClr val="333333"/>
            </a:solidFill>
            <a:prstDash val="solid"/>
          </a:ln>
        </p:spPr>
      </p:sp>
      <p:sp>
        <p:nvSpPr>
          <p:cNvPr id="4" name="Text 2"/>
          <p:cNvSpPr/>
          <p:nvPr/>
        </p:nvSpPr>
        <p:spPr>
          <a:xfrm>
            <a:off x="548640" y="1463040"/>
            <a:ext cx="3840480" cy="2286000"/>
          </a:xfrm>
          <a:prstGeom prst="rect">
            <a:avLst/>
          </a:prstGeom>
          <a:noFill/>
          <a:ln/>
        </p:spPr>
        <p:txBody>
          <a:bodyPr wrap="square" rtlCol="0" anchor="t"/>
          <a:lstStyle/>
          <a:p>
            <a:pPr indent="0" marL="0">
              <a:lnSpc>
                <a:spcPct val="150000"/>
              </a:lnSpc>
              <a:buNone/>
            </a:pPr>
            <a:r>
              <a:rPr lang="en-US" sz="1200" dirty="0">
                <a:solidFill>
                  <a:srgbClr val="807F83"/>
                </a:solidFill>
                <a:latin typeface="Montserrat" pitchFamily="34" charset="0"/>
                <a:ea typeface="Montserrat" pitchFamily="34" charset="-122"/>
                <a:cs typeface="Montserrat" pitchFamily="34" charset="-120"/>
              </a:rPr>
              <a:t>This reversed layout places your text on the left with the image on the right. Alternate between left and right image layouts for visual variety.</a:t>
            </a:r>
            <a:endParaRPr lang="en-US" sz="1200" dirty="0"/>
          </a:p>
        </p:txBody>
      </p:sp>
      <p:pic>
        <p:nvPicPr>
          <p:cNvPr id="5" name="Image 0" descr="/Users/williammasquelier/Repositories/stromy-org/Cowork/workspace/duke-strategies/brand/output/brand/assets/images/slides/cable-bridge-dark-sky-dramatic-16x9.jpg">    </p:cNvPr>
          <p:cNvPicPr>
            <a:picLocks noChangeAspect="1"/>
          </p:cNvPicPr>
          <p:nvPr/>
        </p:nvPicPr>
        <p:blipFill>
          <a:blip r:embed="rId1"/>
          <a:stretch>
            <a:fillRect/>
          </a:stretch>
        </p:blipFill>
        <p:spPr>
          <a:xfrm>
            <a:off x="4572000" y="0"/>
            <a:ext cx="4572000" cy="5143500"/>
          </a:xfrm>
          <a:prstGeom prst="rect">
            <a:avLst/>
          </a:prstGeom>
        </p:spPr>
      </p:pic>
      <p:pic>
        <p:nvPicPr>
          <p:cNvPr id="6" name="Image 1" descr="/Users/williammasquelier/Repositories/stromy-org/Cowork/workspace/duke-strategies/brand/output/brand/logos/DukeStrategies_logo_grey.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8640" y="4796028"/>
            <a:ext cx="822960" cy="20116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731520" cy="36576"/>
          </a:xfrm>
          <a:prstGeom prst="rect">
            <a:avLst/>
          </a:prstGeom>
          <a:solidFill>
            <a:srgbClr val="FF7F66"/>
          </a:solidFill>
          <a:ln w="12700">
            <a:solidFill>
              <a:srgbClr val="333333"/>
            </a:solidFill>
            <a:prstDash val="solid"/>
          </a:ln>
        </p:spPr>
      </p:sp>
      <p:sp>
        <p:nvSpPr>
          <p:cNvPr id="3" name="Text 1"/>
          <p:cNvSpPr/>
          <p:nvPr/>
        </p:nvSpPr>
        <p:spPr>
          <a:xfrm>
            <a:off x="548640" y="411480"/>
            <a:ext cx="8046720" cy="457200"/>
          </a:xfrm>
          <a:prstGeom prst="rect">
            <a:avLst/>
          </a:prstGeom>
          <a:noFill/>
          <a:ln/>
        </p:spPr>
        <p:txBody>
          <a:bodyPr wrap="square" rtlCol="0" anchor="ctr"/>
          <a:lstStyle/>
          <a:p>
            <a:pPr indent="0" marL="0">
              <a:buNone/>
            </a:pPr>
            <a:r>
              <a:rPr lang="en-US" sz="2200" b="1" dirty="0">
                <a:solidFill>
                  <a:srgbClr val="222222"/>
                </a:solidFill>
                <a:latin typeface="Montserrat" pitchFamily="34" charset="0"/>
                <a:ea typeface="Montserrat" pitchFamily="34" charset="-122"/>
                <a:cs typeface="Montserrat" pitchFamily="34" charset="-120"/>
              </a:rPr>
              <a:t>Visual Comparison</a:t>
            </a:r>
            <a:endParaRPr lang="en-US" sz="2200" dirty="0"/>
          </a:p>
        </p:txBody>
      </p:sp>
      <p:pic>
        <p:nvPicPr>
          <p:cNvPr id="4" name="Image 0" descr="/Users/williammasquelier/Repositories/stromy-org/Cowork/workspace/duke-strategies/brand/output/brand/assets/images/slides/Erasmusbrug_zwart-16x9.jpg">    </p:cNvPr>
          <p:cNvPicPr>
            <a:picLocks noChangeAspect="1"/>
          </p:cNvPicPr>
          <p:nvPr/>
        </p:nvPicPr>
        <p:blipFill>
          <a:blip r:embed="rId1"/>
          <a:stretch>
            <a:fillRect/>
          </a:stretch>
        </p:blipFill>
        <p:spPr>
          <a:xfrm>
            <a:off x="548640" y="1005840"/>
            <a:ext cx="3886200" cy="3200400"/>
          </a:xfrm>
          <a:prstGeom prst="rect">
            <a:avLst/>
          </a:prstGeom>
        </p:spPr>
      </p:pic>
      <p:pic>
        <p:nvPicPr>
          <p:cNvPr id="5" name="Image 1" descr="/Users/williammasquelier/Repositories/stromy-org/Cowork/workspace/duke-strategies/brand/output/brand/assets/images/slides/modern-bridge-bw-dramatic-16x9.jpg">    </p:cNvPr>
          <p:cNvPicPr>
            <a:picLocks noChangeAspect="1"/>
          </p:cNvPicPr>
          <p:nvPr/>
        </p:nvPicPr>
        <p:blipFill>
          <a:blip r:embed="rId2"/>
          <a:stretch>
            <a:fillRect/>
          </a:stretch>
        </p:blipFill>
        <p:spPr>
          <a:xfrm>
            <a:off x="4709160" y="1005840"/>
            <a:ext cx="3886200" cy="3200400"/>
          </a:xfrm>
          <a:prstGeom prst="rect">
            <a:avLst/>
          </a:prstGeom>
        </p:spPr>
      </p:pic>
      <p:sp>
        <p:nvSpPr>
          <p:cNvPr id="6" name="Text 2"/>
          <p:cNvSpPr/>
          <p:nvPr/>
        </p:nvSpPr>
        <p:spPr>
          <a:xfrm>
            <a:off x="548640" y="4297680"/>
            <a:ext cx="3886200" cy="274320"/>
          </a:xfrm>
          <a:prstGeom prst="rect">
            <a:avLst/>
          </a:prstGeom>
          <a:noFill/>
          <a:ln/>
        </p:spPr>
        <p:txBody>
          <a:bodyPr wrap="square" rtlCol="0" anchor="ctr"/>
          <a:lstStyle/>
          <a:p>
            <a:pPr algn="ctr" indent="0" marL="0">
              <a:buNone/>
            </a:pPr>
            <a:r>
              <a:rPr lang="en-US" sz="900" dirty="0">
                <a:solidFill>
                  <a:srgbClr val="807F83"/>
                </a:solidFill>
                <a:latin typeface="Montserrat" pitchFamily="34" charset="0"/>
                <a:ea typeface="Montserrat" pitchFamily="34" charset="-122"/>
                <a:cs typeface="Montserrat" pitchFamily="34" charset="-120"/>
              </a:rPr>
              <a:t>Caption One</a:t>
            </a:r>
            <a:endParaRPr lang="en-US" sz="900" dirty="0"/>
          </a:p>
        </p:txBody>
      </p:sp>
      <p:sp>
        <p:nvSpPr>
          <p:cNvPr id="7" name="Text 3"/>
          <p:cNvSpPr/>
          <p:nvPr/>
        </p:nvSpPr>
        <p:spPr>
          <a:xfrm>
            <a:off x="4709160" y="4297680"/>
            <a:ext cx="3886200" cy="274320"/>
          </a:xfrm>
          <a:prstGeom prst="rect">
            <a:avLst/>
          </a:prstGeom>
          <a:noFill/>
          <a:ln/>
        </p:spPr>
        <p:txBody>
          <a:bodyPr wrap="square" rtlCol="0" anchor="ctr"/>
          <a:lstStyle/>
          <a:p>
            <a:pPr algn="ctr" indent="0" marL="0">
              <a:buNone/>
            </a:pPr>
            <a:r>
              <a:rPr lang="en-US" sz="900" dirty="0">
                <a:solidFill>
                  <a:srgbClr val="807F83"/>
                </a:solidFill>
                <a:latin typeface="Montserrat" pitchFamily="34" charset="0"/>
                <a:ea typeface="Montserrat" pitchFamily="34" charset="-122"/>
                <a:cs typeface="Montserrat" pitchFamily="34" charset="-120"/>
              </a:rPr>
              <a:t>Caption Two</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20040"/>
            <a:ext cx="731520" cy="36576"/>
          </a:xfrm>
          <a:prstGeom prst="rect">
            <a:avLst/>
          </a:prstGeom>
          <a:solidFill>
            <a:srgbClr val="FF7F66"/>
          </a:solidFill>
          <a:ln w="12700">
            <a:solidFill>
              <a:srgbClr val="333333"/>
            </a:solidFill>
            <a:prstDash val="solid"/>
          </a:ln>
        </p:spPr>
      </p:sp>
      <p:sp>
        <p:nvSpPr>
          <p:cNvPr id="3" name="Text 1"/>
          <p:cNvSpPr/>
          <p:nvPr/>
        </p:nvSpPr>
        <p:spPr>
          <a:xfrm>
            <a:off x="548640" y="411480"/>
            <a:ext cx="8046720" cy="457200"/>
          </a:xfrm>
          <a:prstGeom prst="rect">
            <a:avLst/>
          </a:prstGeom>
          <a:noFill/>
          <a:ln/>
        </p:spPr>
        <p:txBody>
          <a:bodyPr wrap="square" rtlCol="0" anchor="ctr"/>
          <a:lstStyle/>
          <a:p>
            <a:pPr indent="0" marL="0">
              <a:buNone/>
            </a:pPr>
            <a:r>
              <a:rPr lang="en-US" sz="2200" b="1" dirty="0">
                <a:solidFill>
                  <a:srgbClr val="222222"/>
                </a:solidFill>
                <a:latin typeface="Montserrat" pitchFamily="34" charset="0"/>
                <a:ea typeface="Montserrat" pitchFamily="34" charset="-122"/>
                <a:cs typeface="Montserrat" pitchFamily="34" charset="-120"/>
              </a:rPr>
              <a:t>Image Gallery</a:t>
            </a:r>
            <a:endParaRPr lang="en-US" sz="2200" dirty="0"/>
          </a:p>
        </p:txBody>
      </p:sp>
      <p:pic>
        <p:nvPicPr>
          <p:cNvPr id="4" name="Image 0" descr="/Users/williammasquelier/Repositories/stromy-org/Cowork/workspace/duke-strategies/brand/output/brand/assets/images/slides/cable-bridge-dark-sky-dramatic-16x9.jpg">    </p:cNvPr>
          <p:cNvPicPr>
            <a:picLocks noChangeAspect="1"/>
          </p:cNvPicPr>
          <p:nvPr/>
        </p:nvPicPr>
        <p:blipFill>
          <a:blip r:embed="rId1"/>
          <a:stretch>
            <a:fillRect/>
          </a:stretch>
        </p:blipFill>
        <p:spPr>
          <a:xfrm>
            <a:off x="548640" y="1005840"/>
            <a:ext cx="3931920" cy="1691640"/>
          </a:xfrm>
          <a:prstGeom prst="rect">
            <a:avLst/>
          </a:prstGeom>
        </p:spPr>
      </p:pic>
      <p:pic>
        <p:nvPicPr>
          <p:cNvPr id="5" name="Image 1" descr="/Users/williammasquelier/Repositories/stromy-org/Cowork/workspace/duke-strategies/brand/output/brand/assets/images/slides/Erasmusbrug_zwart-16x9.jpg">    </p:cNvPr>
          <p:cNvPicPr>
            <a:picLocks noChangeAspect="1"/>
          </p:cNvPicPr>
          <p:nvPr/>
        </p:nvPicPr>
        <p:blipFill>
          <a:blip r:embed="rId2"/>
          <a:stretch>
            <a:fillRect/>
          </a:stretch>
        </p:blipFill>
        <p:spPr>
          <a:xfrm>
            <a:off x="4663440" y="1005840"/>
            <a:ext cx="3931920" cy="1691640"/>
          </a:xfrm>
          <a:prstGeom prst="rect">
            <a:avLst/>
          </a:prstGeom>
        </p:spPr>
      </p:pic>
      <p:pic>
        <p:nvPicPr>
          <p:cNvPr id="6" name="Image 2" descr="/Users/williammasquelier/Repositories/stromy-org/Cowork/workspace/duke-strategies/brand/output/brand/assets/images/slides/brooklyn-bridge-bw-16x9.jpg">    </p:cNvPr>
          <p:cNvPicPr>
            <a:picLocks noChangeAspect="1"/>
          </p:cNvPicPr>
          <p:nvPr/>
        </p:nvPicPr>
        <p:blipFill>
          <a:blip r:embed="rId3"/>
          <a:stretch>
            <a:fillRect/>
          </a:stretch>
        </p:blipFill>
        <p:spPr>
          <a:xfrm>
            <a:off x="548640" y="2834640"/>
            <a:ext cx="3931920" cy="1691640"/>
          </a:xfrm>
          <a:prstGeom prst="rect">
            <a:avLst/>
          </a:prstGeom>
        </p:spPr>
      </p:pic>
      <p:pic>
        <p:nvPicPr>
          <p:cNvPr id="7" name="Image 3" descr="/Users/williammasquelier/Repositories/stromy-org/Cowork/workspace/duke-strategies/brand/output/brand/assets/images/slides/cable-stayed-bridge-night-illuminated-16x9.jpg">    </p:cNvPr>
          <p:cNvPicPr>
            <a:picLocks noChangeAspect="1"/>
          </p:cNvPicPr>
          <p:nvPr/>
        </p:nvPicPr>
        <p:blipFill>
          <a:blip r:embed="rId4"/>
          <a:stretch>
            <a:fillRect/>
          </a:stretch>
        </p:blipFill>
        <p:spPr>
          <a:xfrm>
            <a:off x="4663440" y="2834640"/>
            <a:ext cx="3931920" cy="169164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22222">
              <a:alpha val="55000"/>
            </a:srgbClr>
          </a:solidFill>
          <a:ln w="12700">
            <a:solidFill>
              <a:srgbClr val="333333"/>
            </a:solidFill>
            <a:prstDash val="solid"/>
          </a:ln>
        </p:spPr>
      </p:sp>
      <p:sp>
        <p:nvSpPr>
          <p:cNvPr id="3" name="Shape 1"/>
          <p:cNvSpPr/>
          <p:nvPr/>
        </p:nvSpPr>
        <p:spPr>
          <a:xfrm>
            <a:off x="0" y="5052060"/>
            <a:ext cx="9144000" cy="91440"/>
          </a:xfrm>
          <a:prstGeom prst="rect">
            <a:avLst/>
          </a:prstGeom>
          <a:solidFill>
            <a:srgbClr val="FF7F66"/>
          </a:solidFill>
          <a:ln w="12700">
            <a:solidFill>
              <a:srgbClr val="333333"/>
            </a:solidFill>
            <a:prstDash val="solid"/>
          </a:ln>
        </p:spPr>
      </p:sp>
      <p:sp>
        <p:nvSpPr>
          <p:cNvPr id="4" name="Text 2"/>
          <p:cNvSpPr/>
          <p:nvPr/>
        </p:nvSpPr>
        <p:spPr>
          <a:xfrm>
            <a:off x="548640" y="914400"/>
            <a:ext cx="8046720" cy="1828800"/>
          </a:xfrm>
          <a:prstGeom prst="rect">
            <a:avLst/>
          </a:prstGeom>
          <a:noFill/>
          <a:ln/>
        </p:spPr>
        <p:txBody>
          <a:bodyPr wrap="square" rtlCol="0" anchor="ctr"/>
          <a:lstStyle/>
          <a:p>
            <a:pPr indent="0" marL="0">
              <a:lnSpc>
                <a:spcPct val="130000"/>
              </a:lnSpc>
              <a:buNone/>
            </a:pPr>
            <a:r>
              <a:rPr lang="en-US" sz="3600" b="1" dirty="0">
                <a:solidFill>
                  <a:srgbClr val="FFFFFF"/>
                </a:solidFill>
                <a:latin typeface="Montserrat" pitchFamily="34" charset="0"/>
                <a:ea typeface="Montserrat" pitchFamily="34" charset="-122"/>
                <a:cs typeface="Montserrat" pitchFamily="34" charset="-120"/>
              </a:rPr>
              <a:t>Building Bridges</a:t>
            </a:r>
            <a:endParaRPr lang="en-US" sz="3600" dirty="0"/>
          </a:p>
          <a:p>
            <a:pPr indent="0" marL="0">
              <a:lnSpc>
                <a:spcPct val="130000"/>
              </a:lnSpc>
              <a:buNone/>
            </a:pPr>
            <a:r>
              <a:rPr lang="en-US" sz="3600" b="1" dirty="0">
                <a:solidFill>
                  <a:srgbClr val="FFFFFF"/>
                </a:solidFill>
                <a:latin typeface="Montserrat" pitchFamily="34" charset="0"/>
                <a:ea typeface="Montserrat" pitchFamily="34" charset="-122"/>
                <a:cs typeface="Montserrat" pitchFamily="34" charset="-120"/>
              </a:rPr>
              <a:t>Between Ideas</a:t>
            </a:r>
            <a:endParaRPr lang="en-US" sz="3600" dirty="0"/>
          </a:p>
        </p:txBody>
      </p:sp>
      <p:sp>
        <p:nvSpPr>
          <p:cNvPr id="5" name="Text 3"/>
          <p:cNvSpPr/>
          <p:nvPr/>
        </p:nvSpPr>
        <p:spPr>
          <a:xfrm>
            <a:off x="548640" y="2926080"/>
            <a:ext cx="5486400" cy="914400"/>
          </a:xfrm>
          <a:prstGeom prst="rect">
            <a:avLst/>
          </a:prstGeom>
          <a:noFill/>
          <a:ln/>
        </p:spPr>
        <p:txBody>
          <a:bodyPr wrap="square" rtlCol="0" anchor="ctr"/>
          <a:lstStyle/>
          <a:p>
            <a:pPr indent="0" marL="0">
              <a:lnSpc>
                <a:spcPct val="140000"/>
              </a:lnSpc>
              <a:buNone/>
            </a:pPr>
            <a:r>
              <a:rPr lang="en-US" sz="1300" dirty="0">
                <a:solidFill>
                  <a:srgbClr val="DFDFE0"/>
                </a:solidFill>
                <a:latin typeface="Montserrat" pitchFamily="34" charset="0"/>
                <a:ea typeface="Montserrat" pitchFamily="34" charset="-122"/>
                <a:cs typeface="Montserrat" pitchFamily="34" charset="-120"/>
              </a:rPr>
              <a:t>Strategic communications that connect organizations with their audiences and drive measurable results.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8640"/>
            <a:ext cx="2926080" cy="3840480"/>
          </a:xfrm>
          <a:prstGeom prst="roundRect">
            <a:avLst>
              <a:gd name="adj" fmla="val 3125"/>
            </a:avLst>
          </a:prstGeom>
          <a:solidFill>
            <a:srgbClr val="F5F5F5"/>
          </a:solidFill>
          <a:ln w="12700">
            <a:solidFill>
              <a:srgbClr val="333333"/>
            </a:solidFill>
            <a:prstDash val="solid"/>
          </a:ln>
        </p:spPr>
      </p:sp>
      <p:sp>
        <p:nvSpPr>
          <p:cNvPr id="3" name="Text 1"/>
          <p:cNvSpPr/>
          <p:nvPr/>
        </p:nvSpPr>
        <p:spPr>
          <a:xfrm>
            <a:off x="548640" y="1828800"/>
            <a:ext cx="2926080" cy="457200"/>
          </a:xfrm>
          <a:prstGeom prst="rect">
            <a:avLst/>
          </a:prstGeom>
          <a:noFill/>
          <a:ln/>
        </p:spPr>
        <p:txBody>
          <a:bodyPr wrap="square" rtlCol="0" anchor="ctr"/>
          <a:lstStyle/>
          <a:p>
            <a:pPr algn="ctr" indent="0" marL="0">
              <a:buNone/>
            </a:pPr>
            <a:r>
              <a:rPr lang="en-US" sz="1400" dirty="0">
                <a:solidFill>
                  <a:srgbClr val="DFDFE0"/>
                </a:solidFill>
                <a:latin typeface="Montserrat" pitchFamily="34" charset="0"/>
                <a:ea typeface="Montserrat" pitchFamily="34" charset="-122"/>
                <a:cs typeface="Montserrat" pitchFamily="34" charset="-120"/>
              </a:rPr>
              <a:t>[Photo]</a:t>
            </a:r>
            <a:endParaRPr lang="en-US" sz="1400" dirty="0"/>
          </a:p>
        </p:txBody>
      </p:sp>
      <p:sp>
        <p:nvSpPr>
          <p:cNvPr id="4" name="Text 2"/>
          <p:cNvSpPr/>
          <p:nvPr/>
        </p:nvSpPr>
        <p:spPr>
          <a:xfrm>
            <a:off x="3840480" y="731520"/>
            <a:ext cx="4754880" cy="457200"/>
          </a:xfrm>
          <a:prstGeom prst="rect">
            <a:avLst/>
          </a:prstGeom>
          <a:noFill/>
          <a:ln/>
        </p:spPr>
        <p:txBody>
          <a:bodyPr wrap="square" rtlCol="0" anchor="ctr"/>
          <a:lstStyle/>
          <a:p>
            <a:pPr indent="0" marL="0">
              <a:buNone/>
            </a:pPr>
            <a:r>
              <a:rPr lang="en-US" sz="2400" b="1" dirty="0">
                <a:solidFill>
                  <a:srgbClr val="222222"/>
                </a:solidFill>
                <a:latin typeface="Montserrat" pitchFamily="34" charset="0"/>
                <a:ea typeface="Montserrat" pitchFamily="34" charset="-122"/>
                <a:cs typeface="Montserrat" pitchFamily="34" charset="-120"/>
              </a:rPr>
              <a:t>Jane Smith</a:t>
            </a:r>
            <a:endParaRPr lang="en-US" sz="2400" dirty="0"/>
          </a:p>
        </p:txBody>
      </p:sp>
      <p:sp>
        <p:nvSpPr>
          <p:cNvPr id="5" name="Text 3"/>
          <p:cNvSpPr/>
          <p:nvPr/>
        </p:nvSpPr>
        <p:spPr>
          <a:xfrm>
            <a:off x="3840480" y="1234440"/>
            <a:ext cx="4754880" cy="320040"/>
          </a:xfrm>
          <a:prstGeom prst="rect">
            <a:avLst/>
          </a:prstGeom>
          <a:noFill/>
          <a:ln/>
        </p:spPr>
        <p:txBody>
          <a:bodyPr wrap="square" rtlCol="0" anchor="ctr"/>
          <a:lstStyle/>
          <a:p>
            <a:pPr indent="0" marL="0">
              <a:buNone/>
            </a:pPr>
            <a:r>
              <a:rPr lang="en-US" sz="1400" dirty="0">
                <a:solidFill>
                  <a:srgbClr val="FF7F66"/>
                </a:solidFill>
                <a:latin typeface="Montserrat" pitchFamily="34" charset="0"/>
                <a:ea typeface="Montserrat" pitchFamily="34" charset="-122"/>
                <a:cs typeface="Montserrat" pitchFamily="34" charset="-120"/>
              </a:rPr>
              <a:t>Managing Director</a:t>
            </a:r>
            <a:endParaRPr lang="en-US" sz="1400" dirty="0"/>
          </a:p>
        </p:txBody>
      </p:sp>
      <p:sp>
        <p:nvSpPr>
          <p:cNvPr id="6" name="Shape 4"/>
          <p:cNvSpPr/>
          <p:nvPr/>
        </p:nvSpPr>
        <p:spPr>
          <a:xfrm>
            <a:off x="3840480" y="1691640"/>
            <a:ext cx="731520" cy="36576"/>
          </a:xfrm>
          <a:prstGeom prst="rect">
            <a:avLst/>
          </a:prstGeom>
          <a:solidFill>
            <a:srgbClr val="FF7F66"/>
          </a:solidFill>
          <a:ln w="12700">
            <a:solidFill>
              <a:srgbClr val="333333"/>
            </a:solidFill>
            <a:prstDash val="solid"/>
          </a:ln>
        </p:spPr>
      </p:sp>
      <p:sp>
        <p:nvSpPr>
          <p:cNvPr id="7" name="Text 5"/>
          <p:cNvSpPr/>
          <p:nvPr/>
        </p:nvSpPr>
        <p:spPr>
          <a:xfrm>
            <a:off x="3840480" y="1920240"/>
            <a:ext cx="4754880" cy="2560320"/>
          </a:xfrm>
          <a:prstGeom prst="rect">
            <a:avLst/>
          </a:prstGeom>
          <a:noFill/>
          <a:ln/>
        </p:spPr>
        <p:txBody>
          <a:bodyPr wrap="square" rtlCol="0" anchor="t"/>
          <a:lstStyle/>
          <a:p>
            <a:pPr indent="0" marL="0">
              <a:lnSpc>
                <a:spcPct val="150000"/>
              </a:lnSpc>
              <a:buNone/>
            </a:pPr>
            <a:r>
              <a:rPr lang="en-US" sz="1100" dirty="0">
                <a:solidFill>
                  <a:srgbClr val="807F83"/>
                </a:solidFill>
                <a:latin typeface="Montserrat" pitchFamily="34" charset="0"/>
                <a:ea typeface="Montserrat" pitchFamily="34" charset="-122"/>
                <a:cs typeface="Montserrat" pitchFamily="34" charset="-120"/>
              </a:rPr>
              <a:t>Jane brings over 15 years of experience in strategic communications, having led major campaigns for government and corporate clients across Australia and the Asia-Pacific region.</a:t>
            </a:r>
            <a:endParaRPr lang="en-US" sz="1100" dirty="0"/>
          </a:p>
          <a:p>
            <a:pPr indent="0" marL="0">
              <a:lnSpc>
                <a:spcPct val="150000"/>
              </a:lnSpc>
              <a:buNone/>
            </a:pPr>
            <a:endParaRPr lang="en-US" sz="1100" dirty="0"/>
          </a:p>
          <a:p>
            <a:pPr indent="0" marL="0">
              <a:lnSpc>
                <a:spcPct val="150000"/>
              </a:lnSpc>
              <a:buNone/>
            </a:pPr>
            <a:r>
              <a:rPr lang="en-US" sz="1100" dirty="0">
                <a:solidFill>
                  <a:srgbClr val="807F83"/>
                </a:solidFill>
                <a:latin typeface="Montserrat" pitchFamily="34" charset="0"/>
                <a:ea typeface="Montserrat" pitchFamily="34" charset="-122"/>
                <a:cs typeface="Montserrat" pitchFamily="34" charset="-120"/>
              </a:rPr>
              <a:t>Her expertise spans public affairs, crisis communications, and stakeholder engagement. She holds an MBA from the University of Melbourne.</a:t>
            </a:r>
            <a:endParaRPr lang="en-US" sz="1100" dirty="0"/>
          </a:p>
        </p:txBody>
      </p:sp>
      <p:pic>
        <p:nvPicPr>
          <p:cNvPr id="8" name="Image 0" descr="/Users/williammasquelier/Repositories/stromy-org/Cowork/workspace/duke-strategies/brand/output/brand/logos/DukeStrategies_logo_gre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796028"/>
            <a:ext cx="822960" cy="20116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7F66"/>
        </a:solidFill>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22222"/>
        </a:solidFill>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22222">
              <a:alpha val="55000"/>
            </a:srgbClr>
          </a:solidFill>
          <a:ln w="12700">
            <a:solidFill>
              <a:srgbClr val="333333"/>
            </a:solidFill>
            <a:prstDash val="solid"/>
          </a:ln>
        </p:spPr>
      </p:sp>
      <p:sp>
        <p:nvSpPr>
          <p:cNvPr id="3" name="Shape 1"/>
          <p:cNvSpPr/>
          <p:nvPr/>
        </p:nvSpPr>
        <p:spPr>
          <a:xfrm>
            <a:off x="0" y="2548890"/>
            <a:ext cx="9144000" cy="45720"/>
          </a:xfrm>
          <a:prstGeom prst="rect">
            <a:avLst/>
          </a:prstGeom>
          <a:solidFill>
            <a:srgbClr val="FF7F66"/>
          </a:solidFill>
          <a:ln w="12700">
            <a:solidFill>
              <a:srgbClr val="333333"/>
            </a:solidFill>
            <a:prstDash val="solid"/>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pic>
        <p:nvPicPr>
          <p:cNvPr id="2" name="Image 0" descr="/Users/williammasquelier/Repositories/stromy-org/Cowork/workspace/duke-strategies/brand/output/brand/logos/DukeStrategies_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200400" y="2228850"/>
            <a:ext cx="2743200" cy="6858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222222"/>
        </a:solidFill>
      </p:bgPr>
    </p:bg>
    <p:spTree>
      <p:nvGrpSpPr>
        <p:cNvPr id="1" name=""/>
        <p:cNvGrpSpPr/>
        <p:nvPr/>
      </p:nvGrpSpPr>
      <p:grpSpPr>
        <a:xfrm>
          <a:off x="0" y="0"/>
          <a:ext cx="0" cy="0"/>
          <a:chOff x="0" y="0"/>
          <a:chExt cx="0" cy="0"/>
        </a:xfrm>
      </p:grpSpPr>
      <p:pic>
        <p:nvPicPr>
          <p:cNvPr id="2" name="Image 0" descr="/Users/williammasquelier/Repositories/stromy-org/Cowork/workspace/duke-strategies/brand/output/brand/logos/DukeStrategies_logo_white.png">    </p:cNvPr>
          <p:cNvPicPr>
            <a:picLocks noChangeAspect="1"/>
          </p:cNvPicPr>
          <p:nvPr/>
        </p:nvPicPr>
        <p:blipFill>
          <a:blip r:embed="rId1"/>
          <a:stretch>
            <a:fillRect/>
          </a:stretch>
        </p:blipFill>
        <p:spPr>
          <a:xfrm>
            <a:off x="3200400" y="2228850"/>
            <a:ext cx="2743200" cy="6858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7F66"/>
        </a:solidFill>
      </p:bgPr>
    </p:bg>
    <p:spTree>
      <p:nvGrpSpPr>
        <p:cNvPr id="1" name=""/>
        <p:cNvGrpSpPr/>
        <p:nvPr/>
      </p:nvGrpSpPr>
      <p:grpSpPr>
        <a:xfrm>
          <a:off x="0" y="0"/>
          <a:ext cx="0" cy="0"/>
          <a:chOff x="0" y="0"/>
          <a:chExt cx="0" cy="0"/>
        </a:xfrm>
      </p:grpSpPr>
      <p:sp>
        <p:nvSpPr>
          <p:cNvPr id="2" name="Text 0"/>
          <p:cNvSpPr/>
          <p:nvPr/>
        </p:nvSpPr>
        <p:spPr>
          <a:xfrm>
            <a:off x="914400" y="731520"/>
            <a:ext cx="7315200" cy="2286000"/>
          </a:xfrm>
          <a:prstGeom prst="rect">
            <a:avLst/>
          </a:prstGeom>
          <a:noFill/>
          <a:ln/>
        </p:spPr>
        <p:txBody>
          <a:bodyPr wrap="square" rtlCol="0" anchor="ctr"/>
          <a:lstStyle/>
          <a:p>
            <a:pPr algn="ctr" indent="0" marL="0">
              <a:lnSpc>
                <a:spcPct val="130000"/>
              </a:lnSpc>
              <a:buNone/>
            </a:pPr>
            <a:r>
              <a:rPr lang="en-US" sz="3600" b="1" dirty="0">
                <a:solidFill>
                  <a:srgbClr val="FFFFFF"/>
                </a:solidFill>
                <a:latin typeface="Montserrat" pitchFamily="34" charset="0"/>
                <a:ea typeface="Montserrat" pitchFamily="34" charset="-122"/>
                <a:cs typeface="Montserrat" pitchFamily="34" charset="-120"/>
              </a:rPr>
              <a:t>The one thing</a:t>
            </a:r>
            <a:endParaRPr lang="en-US" sz="3600" dirty="0"/>
          </a:p>
          <a:p>
            <a:pPr algn="ctr" indent="0" marL="0">
              <a:lnSpc>
                <a:spcPct val="130000"/>
              </a:lnSpc>
              <a:buNone/>
            </a:pPr>
            <a:r>
              <a:rPr lang="en-US" sz="3600" b="1" dirty="0">
                <a:solidFill>
                  <a:srgbClr val="FFFFFF"/>
                </a:solidFill>
                <a:latin typeface="Montserrat" pitchFamily="34" charset="0"/>
                <a:ea typeface="Montserrat" pitchFamily="34" charset="-122"/>
                <a:cs typeface="Montserrat" pitchFamily="34" charset="-120"/>
              </a:rPr>
              <a:t>to remember</a:t>
            </a:r>
            <a:endParaRPr lang="en-US" sz="3600" dirty="0"/>
          </a:p>
        </p:txBody>
      </p:sp>
      <p:sp>
        <p:nvSpPr>
          <p:cNvPr id="3" name="Shape 1"/>
          <p:cNvSpPr/>
          <p:nvPr/>
        </p:nvSpPr>
        <p:spPr>
          <a:xfrm>
            <a:off x="3657600" y="3108960"/>
            <a:ext cx="1828800" cy="0"/>
          </a:xfrm>
          <a:prstGeom prst="line">
            <a:avLst/>
          </a:prstGeom>
          <a:noFill/>
          <a:ln w="19050">
            <a:solidFill>
              <a:srgbClr val="FFFFFF"/>
            </a:solidFill>
            <a:prstDash val="solid"/>
          </a:ln>
        </p:spPr>
      </p:sp>
      <p:sp>
        <p:nvSpPr>
          <p:cNvPr id="4" name="Text 2"/>
          <p:cNvSpPr/>
          <p:nvPr/>
        </p:nvSpPr>
        <p:spPr>
          <a:xfrm>
            <a:off x="1371600" y="3291840"/>
            <a:ext cx="6400800" cy="914400"/>
          </a:xfrm>
          <a:prstGeom prst="rect">
            <a:avLst/>
          </a:prstGeom>
          <a:noFill/>
          <a:ln/>
        </p:spPr>
        <p:txBody>
          <a:bodyPr wrap="square" rtlCol="0" anchor="ctr"/>
          <a:lstStyle/>
          <a:p>
            <a:pPr algn="ctr" indent="0" marL="0">
              <a:lnSpc>
                <a:spcPct val="140000"/>
              </a:lnSpc>
              <a:buNone/>
            </a:pPr>
            <a:r>
              <a:rPr lang="en-US" sz="1400" dirty="0">
                <a:solidFill>
                  <a:srgbClr val="FFFFFF">
                    <a:alpha val="85000"/>
                  </a:srgbClr>
                </a:solidFill>
                <a:latin typeface="Montserrat" pitchFamily="34" charset="0"/>
                <a:ea typeface="Montserrat" pitchFamily="34" charset="-122"/>
                <a:cs typeface="Montserrat" pitchFamily="34" charset="-120"/>
              </a:rPr>
              <a:t>Your single most important takeaway message goes here. Make it memorable.</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222222"/>
        </a:solidFill>
      </p:bgPr>
    </p:bg>
    <p:spTree>
      <p:nvGrpSpPr>
        <p:cNvPr id="1" name=""/>
        <p:cNvGrpSpPr/>
        <p:nvPr/>
      </p:nvGrpSpPr>
      <p:grpSpPr>
        <a:xfrm>
          <a:off x="0" y="0"/>
          <a:ext cx="0" cy="0"/>
          <a:chOff x="0" y="0"/>
          <a:chExt cx="0" cy="0"/>
        </a:xfrm>
      </p:grpSpPr>
      <p:sp>
        <p:nvSpPr>
          <p:cNvPr id="2" name="Text 0"/>
          <p:cNvSpPr/>
          <p:nvPr/>
        </p:nvSpPr>
        <p:spPr>
          <a:xfrm>
            <a:off x="914400" y="1097280"/>
            <a:ext cx="7315200" cy="1828800"/>
          </a:xfrm>
          <a:prstGeom prst="rect">
            <a:avLst/>
          </a:prstGeom>
          <a:noFill/>
          <a:ln/>
        </p:spPr>
        <p:txBody>
          <a:bodyPr wrap="square" rtlCol="0" anchor="ctr"/>
          <a:lstStyle/>
          <a:p>
            <a:pPr algn="ctr" indent="0" marL="0">
              <a:buNone/>
            </a:pPr>
            <a:r>
              <a:rPr lang="en-US" sz="4800" b="1" dirty="0">
                <a:solidFill>
                  <a:srgbClr val="FFFFFF"/>
                </a:solidFill>
                <a:latin typeface="Montserrat" pitchFamily="34" charset="0"/>
                <a:ea typeface="Montserrat" pitchFamily="34" charset="-122"/>
                <a:cs typeface="Montserrat" pitchFamily="34" charset="-120"/>
              </a:rPr>
              <a:t>Thank You</a:t>
            </a:r>
            <a:endParaRPr lang="en-US" sz="4800" dirty="0"/>
          </a:p>
        </p:txBody>
      </p:sp>
      <p:sp>
        <p:nvSpPr>
          <p:cNvPr id="3" name="Shape 1"/>
          <p:cNvSpPr/>
          <p:nvPr/>
        </p:nvSpPr>
        <p:spPr>
          <a:xfrm>
            <a:off x="3657600" y="3017520"/>
            <a:ext cx="1828800" cy="45720"/>
          </a:xfrm>
          <a:prstGeom prst="rect">
            <a:avLst/>
          </a:prstGeom>
          <a:solidFill>
            <a:srgbClr val="FF7F66"/>
          </a:solidFill>
          <a:ln w="12700">
            <a:solidFill>
              <a:srgbClr val="333333"/>
            </a:solidFill>
            <a:prstDash val="solid"/>
          </a:ln>
        </p:spPr>
      </p:sp>
      <p:pic>
        <p:nvPicPr>
          <p:cNvPr id="4" name="Image 0" descr="/Users/williammasquelier/Repositories/stromy-org/Cowork/workspace/duke-strategies/brand/output/brand/logos/DukeStrategies_logo_white.png">    </p:cNvPr>
          <p:cNvPicPr>
            <a:picLocks noChangeAspect="1"/>
          </p:cNvPicPr>
          <p:nvPr/>
        </p:nvPicPr>
        <p:blipFill>
          <a:blip r:embed="rId1"/>
          <a:stretch>
            <a:fillRect/>
          </a:stretch>
        </p:blipFill>
        <p:spPr>
          <a:xfrm>
            <a:off x="3840480" y="4503420"/>
            <a:ext cx="1463040" cy="36576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22222">
              <a:alpha val="55000"/>
            </a:srgbClr>
          </a:solidFill>
          <a:ln w="12700">
            <a:solidFill>
              <a:srgbClr val="333333"/>
            </a:solidFill>
            <a:prstDash val="solid"/>
          </a:ln>
        </p:spPr>
      </p:sp>
      <p:sp>
        <p:nvSpPr>
          <p:cNvPr id="3" name="Shape 1"/>
          <p:cNvSpPr/>
          <p:nvPr/>
        </p:nvSpPr>
        <p:spPr>
          <a:xfrm>
            <a:off x="0" y="5052060"/>
            <a:ext cx="9144000" cy="91440"/>
          </a:xfrm>
          <a:prstGeom prst="rect">
            <a:avLst/>
          </a:prstGeom>
          <a:solidFill>
            <a:srgbClr val="FF7F66"/>
          </a:solidFill>
          <a:ln w="12700">
            <a:solidFill>
              <a:srgbClr val="333333"/>
            </a:solidFill>
            <a:prstDash val="solid"/>
          </a:ln>
        </p:spPr>
      </p:sp>
      <p:sp>
        <p:nvSpPr>
          <p:cNvPr id="4" name="Text 2"/>
          <p:cNvSpPr/>
          <p:nvPr/>
        </p:nvSpPr>
        <p:spPr>
          <a:xfrm>
            <a:off x="548640" y="640080"/>
            <a:ext cx="8046720" cy="914400"/>
          </a:xfrm>
          <a:prstGeom prst="rect">
            <a:avLst/>
          </a:prstGeom>
          <a:noFill/>
          <a:ln/>
        </p:spPr>
        <p:txBody>
          <a:bodyPr wrap="square" rtlCol="0" anchor="ctr"/>
          <a:lstStyle/>
          <a:p>
            <a:pPr indent="0" marL="0">
              <a:buNone/>
            </a:pPr>
            <a:r>
              <a:rPr lang="en-US" sz="4200" b="1" dirty="0">
                <a:solidFill>
                  <a:srgbClr val="FFFFFF"/>
                </a:solidFill>
                <a:latin typeface="Montserrat" pitchFamily="34" charset="0"/>
                <a:ea typeface="Montserrat" pitchFamily="34" charset="-122"/>
                <a:cs typeface="Montserrat" pitchFamily="34" charset="-120"/>
              </a:rPr>
              <a:t>Thank You</a:t>
            </a:r>
            <a:endParaRPr lang="en-US" sz="4200" dirty="0"/>
          </a:p>
        </p:txBody>
      </p:sp>
      <p:sp>
        <p:nvSpPr>
          <p:cNvPr id="5" name="Shape 3"/>
          <p:cNvSpPr/>
          <p:nvPr/>
        </p:nvSpPr>
        <p:spPr>
          <a:xfrm>
            <a:off x="548640" y="1645920"/>
            <a:ext cx="914400" cy="45720"/>
          </a:xfrm>
          <a:prstGeom prst="rect">
            <a:avLst/>
          </a:prstGeom>
          <a:solidFill>
            <a:srgbClr val="FF7F66"/>
          </a:solidFill>
          <a:ln w="12700">
            <a:solidFill>
              <a:srgbClr val="333333"/>
            </a:solidFill>
            <a:prstDash val="solid"/>
          </a:ln>
        </p:spPr>
      </p:sp>
      <p:sp>
        <p:nvSpPr>
          <p:cNvPr id="6" name="Text 4"/>
          <p:cNvSpPr/>
          <p:nvPr/>
        </p:nvSpPr>
        <p:spPr>
          <a:xfrm>
            <a:off x="548640" y="1920240"/>
            <a:ext cx="4572000" cy="1645920"/>
          </a:xfrm>
          <a:prstGeom prst="rect">
            <a:avLst/>
          </a:prstGeom>
          <a:noFill/>
          <a:ln/>
        </p:spPr>
        <p:txBody>
          <a:bodyPr wrap="square" rtlCol="0" anchor="ctr"/>
          <a:lstStyle/>
          <a:p>
            <a:pPr indent="0" marL="0">
              <a:lnSpc>
                <a:spcPct val="160000"/>
              </a:lnSpc>
              <a:buNone/>
            </a:pPr>
            <a:r>
              <a:rPr lang="en-US" sz="1300" dirty="0">
                <a:solidFill>
                  <a:srgbClr val="DFDFE0"/>
                </a:solidFill>
                <a:latin typeface="Montserrat" pitchFamily="34" charset="0"/>
                <a:ea typeface="Montserrat" pitchFamily="34" charset="-122"/>
                <a:cs typeface="Montserrat" pitchFamily="34" charset="-120"/>
              </a:rPr>
              <a:t>Your Name</a:t>
            </a:r>
            <a:endParaRPr lang="en-US" sz="1300" dirty="0"/>
          </a:p>
          <a:p>
            <a:pPr indent="0" marL="0">
              <a:lnSpc>
                <a:spcPct val="160000"/>
              </a:lnSpc>
              <a:buNone/>
            </a:pPr>
            <a:r>
              <a:rPr lang="en-US" sz="1300" dirty="0">
                <a:solidFill>
                  <a:srgbClr val="DFDFE0"/>
                </a:solidFill>
                <a:latin typeface="Montserrat" pitchFamily="34" charset="0"/>
                <a:ea typeface="Montserrat" pitchFamily="34" charset="-122"/>
                <a:cs typeface="Montserrat" pitchFamily="34" charset="-120"/>
              </a:rPr>
              <a:t>Senior Consultant</a:t>
            </a:r>
            <a:endParaRPr lang="en-US" sz="1300" dirty="0"/>
          </a:p>
          <a:p>
            <a:pPr indent="0" marL="0">
              <a:lnSpc>
                <a:spcPct val="160000"/>
              </a:lnSpc>
              <a:buNone/>
            </a:pPr>
            <a:r>
              <a:rPr lang="en-US" sz="1300" dirty="0">
                <a:solidFill>
                  <a:srgbClr val="DFDFE0"/>
                </a:solidFill>
                <a:latin typeface="Montserrat" pitchFamily="34" charset="0"/>
                <a:ea typeface="Montserrat" pitchFamily="34" charset="-122"/>
                <a:cs typeface="Montserrat" pitchFamily="34" charset="-120"/>
              </a:rPr>
              <a:t>your.name@dukestrategies.com.au</a:t>
            </a:r>
            <a:endParaRPr lang="en-US" sz="1300" dirty="0"/>
          </a:p>
          <a:p>
            <a:pPr indent="0" marL="0">
              <a:lnSpc>
                <a:spcPct val="160000"/>
              </a:lnSpc>
              <a:buNone/>
            </a:pPr>
            <a:r>
              <a:rPr lang="en-US" sz="1300" dirty="0">
                <a:solidFill>
                  <a:srgbClr val="DFDFE0"/>
                </a:solidFill>
                <a:latin typeface="Montserrat" pitchFamily="34" charset="0"/>
                <a:ea typeface="Montserrat" pitchFamily="34" charset="-122"/>
                <a:cs typeface="Montserrat" pitchFamily="34" charset="-120"/>
              </a:rPr>
              <a:t>+61 400 000 000</a:t>
            </a:r>
            <a:endParaRPr lang="en-US" sz="1300" dirty="0"/>
          </a:p>
        </p:txBody>
      </p:sp>
      <p:pic>
        <p:nvPicPr>
          <p:cNvPr id="7" name="Image 0" descr="/Users/williammasquelier/Repositories/stromy-org/Cowork/workspace/duke-strategies/brand/output/brand/logos/DukeStrategies_logo_white.png">    </p:cNvPr>
          <p:cNvPicPr>
            <a:picLocks noChangeAspect="1"/>
          </p:cNvPicPr>
          <p:nvPr/>
        </p:nvPicPr>
        <p:blipFill>
          <a:blip r:embed="rId2"/>
          <a:stretch>
            <a:fillRect/>
          </a:stretch>
        </p:blipFill>
        <p:spPr>
          <a:xfrm>
            <a:off x="548640" y="4549140"/>
            <a:ext cx="1280160" cy="32004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222222"/>
        </a:solidFill>
      </p:bgPr>
    </p:bg>
    <p:spTree>
      <p:nvGrpSpPr>
        <p:cNvPr id="1" name=""/>
        <p:cNvGrpSpPr/>
        <p:nvPr/>
      </p:nvGrpSpPr>
      <p:grpSpPr>
        <a:xfrm>
          <a:off x="0" y="0"/>
          <a:ext cx="0" cy="0"/>
          <a:chOff x="0" y="0"/>
          <a:chExt cx="0" cy="0"/>
        </a:xfrm>
      </p:grpSpPr>
      <p:sp>
        <p:nvSpPr>
          <p:cNvPr id="2" name="Text 0"/>
          <p:cNvSpPr/>
          <p:nvPr/>
        </p:nvSpPr>
        <p:spPr>
          <a:xfrm>
            <a:off x="914400" y="731520"/>
            <a:ext cx="7315200" cy="2286000"/>
          </a:xfrm>
          <a:prstGeom prst="rect">
            <a:avLst/>
          </a:prstGeom>
          <a:noFill/>
          <a:ln/>
        </p:spPr>
        <p:txBody>
          <a:bodyPr wrap="square" rtlCol="0" anchor="ctr"/>
          <a:lstStyle/>
          <a:p>
            <a:pPr algn="ctr" indent="0" marL="0">
              <a:buNone/>
            </a:pPr>
            <a:r>
              <a:rPr lang="en-US" sz="6400" b="1" dirty="0">
                <a:solidFill>
                  <a:srgbClr val="FF7F66"/>
                </a:solidFill>
                <a:latin typeface="Montserrat" pitchFamily="34" charset="0"/>
                <a:ea typeface="Montserrat" pitchFamily="34" charset="-122"/>
                <a:cs typeface="Montserrat" pitchFamily="34" charset="-120"/>
              </a:rPr>
              <a:t>Q&amp;A</a:t>
            </a:r>
            <a:endParaRPr lang="en-US" sz="6400" dirty="0"/>
          </a:p>
        </p:txBody>
      </p:sp>
      <p:sp>
        <p:nvSpPr>
          <p:cNvPr id="3" name="Text 1"/>
          <p:cNvSpPr/>
          <p:nvPr/>
        </p:nvSpPr>
        <p:spPr>
          <a:xfrm>
            <a:off x="914400" y="3017520"/>
            <a:ext cx="7315200" cy="457200"/>
          </a:xfrm>
          <a:prstGeom prst="rect">
            <a:avLst/>
          </a:prstGeom>
          <a:noFill/>
          <a:ln/>
        </p:spPr>
        <p:txBody>
          <a:bodyPr wrap="square" rtlCol="0" anchor="ctr"/>
          <a:lstStyle/>
          <a:p>
            <a:pPr algn="ctr" indent="0" marL="0">
              <a:buNone/>
            </a:pPr>
            <a:r>
              <a:rPr lang="en-US" sz="1600" dirty="0">
                <a:solidFill>
                  <a:srgbClr val="DFDFE0"/>
                </a:solidFill>
                <a:latin typeface="Montserrat" pitchFamily="34" charset="0"/>
                <a:ea typeface="Montserrat" pitchFamily="34" charset="-122"/>
                <a:cs typeface="Montserrat" pitchFamily="34" charset="-120"/>
              </a:rPr>
              <a:t>We welcome your questions</a:t>
            </a:r>
            <a:endParaRPr lang="en-US" sz="1600" dirty="0"/>
          </a:p>
        </p:txBody>
      </p:sp>
      <p:sp>
        <p:nvSpPr>
          <p:cNvPr id="4" name="Shape 2"/>
          <p:cNvSpPr/>
          <p:nvPr/>
        </p:nvSpPr>
        <p:spPr>
          <a:xfrm>
            <a:off x="3886200" y="3657600"/>
            <a:ext cx="1371600" cy="36576"/>
          </a:xfrm>
          <a:prstGeom prst="rect">
            <a:avLst/>
          </a:prstGeom>
          <a:solidFill>
            <a:srgbClr val="FF7F66"/>
          </a:solidFill>
          <a:ln w="12700">
            <a:solidFill>
              <a:srgbClr val="333333"/>
            </a:solidFill>
            <a:prstDash val="solid"/>
          </a:ln>
        </p:spPr>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731520" cy="36576"/>
          </a:xfrm>
          <a:prstGeom prst="rect">
            <a:avLst/>
          </a:prstGeom>
          <a:solidFill>
            <a:srgbClr val="FF7F66"/>
          </a:solidFill>
          <a:ln w="12700">
            <a:solidFill>
              <a:srgbClr val="333333"/>
            </a:solidFill>
            <a:prstDash val="solid"/>
          </a:ln>
        </p:spPr>
      </p:sp>
      <p:sp>
        <p:nvSpPr>
          <p:cNvPr id="3" name="Text 1"/>
          <p:cNvSpPr/>
          <p:nvPr/>
        </p:nvSpPr>
        <p:spPr>
          <a:xfrm>
            <a:off x="548640" y="502920"/>
            <a:ext cx="8046720" cy="548640"/>
          </a:xfrm>
          <a:prstGeom prst="rect">
            <a:avLst/>
          </a:prstGeom>
          <a:noFill/>
          <a:ln/>
        </p:spPr>
        <p:txBody>
          <a:bodyPr wrap="square" rtlCol="0" anchor="ctr"/>
          <a:lstStyle/>
          <a:p>
            <a:pPr indent="0" marL="0">
              <a:buNone/>
            </a:pPr>
            <a:r>
              <a:rPr lang="en-US" sz="2400" b="1" dirty="0">
                <a:solidFill>
                  <a:srgbClr val="222222"/>
                </a:solidFill>
                <a:latin typeface="Montserrat" pitchFamily="34" charset="0"/>
                <a:ea typeface="Montserrat" pitchFamily="34" charset="-122"/>
                <a:cs typeface="Montserrat" pitchFamily="34" charset="-120"/>
              </a:rPr>
              <a:t>Next Steps</a:t>
            </a:r>
            <a:endParaRPr lang="en-US" sz="2400" dirty="0"/>
          </a:p>
        </p:txBody>
      </p:sp>
      <p:sp>
        <p:nvSpPr>
          <p:cNvPr id="4" name="Shape 2"/>
          <p:cNvSpPr/>
          <p:nvPr/>
        </p:nvSpPr>
        <p:spPr>
          <a:xfrm>
            <a:off x="548640" y="1261872"/>
            <a:ext cx="201168" cy="201168"/>
          </a:xfrm>
          <a:prstGeom prst="ellipse">
            <a:avLst/>
          </a:prstGeom>
          <a:solidFill>
            <a:srgbClr val="FF7F66"/>
          </a:solidFill>
          <a:ln w="12700">
            <a:solidFill>
              <a:srgbClr val="333333"/>
            </a:solidFill>
            <a:prstDash val="solid"/>
          </a:ln>
        </p:spPr>
      </p:sp>
      <p:sp>
        <p:nvSpPr>
          <p:cNvPr id="5" name="Text 3"/>
          <p:cNvSpPr/>
          <p:nvPr/>
        </p:nvSpPr>
        <p:spPr>
          <a:xfrm>
            <a:off x="914400" y="1188720"/>
            <a:ext cx="5486400" cy="320040"/>
          </a:xfrm>
          <a:prstGeom prst="rect">
            <a:avLst/>
          </a:prstGeom>
          <a:noFill/>
          <a:ln/>
        </p:spPr>
        <p:txBody>
          <a:bodyPr wrap="square" rtlCol="0" anchor="ctr"/>
          <a:lstStyle/>
          <a:p>
            <a:pPr indent="0" marL="0">
              <a:buNone/>
            </a:pPr>
            <a:r>
              <a:rPr lang="en-US" sz="1300" dirty="0">
                <a:solidFill>
                  <a:srgbClr val="222222"/>
                </a:solidFill>
                <a:latin typeface="Montserrat" pitchFamily="34" charset="0"/>
                <a:ea typeface="Montserrat" pitchFamily="34" charset="-122"/>
                <a:cs typeface="Montserrat" pitchFamily="34" charset="-120"/>
              </a:rPr>
              <a:t>Review and approve the strategic framework</a:t>
            </a:r>
            <a:endParaRPr lang="en-US" sz="1300" dirty="0"/>
          </a:p>
        </p:txBody>
      </p:sp>
      <p:sp>
        <p:nvSpPr>
          <p:cNvPr id="6" name="Text 4"/>
          <p:cNvSpPr/>
          <p:nvPr/>
        </p:nvSpPr>
        <p:spPr>
          <a:xfrm>
            <a:off x="6858000" y="1188720"/>
            <a:ext cx="1828800" cy="320040"/>
          </a:xfrm>
          <a:prstGeom prst="rect">
            <a:avLst/>
          </a:prstGeom>
          <a:noFill/>
          <a:ln/>
        </p:spPr>
        <p:txBody>
          <a:bodyPr wrap="square" rtlCol="0" anchor="ctr"/>
          <a:lstStyle/>
          <a:p>
            <a:pPr algn="r" indent="0" marL="0">
              <a:buNone/>
            </a:pPr>
            <a:r>
              <a:rPr lang="en-US" sz="1100" dirty="0">
                <a:solidFill>
                  <a:srgbClr val="FF7F66"/>
                </a:solidFill>
                <a:latin typeface="Space Mono" pitchFamily="34" charset="0"/>
                <a:ea typeface="Space Mono" pitchFamily="34" charset="-122"/>
                <a:cs typeface="Space Mono" pitchFamily="34" charset="-120"/>
              </a:rPr>
              <a:t>Week 1</a:t>
            </a:r>
            <a:endParaRPr lang="en-US" sz="1100" dirty="0"/>
          </a:p>
        </p:txBody>
      </p:sp>
      <p:sp>
        <p:nvSpPr>
          <p:cNvPr id="7" name="Shape 5"/>
          <p:cNvSpPr/>
          <p:nvPr/>
        </p:nvSpPr>
        <p:spPr>
          <a:xfrm>
            <a:off x="548640" y="1901952"/>
            <a:ext cx="201168" cy="201168"/>
          </a:xfrm>
          <a:prstGeom prst="ellipse">
            <a:avLst/>
          </a:prstGeom>
          <a:solidFill>
            <a:srgbClr val="FF7F66"/>
          </a:solidFill>
          <a:ln w="12700">
            <a:solidFill>
              <a:srgbClr val="333333"/>
            </a:solidFill>
            <a:prstDash val="solid"/>
          </a:ln>
        </p:spPr>
      </p:sp>
      <p:sp>
        <p:nvSpPr>
          <p:cNvPr id="8" name="Text 6"/>
          <p:cNvSpPr/>
          <p:nvPr/>
        </p:nvSpPr>
        <p:spPr>
          <a:xfrm>
            <a:off x="914400" y="1828800"/>
            <a:ext cx="5486400" cy="320040"/>
          </a:xfrm>
          <a:prstGeom prst="rect">
            <a:avLst/>
          </a:prstGeom>
          <a:noFill/>
          <a:ln/>
        </p:spPr>
        <p:txBody>
          <a:bodyPr wrap="square" rtlCol="0" anchor="ctr"/>
          <a:lstStyle/>
          <a:p>
            <a:pPr indent="0" marL="0">
              <a:buNone/>
            </a:pPr>
            <a:r>
              <a:rPr lang="en-US" sz="1300" dirty="0">
                <a:solidFill>
                  <a:srgbClr val="222222"/>
                </a:solidFill>
                <a:latin typeface="Montserrat" pitchFamily="34" charset="0"/>
                <a:ea typeface="Montserrat" pitchFamily="34" charset="-122"/>
                <a:cs typeface="Montserrat" pitchFamily="34" charset="-120"/>
              </a:rPr>
              <a:t>Finalize messaging and creative direction</a:t>
            </a:r>
            <a:endParaRPr lang="en-US" sz="1300" dirty="0"/>
          </a:p>
        </p:txBody>
      </p:sp>
      <p:sp>
        <p:nvSpPr>
          <p:cNvPr id="9" name="Text 7"/>
          <p:cNvSpPr/>
          <p:nvPr/>
        </p:nvSpPr>
        <p:spPr>
          <a:xfrm>
            <a:off x="6858000" y="1828800"/>
            <a:ext cx="1828800" cy="320040"/>
          </a:xfrm>
          <a:prstGeom prst="rect">
            <a:avLst/>
          </a:prstGeom>
          <a:noFill/>
          <a:ln/>
        </p:spPr>
        <p:txBody>
          <a:bodyPr wrap="square" rtlCol="0" anchor="ctr"/>
          <a:lstStyle/>
          <a:p>
            <a:pPr algn="r" indent="0" marL="0">
              <a:buNone/>
            </a:pPr>
            <a:r>
              <a:rPr lang="en-US" sz="1100" dirty="0">
                <a:solidFill>
                  <a:srgbClr val="FF7F66"/>
                </a:solidFill>
                <a:latin typeface="Space Mono" pitchFamily="34" charset="0"/>
                <a:ea typeface="Space Mono" pitchFamily="34" charset="-122"/>
                <a:cs typeface="Space Mono" pitchFamily="34" charset="-120"/>
              </a:rPr>
              <a:t>Week 2</a:t>
            </a:r>
            <a:endParaRPr lang="en-US" sz="1100" dirty="0"/>
          </a:p>
        </p:txBody>
      </p:sp>
      <p:sp>
        <p:nvSpPr>
          <p:cNvPr id="10" name="Shape 8"/>
          <p:cNvSpPr/>
          <p:nvPr/>
        </p:nvSpPr>
        <p:spPr>
          <a:xfrm>
            <a:off x="548640" y="2542032"/>
            <a:ext cx="201168" cy="201168"/>
          </a:xfrm>
          <a:prstGeom prst="ellipse">
            <a:avLst/>
          </a:prstGeom>
          <a:solidFill>
            <a:srgbClr val="FF7F66"/>
          </a:solidFill>
          <a:ln w="12700">
            <a:solidFill>
              <a:srgbClr val="333333"/>
            </a:solidFill>
            <a:prstDash val="solid"/>
          </a:ln>
        </p:spPr>
      </p:sp>
      <p:sp>
        <p:nvSpPr>
          <p:cNvPr id="11" name="Text 9"/>
          <p:cNvSpPr/>
          <p:nvPr/>
        </p:nvSpPr>
        <p:spPr>
          <a:xfrm>
            <a:off x="914400" y="2468880"/>
            <a:ext cx="5486400" cy="320040"/>
          </a:xfrm>
          <a:prstGeom prst="rect">
            <a:avLst/>
          </a:prstGeom>
          <a:noFill/>
          <a:ln/>
        </p:spPr>
        <p:txBody>
          <a:bodyPr wrap="square" rtlCol="0" anchor="ctr"/>
          <a:lstStyle/>
          <a:p>
            <a:pPr indent="0" marL="0">
              <a:buNone/>
            </a:pPr>
            <a:r>
              <a:rPr lang="en-US" sz="1300" dirty="0">
                <a:solidFill>
                  <a:srgbClr val="222222"/>
                </a:solidFill>
                <a:latin typeface="Montserrat" pitchFamily="34" charset="0"/>
                <a:ea typeface="Montserrat" pitchFamily="34" charset="-122"/>
                <a:cs typeface="Montserrat" pitchFamily="34" charset="-120"/>
              </a:rPr>
              <a:t>Develop detailed implementation plan</a:t>
            </a:r>
            <a:endParaRPr lang="en-US" sz="1300" dirty="0"/>
          </a:p>
        </p:txBody>
      </p:sp>
      <p:sp>
        <p:nvSpPr>
          <p:cNvPr id="12" name="Text 10"/>
          <p:cNvSpPr/>
          <p:nvPr/>
        </p:nvSpPr>
        <p:spPr>
          <a:xfrm>
            <a:off x="6858000" y="2468880"/>
            <a:ext cx="1828800" cy="320040"/>
          </a:xfrm>
          <a:prstGeom prst="rect">
            <a:avLst/>
          </a:prstGeom>
          <a:noFill/>
          <a:ln/>
        </p:spPr>
        <p:txBody>
          <a:bodyPr wrap="square" rtlCol="0" anchor="ctr"/>
          <a:lstStyle/>
          <a:p>
            <a:pPr algn="r" indent="0" marL="0">
              <a:buNone/>
            </a:pPr>
            <a:r>
              <a:rPr lang="en-US" sz="1100" dirty="0">
                <a:solidFill>
                  <a:srgbClr val="FF7F66"/>
                </a:solidFill>
                <a:latin typeface="Space Mono" pitchFamily="34" charset="0"/>
                <a:ea typeface="Space Mono" pitchFamily="34" charset="-122"/>
                <a:cs typeface="Space Mono" pitchFamily="34" charset="-120"/>
              </a:rPr>
              <a:t>Week 3–4</a:t>
            </a:r>
            <a:endParaRPr lang="en-US" sz="1100" dirty="0"/>
          </a:p>
        </p:txBody>
      </p:sp>
      <p:sp>
        <p:nvSpPr>
          <p:cNvPr id="13" name="Shape 11"/>
          <p:cNvSpPr/>
          <p:nvPr/>
        </p:nvSpPr>
        <p:spPr>
          <a:xfrm>
            <a:off x="548640" y="3182112"/>
            <a:ext cx="201168" cy="201168"/>
          </a:xfrm>
          <a:prstGeom prst="ellipse">
            <a:avLst/>
          </a:prstGeom>
          <a:solidFill>
            <a:srgbClr val="FF7F66"/>
          </a:solidFill>
          <a:ln w="12700">
            <a:solidFill>
              <a:srgbClr val="333333"/>
            </a:solidFill>
            <a:prstDash val="solid"/>
          </a:ln>
        </p:spPr>
      </p:sp>
      <p:sp>
        <p:nvSpPr>
          <p:cNvPr id="14" name="Text 12"/>
          <p:cNvSpPr/>
          <p:nvPr/>
        </p:nvSpPr>
        <p:spPr>
          <a:xfrm>
            <a:off x="914400" y="3108960"/>
            <a:ext cx="5486400" cy="320040"/>
          </a:xfrm>
          <a:prstGeom prst="rect">
            <a:avLst/>
          </a:prstGeom>
          <a:noFill/>
          <a:ln/>
        </p:spPr>
        <p:txBody>
          <a:bodyPr wrap="square" rtlCol="0" anchor="ctr"/>
          <a:lstStyle/>
          <a:p>
            <a:pPr indent="0" marL="0">
              <a:buNone/>
            </a:pPr>
            <a:r>
              <a:rPr lang="en-US" sz="1300" dirty="0">
                <a:solidFill>
                  <a:srgbClr val="222222"/>
                </a:solidFill>
                <a:latin typeface="Montserrat" pitchFamily="34" charset="0"/>
                <a:ea typeface="Montserrat" pitchFamily="34" charset="-122"/>
                <a:cs typeface="Montserrat" pitchFamily="34" charset="-120"/>
              </a:rPr>
              <a:t>Begin phased rollout of communications</a:t>
            </a:r>
            <a:endParaRPr lang="en-US" sz="1300" dirty="0"/>
          </a:p>
        </p:txBody>
      </p:sp>
      <p:sp>
        <p:nvSpPr>
          <p:cNvPr id="15" name="Text 13"/>
          <p:cNvSpPr/>
          <p:nvPr/>
        </p:nvSpPr>
        <p:spPr>
          <a:xfrm>
            <a:off x="6858000" y="3108960"/>
            <a:ext cx="1828800" cy="320040"/>
          </a:xfrm>
          <a:prstGeom prst="rect">
            <a:avLst/>
          </a:prstGeom>
          <a:noFill/>
          <a:ln/>
        </p:spPr>
        <p:txBody>
          <a:bodyPr wrap="square" rtlCol="0" anchor="ctr"/>
          <a:lstStyle/>
          <a:p>
            <a:pPr algn="r" indent="0" marL="0">
              <a:buNone/>
            </a:pPr>
            <a:r>
              <a:rPr lang="en-US" sz="1100" dirty="0">
                <a:solidFill>
                  <a:srgbClr val="FF7F66"/>
                </a:solidFill>
                <a:latin typeface="Space Mono" pitchFamily="34" charset="0"/>
                <a:ea typeface="Space Mono" pitchFamily="34" charset="-122"/>
                <a:cs typeface="Space Mono" pitchFamily="34" charset="-120"/>
              </a:rPr>
              <a:t>Week 5</a:t>
            </a:r>
            <a:endParaRPr lang="en-US" sz="1100" dirty="0"/>
          </a:p>
        </p:txBody>
      </p:sp>
      <p:sp>
        <p:nvSpPr>
          <p:cNvPr id="16" name="Shape 14"/>
          <p:cNvSpPr/>
          <p:nvPr/>
        </p:nvSpPr>
        <p:spPr>
          <a:xfrm>
            <a:off x="548640" y="3822192"/>
            <a:ext cx="201168" cy="201168"/>
          </a:xfrm>
          <a:prstGeom prst="ellipse">
            <a:avLst/>
          </a:prstGeom>
          <a:solidFill>
            <a:srgbClr val="FF7F66"/>
          </a:solidFill>
          <a:ln w="12700">
            <a:solidFill>
              <a:srgbClr val="333333"/>
            </a:solidFill>
            <a:prstDash val="solid"/>
          </a:ln>
        </p:spPr>
      </p:sp>
      <p:sp>
        <p:nvSpPr>
          <p:cNvPr id="17" name="Text 15"/>
          <p:cNvSpPr/>
          <p:nvPr/>
        </p:nvSpPr>
        <p:spPr>
          <a:xfrm>
            <a:off x="914400" y="3749040"/>
            <a:ext cx="5486400" cy="320040"/>
          </a:xfrm>
          <a:prstGeom prst="rect">
            <a:avLst/>
          </a:prstGeom>
          <a:noFill/>
          <a:ln/>
        </p:spPr>
        <p:txBody>
          <a:bodyPr wrap="square" rtlCol="0" anchor="ctr"/>
          <a:lstStyle/>
          <a:p>
            <a:pPr indent="0" marL="0">
              <a:buNone/>
            </a:pPr>
            <a:r>
              <a:rPr lang="en-US" sz="1300" dirty="0">
                <a:solidFill>
                  <a:srgbClr val="222222"/>
                </a:solidFill>
                <a:latin typeface="Montserrat" pitchFamily="34" charset="0"/>
                <a:ea typeface="Montserrat" pitchFamily="34" charset="-122"/>
                <a:cs typeface="Montserrat" pitchFamily="34" charset="-120"/>
              </a:rPr>
              <a:t>First progress review and optimization</a:t>
            </a:r>
            <a:endParaRPr lang="en-US" sz="1300" dirty="0"/>
          </a:p>
        </p:txBody>
      </p:sp>
      <p:sp>
        <p:nvSpPr>
          <p:cNvPr id="18" name="Text 16"/>
          <p:cNvSpPr/>
          <p:nvPr/>
        </p:nvSpPr>
        <p:spPr>
          <a:xfrm>
            <a:off x="6858000" y="3749040"/>
            <a:ext cx="1828800" cy="320040"/>
          </a:xfrm>
          <a:prstGeom prst="rect">
            <a:avLst/>
          </a:prstGeom>
          <a:noFill/>
          <a:ln/>
        </p:spPr>
        <p:txBody>
          <a:bodyPr wrap="square" rtlCol="0" anchor="ctr"/>
          <a:lstStyle/>
          <a:p>
            <a:pPr algn="r" indent="0" marL="0">
              <a:buNone/>
            </a:pPr>
            <a:r>
              <a:rPr lang="en-US" sz="1100" dirty="0">
                <a:solidFill>
                  <a:srgbClr val="FF7F66"/>
                </a:solidFill>
                <a:latin typeface="Space Mono" pitchFamily="34" charset="0"/>
                <a:ea typeface="Space Mono" pitchFamily="34" charset="-122"/>
                <a:cs typeface="Space Mono" pitchFamily="34" charset="-120"/>
              </a:rPr>
              <a:t>Week 8</a:t>
            </a:r>
            <a:endParaRPr lang="en-US" sz="1100" dirty="0"/>
          </a:p>
        </p:txBody>
      </p:sp>
      <p:pic>
        <p:nvPicPr>
          <p:cNvPr id="19" name="Image 0" descr="/Users/williammasquelier/Repositories/stromy-org/Cowork/workspace/duke-strategies/brand/output/brand/logos/DukeStrategies_logo_gre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796028"/>
            <a:ext cx="822960" cy="201168"/>
          </a:xfrm>
          <a:prstGeom prst="rect">
            <a:avLst/>
          </a:prstGeom>
        </p:spPr>
      </p:pic>
      <p:sp>
        <p:nvSpPr>
          <p:cNvPr id="20" name="Text 17"/>
          <p:cNvSpPr/>
          <p:nvPr/>
        </p:nvSpPr>
        <p:spPr>
          <a:xfrm>
            <a:off x="8229600" y="4823460"/>
            <a:ext cx="548640" cy="228600"/>
          </a:xfrm>
          <a:prstGeom prst="rect">
            <a:avLst/>
          </a:prstGeom>
          <a:noFill/>
          <a:ln/>
        </p:spPr>
        <p:txBody>
          <a:bodyPr wrap="square" rtlCol="0"/>
          <a:lstStyle/>
          <a:p>
            <a:pPr algn="r" indent="0" marL="0">
              <a:buNone/>
            </a:pPr>
            <a:r>
              <a:rPr lang="en-US" sz="800" dirty="0">
                <a:solidFill>
                  <a:srgbClr val="807F83"/>
                </a:solidFill>
                <a:latin typeface="Space Mono" pitchFamily="34" charset="0"/>
                <a:ea typeface="Space Mono" pitchFamily="34" charset="-122"/>
                <a:cs typeface="Space Mono" pitchFamily="34" charset="-120"/>
              </a:rPr>
              <a:t>slideNumber</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0" cy="5143500"/>
          </a:xfrm>
          <a:prstGeom prst="rect">
            <a:avLst/>
          </a:prstGeom>
          <a:solidFill>
            <a:srgbClr val="FF7F66"/>
          </a:solidFill>
          <a:ln w="12700">
            <a:solidFill>
              <a:srgbClr val="333333"/>
            </a:solidFill>
            <a:prstDash val="solid"/>
          </a:ln>
        </p:spPr>
      </p:sp>
      <p:pic>
        <p:nvPicPr>
          <p:cNvPr id="3" name="Image 0" descr="/Users/williammasquelier/Repositories/stromy-org/Cowork/workspace/duke-strategies/brand/output/brand/logos/DukeStrategies_logo_white.png">    </p:cNvPr>
          <p:cNvPicPr>
            <a:picLocks noChangeAspect="1"/>
          </p:cNvPicPr>
          <p:nvPr/>
        </p:nvPicPr>
        <p:blipFill>
          <a:blip r:embed="rId1"/>
          <a:stretch>
            <a:fillRect/>
          </a:stretch>
        </p:blipFill>
        <p:spPr>
          <a:xfrm>
            <a:off x="457200" y="1371600"/>
            <a:ext cx="2560320" cy="640080"/>
          </a:xfrm>
          <a:prstGeom prst="rect">
            <a:avLst/>
          </a:prstGeom>
        </p:spPr>
      </p:pic>
      <p:sp>
        <p:nvSpPr>
          <p:cNvPr id="4" name="Text 1"/>
          <p:cNvSpPr/>
          <p:nvPr/>
        </p:nvSpPr>
        <p:spPr>
          <a:xfrm>
            <a:off x="457200" y="2377440"/>
            <a:ext cx="2743200" cy="914400"/>
          </a:xfrm>
          <a:prstGeom prst="rect">
            <a:avLst/>
          </a:prstGeom>
          <a:noFill/>
          <a:ln/>
        </p:spPr>
        <p:txBody>
          <a:bodyPr wrap="square" rtlCol="0" anchor="ctr"/>
          <a:lstStyle/>
          <a:p>
            <a:pPr indent="0" marL="0">
              <a:lnSpc>
                <a:spcPct val="140000"/>
              </a:lnSpc>
              <a:buNone/>
            </a:pPr>
            <a:r>
              <a:rPr lang="en-US" sz="1400" dirty="0">
                <a:solidFill>
                  <a:srgbClr val="FFFFFF">
                    <a:alpha val="85000"/>
                  </a:srgbClr>
                </a:solidFill>
                <a:latin typeface="Montserrat" pitchFamily="34" charset="0"/>
                <a:ea typeface="Montserrat" pitchFamily="34" charset="-122"/>
                <a:cs typeface="Montserrat" pitchFamily="34" charset="-120"/>
              </a:rPr>
              <a:t>Bridging strategy</a:t>
            </a:r>
            <a:endParaRPr lang="en-US" sz="1400" dirty="0"/>
          </a:p>
          <a:p>
            <a:pPr indent="0" marL="0">
              <a:lnSpc>
                <a:spcPct val="140000"/>
              </a:lnSpc>
              <a:buNone/>
            </a:pPr>
            <a:r>
              <a:rPr lang="en-US" sz="1400" dirty="0">
                <a:solidFill>
                  <a:srgbClr val="FFFFFF">
                    <a:alpha val="85000"/>
                  </a:srgbClr>
                </a:solidFill>
                <a:latin typeface="Montserrat" pitchFamily="34" charset="0"/>
                <a:ea typeface="Montserrat" pitchFamily="34" charset="-122"/>
                <a:cs typeface="Montserrat" pitchFamily="34" charset="-120"/>
              </a:rPr>
              <a:t>and action</a:t>
            </a:r>
            <a:endParaRPr lang="en-US" sz="1400" dirty="0"/>
          </a:p>
        </p:txBody>
      </p:sp>
      <p:sp>
        <p:nvSpPr>
          <p:cNvPr id="5" name="Text 2"/>
          <p:cNvSpPr/>
          <p:nvPr/>
        </p:nvSpPr>
        <p:spPr>
          <a:xfrm>
            <a:off x="4389120" y="548640"/>
            <a:ext cx="4114800" cy="457200"/>
          </a:xfrm>
          <a:prstGeom prst="rect">
            <a:avLst/>
          </a:prstGeom>
          <a:noFill/>
          <a:ln/>
        </p:spPr>
        <p:txBody>
          <a:bodyPr wrap="square" rtlCol="0" anchor="ctr"/>
          <a:lstStyle/>
          <a:p>
            <a:pPr indent="0" marL="0">
              <a:buNone/>
            </a:pPr>
            <a:r>
              <a:rPr lang="en-US" sz="2200" b="1" dirty="0">
                <a:solidFill>
                  <a:srgbClr val="222222"/>
                </a:solidFill>
                <a:latin typeface="Montserrat" pitchFamily="34" charset="0"/>
                <a:ea typeface="Montserrat" pitchFamily="34" charset="-122"/>
                <a:cs typeface="Montserrat" pitchFamily="34" charset="-120"/>
              </a:rPr>
              <a:t>Get in Touch</a:t>
            </a:r>
            <a:endParaRPr lang="en-US" sz="2200" dirty="0"/>
          </a:p>
        </p:txBody>
      </p:sp>
      <p:sp>
        <p:nvSpPr>
          <p:cNvPr id="6" name="Shape 3"/>
          <p:cNvSpPr/>
          <p:nvPr/>
        </p:nvSpPr>
        <p:spPr>
          <a:xfrm>
            <a:off x="4389120" y="1097280"/>
            <a:ext cx="731520" cy="36576"/>
          </a:xfrm>
          <a:prstGeom prst="rect">
            <a:avLst/>
          </a:prstGeom>
          <a:solidFill>
            <a:srgbClr val="FF7F66"/>
          </a:solidFill>
          <a:ln w="12700">
            <a:solidFill>
              <a:srgbClr val="333333"/>
            </a:solidFill>
            <a:prstDash val="solid"/>
          </a:ln>
        </p:spPr>
      </p:sp>
      <p:sp>
        <p:nvSpPr>
          <p:cNvPr id="7" name="Text 4"/>
          <p:cNvSpPr/>
          <p:nvPr/>
        </p:nvSpPr>
        <p:spPr>
          <a:xfrm>
            <a:off x="4389120" y="1371600"/>
            <a:ext cx="1097280" cy="274320"/>
          </a:xfrm>
          <a:prstGeom prst="rect">
            <a:avLst/>
          </a:prstGeom>
          <a:noFill/>
          <a:ln/>
        </p:spPr>
        <p:txBody>
          <a:bodyPr wrap="square" rtlCol="0" anchor="ctr"/>
          <a:lstStyle/>
          <a:p>
            <a:pPr indent="0" marL="0">
              <a:buNone/>
            </a:pPr>
            <a:r>
              <a:rPr lang="en-US" sz="1000" b="1" dirty="0">
                <a:solidFill>
                  <a:srgbClr val="FF7F66"/>
                </a:solidFill>
                <a:latin typeface="Space Mono" pitchFamily="34" charset="0"/>
                <a:ea typeface="Space Mono" pitchFamily="34" charset="-122"/>
                <a:cs typeface="Space Mono" pitchFamily="34" charset="-120"/>
              </a:rPr>
              <a:t>Email</a:t>
            </a:r>
            <a:endParaRPr lang="en-US" sz="1000" dirty="0"/>
          </a:p>
        </p:txBody>
      </p:sp>
      <p:sp>
        <p:nvSpPr>
          <p:cNvPr id="8" name="Text 5"/>
          <p:cNvSpPr/>
          <p:nvPr/>
        </p:nvSpPr>
        <p:spPr>
          <a:xfrm>
            <a:off x="5577840" y="1371600"/>
            <a:ext cx="3017520" cy="274320"/>
          </a:xfrm>
          <a:prstGeom prst="rect">
            <a:avLst/>
          </a:prstGeom>
          <a:noFill/>
          <a:ln/>
        </p:spPr>
        <p:txBody>
          <a:bodyPr wrap="square" rtlCol="0" anchor="ctr"/>
          <a:lstStyle/>
          <a:p>
            <a:pPr indent="0" marL="0">
              <a:buNone/>
            </a:pPr>
            <a:r>
              <a:rPr lang="en-US" sz="1100" dirty="0">
                <a:solidFill>
                  <a:srgbClr val="222222"/>
                </a:solidFill>
                <a:latin typeface="Montserrat" pitchFamily="34" charset="0"/>
                <a:ea typeface="Montserrat" pitchFamily="34" charset="-122"/>
                <a:cs typeface="Montserrat" pitchFamily="34" charset="-120"/>
              </a:rPr>
              <a:t>hello@dukestrategies.com.au</a:t>
            </a:r>
            <a:endParaRPr lang="en-US" sz="1100" dirty="0"/>
          </a:p>
        </p:txBody>
      </p:sp>
      <p:sp>
        <p:nvSpPr>
          <p:cNvPr id="9" name="Text 6"/>
          <p:cNvSpPr/>
          <p:nvPr/>
        </p:nvSpPr>
        <p:spPr>
          <a:xfrm>
            <a:off x="4389120" y="1965960"/>
            <a:ext cx="1097280" cy="274320"/>
          </a:xfrm>
          <a:prstGeom prst="rect">
            <a:avLst/>
          </a:prstGeom>
          <a:noFill/>
          <a:ln/>
        </p:spPr>
        <p:txBody>
          <a:bodyPr wrap="square" rtlCol="0" anchor="ctr"/>
          <a:lstStyle/>
          <a:p>
            <a:pPr indent="0" marL="0">
              <a:buNone/>
            </a:pPr>
            <a:r>
              <a:rPr lang="en-US" sz="1000" b="1" dirty="0">
                <a:solidFill>
                  <a:srgbClr val="FF7F66"/>
                </a:solidFill>
                <a:latin typeface="Space Mono" pitchFamily="34" charset="0"/>
                <a:ea typeface="Space Mono" pitchFamily="34" charset="-122"/>
                <a:cs typeface="Space Mono" pitchFamily="34" charset="-120"/>
              </a:rPr>
              <a:t>Phone</a:t>
            </a:r>
            <a:endParaRPr lang="en-US" sz="1000" dirty="0"/>
          </a:p>
        </p:txBody>
      </p:sp>
      <p:sp>
        <p:nvSpPr>
          <p:cNvPr id="10" name="Text 7"/>
          <p:cNvSpPr/>
          <p:nvPr/>
        </p:nvSpPr>
        <p:spPr>
          <a:xfrm>
            <a:off x="5577840" y="1965960"/>
            <a:ext cx="3017520" cy="274320"/>
          </a:xfrm>
          <a:prstGeom prst="rect">
            <a:avLst/>
          </a:prstGeom>
          <a:noFill/>
          <a:ln/>
        </p:spPr>
        <p:txBody>
          <a:bodyPr wrap="square" rtlCol="0" anchor="ctr"/>
          <a:lstStyle/>
          <a:p>
            <a:pPr indent="0" marL="0">
              <a:buNone/>
            </a:pPr>
            <a:r>
              <a:rPr lang="en-US" sz="1100" dirty="0">
                <a:solidFill>
                  <a:srgbClr val="222222"/>
                </a:solidFill>
                <a:latin typeface="Montserrat" pitchFamily="34" charset="0"/>
                <a:ea typeface="Montserrat" pitchFamily="34" charset="-122"/>
                <a:cs typeface="Montserrat" pitchFamily="34" charset="-120"/>
              </a:rPr>
              <a:t>+61 2 0000 0000</a:t>
            </a:r>
            <a:endParaRPr lang="en-US" sz="1100" dirty="0"/>
          </a:p>
        </p:txBody>
      </p:sp>
      <p:sp>
        <p:nvSpPr>
          <p:cNvPr id="11" name="Text 8"/>
          <p:cNvSpPr/>
          <p:nvPr/>
        </p:nvSpPr>
        <p:spPr>
          <a:xfrm>
            <a:off x="4389120" y="2560320"/>
            <a:ext cx="1097280" cy="274320"/>
          </a:xfrm>
          <a:prstGeom prst="rect">
            <a:avLst/>
          </a:prstGeom>
          <a:noFill/>
          <a:ln/>
        </p:spPr>
        <p:txBody>
          <a:bodyPr wrap="square" rtlCol="0" anchor="ctr"/>
          <a:lstStyle/>
          <a:p>
            <a:pPr indent="0" marL="0">
              <a:buNone/>
            </a:pPr>
            <a:r>
              <a:rPr lang="en-US" sz="1000" b="1" dirty="0">
                <a:solidFill>
                  <a:srgbClr val="FF7F66"/>
                </a:solidFill>
                <a:latin typeface="Space Mono" pitchFamily="34" charset="0"/>
                <a:ea typeface="Space Mono" pitchFamily="34" charset="-122"/>
                <a:cs typeface="Space Mono" pitchFamily="34" charset="-120"/>
              </a:rPr>
              <a:t>Web</a:t>
            </a:r>
            <a:endParaRPr lang="en-US" sz="1000" dirty="0"/>
          </a:p>
        </p:txBody>
      </p:sp>
      <p:sp>
        <p:nvSpPr>
          <p:cNvPr id="12" name="Text 9"/>
          <p:cNvSpPr/>
          <p:nvPr/>
        </p:nvSpPr>
        <p:spPr>
          <a:xfrm>
            <a:off x="5577840" y="2560320"/>
            <a:ext cx="3017520" cy="274320"/>
          </a:xfrm>
          <a:prstGeom prst="rect">
            <a:avLst/>
          </a:prstGeom>
          <a:noFill/>
          <a:ln/>
        </p:spPr>
        <p:txBody>
          <a:bodyPr wrap="square" rtlCol="0" anchor="ctr"/>
          <a:lstStyle/>
          <a:p>
            <a:pPr indent="0" marL="0">
              <a:buNone/>
            </a:pPr>
            <a:r>
              <a:rPr lang="en-US" sz="1100" dirty="0">
                <a:solidFill>
                  <a:srgbClr val="222222"/>
                </a:solidFill>
                <a:latin typeface="Montserrat" pitchFamily="34" charset="0"/>
                <a:ea typeface="Montserrat" pitchFamily="34" charset="-122"/>
                <a:cs typeface="Montserrat" pitchFamily="34" charset="-120"/>
              </a:rPr>
              <a:t>www.dukestrategies.com.au</a:t>
            </a:r>
            <a:endParaRPr lang="en-US" sz="1100" dirty="0"/>
          </a:p>
        </p:txBody>
      </p:sp>
      <p:sp>
        <p:nvSpPr>
          <p:cNvPr id="13" name="Text 10"/>
          <p:cNvSpPr/>
          <p:nvPr/>
        </p:nvSpPr>
        <p:spPr>
          <a:xfrm>
            <a:off x="4389120" y="3154680"/>
            <a:ext cx="1097280" cy="274320"/>
          </a:xfrm>
          <a:prstGeom prst="rect">
            <a:avLst/>
          </a:prstGeom>
          <a:noFill/>
          <a:ln/>
        </p:spPr>
        <p:txBody>
          <a:bodyPr wrap="square" rtlCol="0" anchor="ctr"/>
          <a:lstStyle/>
          <a:p>
            <a:pPr indent="0" marL="0">
              <a:buNone/>
            </a:pPr>
            <a:r>
              <a:rPr lang="en-US" sz="1000" b="1" dirty="0">
                <a:solidFill>
                  <a:srgbClr val="FF7F66"/>
                </a:solidFill>
                <a:latin typeface="Space Mono" pitchFamily="34" charset="0"/>
                <a:ea typeface="Space Mono" pitchFamily="34" charset="-122"/>
                <a:cs typeface="Space Mono" pitchFamily="34" charset="-120"/>
              </a:rPr>
              <a:t>LinkedIn</a:t>
            </a:r>
            <a:endParaRPr lang="en-US" sz="1000" dirty="0"/>
          </a:p>
        </p:txBody>
      </p:sp>
      <p:sp>
        <p:nvSpPr>
          <p:cNvPr id="14" name="Text 11"/>
          <p:cNvSpPr/>
          <p:nvPr/>
        </p:nvSpPr>
        <p:spPr>
          <a:xfrm>
            <a:off x="5577840" y="3154680"/>
            <a:ext cx="3017520" cy="274320"/>
          </a:xfrm>
          <a:prstGeom prst="rect">
            <a:avLst/>
          </a:prstGeom>
          <a:noFill/>
          <a:ln/>
        </p:spPr>
        <p:txBody>
          <a:bodyPr wrap="square" rtlCol="0" anchor="ctr"/>
          <a:lstStyle/>
          <a:p>
            <a:pPr indent="0" marL="0">
              <a:buNone/>
            </a:pPr>
            <a:r>
              <a:rPr lang="en-US" sz="1100" dirty="0">
                <a:solidFill>
                  <a:srgbClr val="222222"/>
                </a:solidFill>
                <a:latin typeface="Montserrat" pitchFamily="34" charset="0"/>
                <a:ea typeface="Montserrat" pitchFamily="34" charset="-122"/>
                <a:cs typeface="Montserrat" pitchFamily="34" charset="-120"/>
              </a:rPr>
              <a:t>linkedin.com/company/duke-strategies</a:t>
            </a:r>
            <a:endParaRPr lang="en-US" sz="1100" dirty="0"/>
          </a:p>
        </p:txBody>
      </p:sp>
      <p:sp>
        <p:nvSpPr>
          <p:cNvPr id="15" name="Text 12"/>
          <p:cNvSpPr/>
          <p:nvPr/>
        </p:nvSpPr>
        <p:spPr>
          <a:xfrm>
            <a:off x="4389120" y="3749040"/>
            <a:ext cx="1097280" cy="274320"/>
          </a:xfrm>
          <a:prstGeom prst="rect">
            <a:avLst/>
          </a:prstGeom>
          <a:noFill/>
          <a:ln/>
        </p:spPr>
        <p:txBody>
          <a:bodyPr wrap="square" rtlCol="0" anchor="ctr"/>
          <a:lstStyle/>
          <a:p>
            <a:pPr indent="0" marL="0">
              <a:buNone/>
            </a:pPr>
            <a:r>
              <a:rPr lang="en-US" sz="1000" b="1" dirty="0">
                <a:solidFill>
                  <a:srgbClr val="FF7F66"/>
                </a:solidFill>
                <a:latin typeface="Space Mono" pitchFamily="34" charset="0"/>
                <a:ea typeface="Space Mono" pitchFamily="34" charset="-122"/>
                <a:cs typeface="Space Mono" pitchFamily="34" charset="-120"/>
              </a:rPr>
              <a:t>Address</a:t>
            </a:r>
            <a:endParaRPr lang="en-US" sz="1000" dirty="0"/>
          </a:p>
        </p:txBody>
      </p:sp>
      <p:sp>
        <p:nvSpPr>
          <p:cNvPr id="16" name="Text 13"/>
          <p:cNvSpPr/>
          <p:nvPr/>
        </p:nvSpPr>
        <p:spPr>
          <a:xfrm>
            <a:off x="5577840" y="3749040"/>
            <a:ext cx="3017520" cy="548640"/>
          </a:xfrm>
          <a:prstGeom prst="rect">
            <a:avLst/>
          </a:prstGeom>
          <a:noFill/>
          <a:ln/>
        </p:spPr>
        <p:txBody>
          <a:bodyPr wrap="square" rtlCol="0" anchor="ctr"/>
          <a:lstStyle/>
          <a:p>
            <a:pPr indent="0" marL="0">
              <a:buNone/>
            </a:pPr>
            <a:r>
              <a:rPr lang="en-US" sz="1100" dirty="0">
                <a:solidFill>
                  <a:srgbClr val="222222"/>
                </a:solidFill>
                <a:latin typeface="Montserrat" pitchFamily="34" charset="0"/>
                <a:ea typeface="Montserrat" pitchFamily="34" charset="-122"/>
                <a:cs typeface="Montserrat" pitchFamily="34" charset="-120"/>
              </a:rPr>
              <a:t>Level 10, 123 Example Street</a:t>
            </a:r>
            <a:endParaRPr lang="en-US" sz="1100" dirty="0"/>
          </a:p>
          <a:p>
            <a:pPr indent="0" marL="0">
              <a:buNone/>
            </a:pPr>
            <a:r>
              <a:rPr lang="en-US" sz="1100" dirty="0">
                <a:solidFill>
                  <a:srgbClr val="222222"/>
                </a:solidFill>
                <a:latin typeface="Montserrat" pitchFamily="34" charset="0"/>
                <a:ea typeface="Montserrat" pitchFamily="34" charset="-122"/>
                <a:cs typeface="Montserrat" pitchFamily="34" charset="-120"/>
              </a:rPr>
              <a:t>Sydney NSW 2000</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5F5"/>
        </a:solidFill>
      </p:bgPr>
    </p:bg>
    <p:spTree>
      <p:nvGrpSpPr>
        <p:cNvPr id="1" name=""/>
        <p:cNvGrpSpPr/>
        <p:nvPr/>
      </p:nvGrpSpPr>
      <p:grpSpPr>
        <a:xfrm>
          <a:off x="0" y="0"/>
          <a:ext cx="0" cy="0"/>
          <a:chOff x="0" y="0"/>
          <a:chExt cx="0" cy="0"/>
        </a:xfrm>
      </p:grpSpPr>
      <p:pic>
        <p:nvPicPr>
          <p:cNvPr id="2" name="Image 0" descr="/Users/williammasquelier/Repositories/stromy-org/Cowork/workspace/duke-strategies/brand/output/brand/logos/DukeStrategies_logo_grey.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8640" y="4796028"/>
            <a:ext cx="822960" cy="201168"/>
          </a:xfrm>
          <a:prstGeom prst="rect">
            <a:avLst/>
          </a:prstGeom>
        </p:spPr>
      </p:pic>
      <p:sp>
        <p:nvSpPr>
          <p:cNvPr id="3" name="Text 0"/>
          <p:cNvSpPr/>
          <p:nvPr/>
        </p:nvSpPr>
        <p:spPr>
          <a:xfrm>
            <a:off x="548640" y="548640"/>
            <a:ext cx="8046720" cy="457200"/>
          </a:xfrm>
          <a:prstGeom prst="rect">
            <a:avLst/>
          </a:prstGeom>
          <a:noFill/>
          <a:ln/>
        </p:spPr>
        <p:txBody>
          <a:bodyPr wrap="square" rtlCol="0" anchor="ctr"/>
          <a:lstStyle/>
          <a:p>
            <a:pPr indent="0" marL="0">
              <a:buNone/>
            </a:pPr>
            <a:r>
              <a:rPr lang="en-US" sz="1800" b="1" dirty="0">
                <a:solidFill>
                  <a:srgbClr val="222222"/>
                </a:solidFill>
                <a:latin typeface="Montserrat" pitchFamily="34" charset="0"/>
                <a:ea typeface="Montserrat" pitchFamily="34" charset="-122"/>
                <a:cs typeface="Montserrat" pitchFamily="34" charset="-120"/>
              </a:rPr>
              <a:t>Disclaimer</a:t>
            </a:r>
            <a:endParaRPr lang="en-US" sz="1800" dirty="0"/>
          </a:p>
        </p:txBody>
      </p:sp>
      <p:sp>
        <p:nvSpPr>
          <p:cNvPr id="4" name="Shape 1"/>
          <p:cNvSpPr/>
          <p:nvPr/>
        </p:nvSpPr>
        <p:spPr>
          <a:xfrm>
            <a:off x="548640" y="1051560"/>
            <a:ext cx="548640" cy="36576"/>
          </a:xfrm>
          <a:prstGeom prst="rect">
            <a:avLst/>
          </a:prstGeom>
          <a:solidFill>
            <a:srgbClr val="FF7F66"/>
          </a:solidFill>
          <a:ln w="12700">
            <a:solidFill>
              <a:srgbClr val="333333"/>
            </a:solidFill>
            <a:prstDash val="solid"/>
          </a:ln>
        </p:spPr>
      </p:sp>
      <p:sp>
        <p:nvSpPr>
          <p:cNvPr id="5" name="Text 2"/>
          <p:cNvSpPr/>
          <p:nvPr/>
        </p:nvSpPr>
        <p:spPr>
          <a:xfrm>
            <a:off x="548640" y="1234440"/>
            <a:ext cx="8046720" cy="3200400"/>
          </a:xfrm>
          <a:prstGeom prst="rect">
            <a:avLst/>
          </a:prstGeom>
          <a:noFill/>
          <a:ln/>
        </p:spPr>
        <p:txBody>
          <a:bodyPr wrap="square" rtlCol="0" anchor="t"/>
          <a:lstStyle/>
          <a:p>
            <a:pPr indent="0" marL="0">
              <a:lnSpc>
                <a:spcPct val="160000"/>
              </a:lnSpc>
              <a:buNone/>
            </a:pPr>
            <a:r>
              <a:rPr lang="en-US" sz="1000" dirty="0">
                <a:solidFill>
                  <a:srgbClr val="807F83"/>
                </a:solidFill>
                <a:latin typeface="Montserrat" pitchFamily="34" charset="0"/>
                <a:ea typeface="Montserrat" pitchFamily="34" charset="-122"/>
                <a:cs typeface="Montserrat" pitchFamily="34" charset="-120"/>
              </a:rPr>
              <a:t>This document is confidential and intended solely for the use of the individual or entity to whom it is addressed. The information contained herein is proprietary to Duke Strategies and may not be reproduced, distributed, or disclosed without prior written consent.</a:t>
            </a:r>
            <a:endParaRPr lang="en-US" sz="1000" dirty="0"/>
          </a:p>
          <a:p>
            <a:pPr indent="0" marL="0">
              <a:lnSpc>
                <a:spcPct val="160000"/>
              </a:lnSpc>
              <a:buNone/>
            </a:pPr>
            <a:endParaRPr lang="en-US" sz="1000" dirty="0"/>
          </a:p>
          <a:p>
            <a:pPr indent="0" marL="0">
              <a:lnSpc>
                <a:spcPct val="160000"/>
              </a:lnSpc>
              <a:buNone/>
            </a:pPr>
            <a:r>
              <a:rPr lang="en-US" sz="1000" dirty="0">
                <a:solidFill>
                  <a:srgbClr val="807F83"/>
                </a:solidFill>
                <a:latin typeface="Montserrat" pitchFamily="34" charset="0"/>
                <a:ea typeface="Montserrat" pitchFamily="34" charset="-122"/>
                <a:cs typeface="Montserrat" pitchFamily="34" charset="-120"/>
              </a:rPr>
              <a:t>All data, analysis, and recommendations are based on information available at the time of preparation and are subject to change. Duke Strategies makes no warranties regarding the accuracy or completeness of the information provided.</a:t>
            </a:r>
            <a:endParaRPr lang="en-US" sz="1000" dirty="0"/>
          </a:p>
          <a:p>
            <a:pPr indent="0" marL="0">
              <a:lnSpc>
                <a:spcPct val="160000"/>
              </a:lnSpc>
              <a:buNone/>
            </a:pPr>
            <a:endParaRPr lang="en-US" sz="1000" dirty="0"/>
          </a:p>
          <a:p>
            <a:pPr indent="0" marL="0">
              <a:lnSpc>
                <a:spcPct val="160000"/>
              </a:lnSpc>
              <a:buNone/>
            </a:pPr>
            <a:r>
              <a:rPr lang="en-US" sz="1000" dirty="0">
                <a:solidFill>
                  <a:srgbClr val="807F83"/>
                </a:solidFill>
                <a:latin typeface="Montserrat" pitchFamily="34" charset="0"/>
                <a:ea typeface="Montserrat" pitchFamily="34" charset="-122"/>
                <a:cs typeface="Montserrat" pitchFamily="34" charset="-120"/>
              </a:rPr>
              <a:t>© 2025 Duke Strategies. All rights reserved.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Duke Strategies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Duke Strategies Brand Template</dc:title>
  <dc:subject>Brand Template — 50-Slide Layout Library</dc:subject>
  <dc:creator>Duke Strategies</dc:creator>
  <cp:lastModifiedBy>Duke Strategies</cp:lastModifiedBy>
  <cp:revision>1</cp:revision>
  <dcterms:created xsi:type="dcterms:W3CDTF">2026-03-30T09:52:17Z</dcterms:created>
  <dcterms:modified xsi:type="dcterms:W3CDTF">2026-03-30T09:52:17Z</dcterms:modified>
</cp:coreProperties>
</file>